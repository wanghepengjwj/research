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handoutMasterIdLst>
    <p:handoutMasterId r:id="rId14"/>
  </p:handoutMasterIdLst>
  <p:sldIdLst>
    <p:sldId id="256" r:id="rId2"/>
    <p:sldId id="304" r:id="rId3"/>
    <p:sldId id="311" r:id="rId4"/>
    <p:sldId id="316" r:id="rId5"/>
    <p:sldId id="300" r:id="rId6"/>
    <p:sldId id="301" r:id="rId7"/>
    <p:sldId id="305" r:id="rId8"/>
    <p:sldId id="302" r:id="rId9"/>
    <p:sldId id="317" r:id="rId10"/>
    <p:sldId id="293" r:id="rId11"/>
    <p:sldId id="318" r:id="rId1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4518B453-3802-46CB-A416-B925198287FC}">
          <p14:sldIdLst>
            <p14:sldId id="256"/>
            <p14:sldId id="304"/>
            <p14:sldId id="311"/>
            <p14:sldId id="316"/>
            <p14:sldId id="300"/>
            <p14:sldId id="301"/>
            <p14:sldId id="305"/>
            <p14:sldId id="302"/>
            <p14:sldId id="317"/>
            <p14:sldId id="293"/>
            <p14:sldId id="318"/>
          </p14:sldIdLst>
        </p14:section>
      </p14:sectionLst>
    </p:ext>
    <p:ext uri="{EFAFB233-063F-42B5-8137-9DF3F51BA10A}">
      <p15:sldGuideLst xmlns:p15="http://schemas.microsoft.com/office/powerpoint/2012/main">
        <p15:guide id="1" orient="horz" pos="4315" userDrawn="1">
          <p15:clr>
            <a:srgbClr val="A4A3A4"/>
          </p15:clr>
        </p15:guide>
        <p15:guide id="2" pos="7151"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hp" initials="w" lastIdx="1" clrIdx="0">
    <p:extLst>
      <p:ext uri="{19B8F6BF-5375-455C-9EA6-DF929625EA0E}">
        <p15:presenceInfo xmlns:p15="http://schemas.microsoft.com/office/powerpoint/2012/main" userId="whp"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5B9BD5"/>
    <a:srgbClr val="FFFFFF"/>
    <a:srgbClr val="00009E"/>
    <a:srgbClr val="4472B1"/>
    <a:srgbClr val="4472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224" autoAdjust="0"/>
    <p:restoredTop sz="95400" autoAdjust="0"/>
  </p:normalViewPr>
  <p:slideViewPr>
    <p:cSldViewPr snapToGrid="0">
      <p:cViewPr varScale="1">
        <p:scale>
          <a:sx n="84" d="100"/>
          <a:sy n="84" d="100"/>
        </p:scale>
        <p:origin x="173" y="35"/>
      </p:cViewPr>
      <p:guideLst>
        <p:guide orient="horz" pos="4315"/>
        <p:guide pos="715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howGuides="1">
      <p:cViewPr varScale="1">
        <p:scale>
          <a:sx n="84" d="100"/>
          <a:sy n="84" d="100"/>
        </p:scale>
        <p:origin x="3828"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EBBCC4F6-5604-4423-85F9-2AC14864DFD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付プレースホルダー 2">
            <a:extLst>
              <a:ext uri="{FF2B5EF4-FFF2-40B4-BE49-F238E27FC236}">
                <a16:creationId xmlns:a16="http://schemas.microsoft.com/office/drawing/2014/main" id="{256CF1E6-F8E7-4EA5-9596-15E57F7D3B9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098930D-2C34-492F-ACA0-270B97C18842}" type="datetimeFigureOut">
              <a:rPr lang="en-US" smtClean="0"/>
              <a:t>3/31/2022</a:t>
            </a:fld>
            <a:endParaRPr lang="en-US"/>
          </a:p>
        </p:txBody>
      </p:sp>
      <p:sp>
        <p:nvSpPr>
          <p:cNvPr id="4" name="フッター プレースホルダー 3">
            <a:extLst>
              <a:ext uri="{FF2B5EF4-FFF2-40B4-BE49-F238E27FC236}">
                <a16:creationId xmlns:a16="http://schemas.microsoft.com/office/drawing/2014/main" id="{F8A8DC08-CC18-45D5-ACAF-5DCA9F86027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スライド番号プレースホルダー 4">
            <a:extLst>
              <a:ext uri="{FF2B5EF4-FFF2-40B4-BE49-F238E27FC236}">
                <a16:creationId xmlns:a16="http://schemas.microsoft.com/office/drawing/2014/main" id="{FC4522EC-1F31-4936-A640-C7D8F2FF4E0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5A11A42-AF64-4A58-89CB-0AEC386E788A}" type="slidenum">
              <a:rPr lang="en-US" smtClean="0"/>
              <a:t>‹#›</a:t>
            </a:fld>
            <a:endParaRPr lang="en-US"/>
          </a:p>
        </p:txBody>
      </p:sp>
    </p:spTree>
    <p:extLst>
      <p:ext uri="{BB962C8B-B14F-4D97-AF65-F5344CB8AC3E}">
        <p14:creationId xmlns:p14="http://schemas.microsoft.com/office/powerpoint/2010/main" val="14863586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3C261B-1E88-41A4-B599-9BBF9C334708}" type="datetimeFigureOut">
              <a:rPr lang="en-US" smtClean="0"/>
              <a:t>3/31/2022</a:t>
            </a:fld>
            <a:endParaRPr 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07227F-BB15-4231-812B-417EBE968AA2}"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B07227F-BB15-4231-812B-417EBE968AA2}" type="slidenum">
              <a:rPr lang="en-US" smtClean="0"/>
              <a:t>6</a:t>
            </a:fld>
            <a:endParaRPr lang="en-US"/>
          </a:p>
        </p:txBody>
      </p:sp>
    </p:spTree>
    <p:extLst>
      <p:ext uri="{BB962C8B-B14F-4D97-AF65-F5344CB8AC3E}">
        <p14:creationId xmlns:p14="http://schemas.microsoft.com/office/powerpoint/2010/main" val="1406661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dirty="0"/>
              <a:t>マスタ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dirty="0"/>
              <a:t>マスタ サブタイトルの書式設定</a:t>
            </a:r>
          </a:p>
        </p:txBody>
      </p:sp>
      <p:sp>
        <p:nvSpPr>
          <p:cNvPr id="4" name="日付プレースホルダー 3"/>
          <p:cNvSpPr>
            <a:spLocks noGrp="1"/>
          </p:cNvSpPr>
          <p:nvPr>
            <p:ph type="dt" sz="half" idx="10"/>
          </p:nvPr>
        </p:nvSpPr>
        <p:spPr/>
        <p:txBody>
          <a:bodyPr/>
          <a:lstStyle/>
          <a:p>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F8D8928E-AA9A-4D89-BC1F-A2C05AB4BD92}" type="slidenum">
              <a:rPr kumimoji="1" lang="ja-JP" altLang="en-US" smtClean="0"/>
              <a: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7" name="标题 1"/>
          <p:cNvSpPr txBox="1"/>
          <p:nvPr userDrawn="1"/>
        </p:nvSpPr>
        <p:spPr>
          <a:xfrm>
            <a:off x="287045" y="190306"/>
            <a:ext cx="9559502" cy="71731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endParaRPr lang="zh-CN" altLang="en-US" sz="3200" dirty="0">
              <a:latin typeface="メイリオ" panose="020B0604030504040204" pitchFamily="50" charset="-128"/>
              <a:ea typeface="メイリオ" panose="020B0604030504040204" pitchFamily="50" charset="-128"/>
            </a:endParaRPr>
          </a:p>
        </p:txBody>
      </p:sp>
      <p:cxnSp>
        <p:nvCxnSpPr>
          <p:cNvPr id="8" name="直線コネクタ 7"/>
          <p:cNvCxnSpPr/>
          <p:nvPr userDrawn="1"/>
        </p:nvCxnSpPr>
        <p:spPr>
          <a:xfrm>
            <a:off x="263371" y="907622"/>
            <a:ext cx="11665258"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9" name="标题 1"/>
          <p:cNvSpPr>
            <a:spLocks noGrp="1"/>
          </p:cNvSpPr>
          <p:nvPr>
            <p:ph type="title"/>
          </p:nvPr>
        </p:nvSpPr>
        <p:spPr>
          <a:xfrm>
            <a:off x="263371" y="190305"/>
            <a:ext cx="9559502" cy="717316"/>
          </a:xfrm>
        </p:spPr>
        <p:txBody>
          <a:bodyPr>
            <a:normAutofit/>
          </a:bodyPr>
          <a:lstStyle/>
          <a:p>
            <a:endParaRPr lang="zh-CN" altLang="en-US" sz="3200" dirty="0">
              <a:latin typeface="メイリオ" panose="020B0604030504040204" pitchFamily="50" charset="-128"/>
              <a:ea typeface="メイリオ" panose="020B0604030504040204" pitchFamily="50" charset="-128"/>
            </a:endParaRPr>
          </a:p>
        </p:txBody>
      </p:sp>
      <p:sp>
        <p:nvSpPr>
          <p:cNvPr id="2" name="テキスト ボックス 1"/>
          <p:cNvSpPr txBox="1"/>
          <p:nvPr userDrawn="1"/>
        </p:nvSpPr>
        <p:spPr>
          <a:xfrm>
            <a:off x="10332720" y="407324"/>
            <a:ext cx="1338349" cy="461665"/>
          </a:xfrm>
          <a:prstGeom prst="rect">
            <a:avLst/>
          </a:prstGeom>
          <a:noFill/>
        </p:spPr>
        <p:txBody>
          <a:bodyPr wrap="square" rtlCol="0">
            <a:spAutoFit/>
          </a:bodyPr>
          <a:lstStyle/>
          <a:p>
            <a:pPr algn="r"/>
            <a:fld id="{D9ED9BBA-5A2A-4B28-8B23-1A4BF03CA0B3}" type="slidenum">
              <a:rPr lang="en-US" altLang="zh-CN" sz="2400" smtClean="0"/>
              <a:t>‹#›</a:t>
            </a:fld>
            <a:r>
              <a:rPr lang="en-US" altLang="zh-CN" sz="2400" dirty="0"/>
              <a:t>/8</a:t>
            </a: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831850" y="1709738"/>
            <a:ext cx="10515600" cy="2852737"/>
          </a:xfrm>
        </p:spPr>
        <p:txBody>
          <a:bodyPr anchor="b"/>
          <a:lstStyle>
            <a:lvl1pPr>
              <a:defRPr sz="6000"/>
            </a:lvl1pPr>
          </a:lstStyle>
          <a:p>
            <a:r>
              <a:rPr kumimoji="1" lang="ja-JP" altLang="en-US" dirty="0"/>
              <a:t>マスタ タイトルの書式設定</a:t>
            </a:r>
          </a:p>
        </p:txBody>
      </p:sp>
      <p:sp>
        <p:nvSpPr>
          <p:cNvPr id="3" name="テキスト プレースホルダー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dirty="0"/>
              <a:t>マスタ テキストの書式設定</a:t>
            </a:r>
          </a:p>
        </p:txBody>
      </p:sp>
      <p:sp>
        <p:nvSpPr>
          <p:cNvPr id="4" name="日付プレースホルダー 3"/>
          <p:cNvSpPr>
            <a:spLocks noGrp="1"/>
          </p:cNvSpPr>
          <p:nvPr>
            <p:ph type="dt" sz="half" idx="10"/>
          </p:nvPr>
        </p:nvSpPr>
        <p:spPr/>
        <p:txBody>
          <a:bodyPr/>
          <a:lstStyle/>
          <a:p>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F8D8928E-AA9A-4D89-BC1F-A2C05AB4BD92}" type="slidenum">
              <a:rPr kumimoji="1" lang="ja-JP" altLang="en-US" smtClean="0"/>
              <a: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マスタ タイトルの書式設定</a:t>
            </a:r>
          </a:p>
        </p:txBody>
      </p:sp>
      <p:sp>
        <p:nvSpPr>
          <p:cNvPr id="3" name="コンテンツ プレースホルダー 2"/>
          <p:cNvSpPr>
            <a:spLocks noGrp="1"/>
          </p:cNvSpPr>
          <p:nvPr>
            <p:ph sz="half" idx="1"/>
          </p:nvPr>
        </p:nvSpPr>
        <p:spPr>
          <a:xfrm>
            <a:off x="838200" y="1825625"/>
            <a:ext cx="5181600" cy="4351338"/>
          </a:xfrm>
        </p:spPr>
        <p:txBody>
          <a:bodyPr/>
          <a:lstStyle/>
          <a:p>
            <a:pPr lvl="0"/>
            <a:r>
              <a:rPr kumimoji="1" lang="ja-JP" altLang="en-US" dirty="0"/>
              <a:t>マスタ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コンテンツ プレースホルダー 3"/>
          <p:cNvSpPr>
            <a:spLocks noGrp="1"/>
          </p:cNvSpPr>
          <p:nvPr>
            <p:ph sz="half" idx="2"/>
          </p:nvPr>
        </p:nvSpPr>
        <p:spPr>
          <a:xfrm>
            <a:off x="6172200" y="1825625"/>
            <a:ext cx="5181600" cy="4351338"/>
          </a:xfrm>
        </p:spPr>
        <p:txBody>
          <a:bodyPr/>
          <a:lstStyle/>
          <a:p>
            <a:pPr lvl="0"/>
            <a:r>
              <a:rPr kumimoji="1" lang="ja-JP" altLang="en-US" dirty="0"/>
              <a:t>マスタ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5" name="日付プレースホルダー 4"/>
          <p:cNvSpPr>
            <a:spLocks noGrp="1"/>
          </p:cNvSpPr>
          <p:nvPr>
            <p:ph type="dt" sz="half" idx="10"/>
          </p:nvPr>
        </p:nvSpPr>
        <p:spPr/>
        <p:txBody>
          <a:bodyPr/>
          <a:lstStyle/>
          <a:p>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F8D8928E-AA9A-4D89-BC1F-A2C05AB4BD92}" type="slidenum">
              <a:rPr kumimoji="1" lang="ja-JP" altLang="en-US" smtClean="0"/>
              <a: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365125"/>
            <a:ext cx="10515600" cy="1325563"/>
          </a:xfrm>
        </p:spPr>
        <p:txBody>
          <a:bodyPr/>
          <a:lstStyle/>
          <a:p>
            <a:r>
              <a:rPr kumimoji="1" lang="ja-JP" altLang="en-US" dirty="0"/>
              <a:t>マスタ タイトルの書式設定</a:t>
            </a:r>
          </a:p>
        </p:txBody>
      </p:sp>
      <p:sp>
        <p:nvSpPr>
          <p:cNvPr id="3" name="テキスト プレースホルダー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dirty="0"/>
              <a:t>マスタ テキストの書式設定</a:t>
            </a:r>
          </a:p>
        </p:txBody>
      </p:sp>
      <p:sp>
        <p:nvSpPr>
          <p:cNvPr id="4" name="コンテンツ プレースホルダー 3"/>
          <p:cNvSpPr>
            <a:spLocks noGrp="1"/>
          </p:cNvSpPr>
          <p:nvPr>
            <p:ph sz="half" idx="2"/>
          </p:nvPr>
        </p:nvSpPr>
        <p:spPr>
          <a:xfrm>
            <a:off x="839788" y="2505075"/>
            <a:ext cx="5157787" cy="3684588"/>
          </a:xfrm>
        </p:spPr>
        <p:txBody>
          <a:bodyPr/>
          <a:lstStyle/>
          <a:p>
            <a:pPr lvl="0"/>
            <a:r>
              <a:rPr kumimoji="1" lang="ja-JP" altLang="en-US" dirty="0"/>
              <a:t>マスタ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5" name="テキスト プレースホルダー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dirty="0"/>
              <a:t>マスタ テキストの書式設定</a:t>
            </a:r>
          </a:p>
        </p:txBody>
      </p:sp>
      <p:sp>
        <p:nvSpPr>
          <p:cNvPr id="6" name="コンテンツ プレースホルダー 5"/>
          <p:cNvSpPr>
            <a:spLocks noGrp="1"/>
          </p:cNvSpPr>
          <p:nvPr>
            <p:ph sz="quarter" idx="4"/>
          </p:nvPr>
        </p:nvSpPr>
        <p:spPr>
          <a:xfrm>
            <a:off x="6172200" y="2505075"/>
            <a:ext cx="5183188" cy="3684588"/>
          </a:xfrm>
        </p:spPr>
        <p:txBody>
          <a:bodyPr/>
          <a:lstStyle/>
          <a:p>
            <a:pPr lvl="0"/>
            <a:r>
              <a:rPr kumimoji="1" lang="ja-JP" altLang="en-US" dirty="0"/>
              <a:t>マスタ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7" name="日付プレースホルダー 6"/>
          <p:cNvSpPr>
            <a:spLocks noGrp="1"/>
          </p:cNvSpPr>
          <p:nvPr>
            <p:ph type="dt" sz="half" idx="10"/>
          </p:nvPr>
        </p:nvSpPr>
        <p:spPr/>
        <p:txBody>
          <a:bodyPr/>
          <a:lstStyle/>
          <a:p>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F8D8928E-AA9A-4D89-BC1F-A2C05AB4BD92}" type="slidenum">
              <a:rPr kumimoji="1" lang="ja-JP" altLang="en-US" smtClean="0"/>
              <a: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マスタ タイトルの書式設定</a:t>
            </a:r>
          </a:p>
        </p:txBody>
      </p:sp>
      <p:sp>
        <p:nvSpPr>
          <p:cNvPr id="3" name="日付プレースホルダー 2"/>
          <p:cNvSpPr>
            <a:spLocks noGrp="1"/>
          </p:cNvSpPr>
          <p:nvPr>
            <p:ph type="dt" sz="half" idx="10"/>
          </p:nvPr>
        </p:nvSpPr>
        <p:spPr/>
        <p:txBody>
          <a:bodyPr/>
          <a:lstStyle/>
          <a:p>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F8D8928E-AA9A-4D89-BC1F-A2C05AB4BD92}" type="slidenum">
              <a:rPr kumimoji="1" lang="ja-JP" altLang="en-US" smtClean="0"/>
              <a: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F8D8928E-AA9A-4D89-BC1F-A2C05AB4BD92}" type="slidenum">
              <a:rPr kumimoji="1" lang="ja-JP" altLang="en-US" smtClean="0"/>
              <a: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dirty="0"/>
              <a:t>マスタ タイトルの書式設定</a:t>
            </a:r>
          </a:p>
        </p:txBody>
      </p:sp>
      <p:sp>
        <p:nvSpPr>
          <p:cNvPr id="3" name="コンテンツ プレースホルダー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dirty="0"/>
              <a:t>マスタ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dirty="0"/>
              <a:t>マスタ テキストの書式設定</a:t>
            </a:r>
          </a:p>
        </p:txBody>
      </p:sp>
      <p:sp>
        <p:nvSpPr>
          <p:cNvPr id="5" name="日付プレースホルダー 4"/>
          <p:cNvSpPr>
            <a:spLocks noGrp="1"/>
          </p:cNvSpPr>
          <p:nvPr>
            <p:ph type="dt" sz="half" idx="10"/>
          </p:nvPr>
        </p:nvSpPr>
        <p:spPr/>
        <p:txBody>
          <a:bodyPr/>
          <a:lstStyle/>
          <a:p>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F8D8928E-AA9A-4D89-BC1F-A2C05AB4BD92}" type="slidenum">
              <a:rPr kumimoji="1" lang="ja-JP" altLang="en-US" smtClean="0"/>
              <a: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dirty="0"/>
              <a:t>マスタ タイトルの書式設定</a:t>
            </a:r>
          </a:p>
        </p:txBody>
      </p:sp>
      <p:sp>
        <p:nvSpPr>
          <p:cNvPr id="3" name="図プレースホルダー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dirty="0"/>
              <a:t>マスタ テキストの書式設定</a:t>
            </a:r>
          </a:p>
        </p:txBody>
      </p:sp>
      <p:sp>
        <p:nvSpPr>
          <p:cNvPr id="5" name="日付プレースホルダー 4"/>
          <p:cNvSpPr>
            <a:spLocks noGrp="1"/>
          </p:cNvSpPr>
          <p:nvPr>
            <p:ph type="dt" sz="half" idx="10"/>
          </p:nvPr>
        </p:nvSpPr>
        <p:spPr/>
        <p:txBody>
          <a:bodyPr/>
          <a:lstStyle/>
          <a:p>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F8D8928E-AA9A-4D89-BC1F-A2C05AB4BD92}" type="slidenum">
              <a:rPr kumimoji="1" lang="ja-JP" altLang="en-US" smtClean="0"/>
              <a: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マスタ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dirty="0"/>
              <a:t>マスタ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p:cNvSpPr>
            <a:spLocks noGrp="1"/>
          </p:cNvSpPr>
          <p:nvPr>
            <p:ph type="dt" sz="half" idx="10"/>
          </p:nvPr>
        </p:nvSpPr>
        <p:spPr/>
        <p:txBody>
          <a:bodyPr/>
          <a:lstStyle/>
          <a:p>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F8D8928E-AA9A-4D89-BC1F-A2C05AB4BD92}" type="slidenum">
              <a:rPr kumimoji="1" lang="ja-JP" altLang="en-US" smtClean="0"/>
              <a: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0" y="365125"/>
            <a:ext cx="2628900" cy="5811838"/>
          </a:xfrm>
        </p:spPr>
        <p:txBody>
          <a:bodyPr vert="eaVert"/>
          <a:lstStyle/>
          <a:p>
            <a:r>
              <a:rPr kumimoji="1" lang="ja-JP" altLang="en-US" dirty="0"/>
              <a:t>マスタ タイトルの書式設定</a:t>
            </a:r>
          </a:p>
        </p:txBody>
      </p:sp>
      <p:sp>
        <p:nvSpPr>
          <p:cNvPr id="3" name="縦書きテキスト プレースホルダー 2"/>
          <p:cNvSpPr>
            <a:spLocks noGrp="1"/>
          </p:cNvSpPr>
          <p:nvPr>
            <p:ph type="body" orient="vert" idx="1"/>
          </p:nvPr>
        </p:nvSpPr>
        <p:spPr>
          <a:xfrm>
            <a:off x="838200" y="365125"/>
            <a:ext cx="7734300" cy="5811838"/>
          </a:xfrm>
        </p:spPr>
        <p:txBody>
          <a:bodyPr vert="eaVert"/>
          <a:lstStyle/>
          <a:p>
            <a:pPr lvl="0"/>
            <a:r>
              <a:rPr kumimoji="1" lang="ja-JP" altLang="en-US" dirty="0"/>
              <a:t>マスタ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p:cNvSpPr>
            <a:spLocks noGrp="1"/>
          </p:cNvSpPr>
          <p:nvPr>
            <p:ph type="dt" sz="half" idx="10"/>
          </p:nvPr>
        </p:nvSpPr>
        <p:spPr/>
        <p:txBody>
          <a:bodyPr/>
          <a:lstStyle/>
          <a:p>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F8D8928E-AA9A-4D89-BC1F-A2C05AB4BD92}" type="slidenum">
              <a:rPr kumimoji="1" lang="ja-JP" altLang="en-US" smtClean="0"/>
              <a: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dirty="0"/>
              <a:t>マスタ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dirty="0"/>
              <a:t>マスタ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kumimoji="1" lang="ja-JP" altLang="en-US"/>
          </a:p>
        </p:txBody>
      </p:sp>
      <p:sp>
        <p:nvSpPr>
          <p:cNvPr id="5" name="フッター プレースホルダー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D8928E-AA9A-4D89-BC1F-A2C05AB4BD92}" type="slidenum">
              <a:rPr kumimoji="1" lang="ja-JP" altLang="en-US" smtClean="0"/>
              <a: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3" Type="http://schemas.openxmlformats.org/officeDocument/2006/relationships/tags" Target="../tags/tag3.xml"/><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tags" Target="../tags/tag2.xml"/><Relationship Id="rId16" Type="http://schemas.openxmlformats.org/officeDocument/2006/relationships/image" Target="../media/image16.png"/><Relationship Id="rId1" Type="http://schemas.openxmlformats.org/officeDocument/2006/relationships/tags" Target="../tags/tag1.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slideLayout" Target="../slideLayouts/slideLayout2.xml"/><Relationship Id="rId15" Type="http://schemas.openxmlformats.org/officeDocument/2006/relationships/image" Target="../media/image15.png"/><Relationship Id="rId10" Type="http://schemas.openxmlformats.org/officeDocument/2006/relationships/image" Target="../media/image11.png"/><Relationship Id="rId4" Type="http://schemas.openxmlformats.org/officeDocument/2006/relationships/tags" Target="../tags/tag4.xml"/><Relationship Id="rId9" Type="http://schemas.openxmlformats.org/officeDocument/2006/relationships/image" Target="../media/image10.png"/><Relationship Id="rId14" Type="http://schemas.openxmlformats.org/officeDocument/2006/relationships/image" Target="../media/image130.png"/></Relationships>
</file>

<file path=ppt/slides/_rels/slide4.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0.png"/><Relationship Id="rId1" Type="http://schemas.openxmlformats.org/officeDocument/2006/relationships/slideLayout" Target="../slideLayouts/slideLayout2.xml"/><Relationship Id="rId6" Type="http://schemas.openxmlformats.org/officeDocument/2006/relationships/image" Target="../media/image20.png"/><Relationship Id="rId11" Type="http://schemas.openxmlformats.org/officeDocument/2006/relationships/image" Target="../media/image27.png"/><Relationship Id="rId5" Type="http://schemas.openxmlformats.org/officeDocument/2006/relationships/image" Target="../media/image19.png"/><Relationship Id="rId10" Type="http://schemas.openxmlformats.org/officeDocument/2006/relationships/image" Target="../media/image22.png"/><Relationship Id="rId4" Type="http://schemas.openxmlformats.org/officeDocument/2006/relationships/image" Target="../media/image18.png"/><Relationship Id="rId9" Type="http://schemas.openxmlformats.org/officeDocument/2006/relationships/image" Target="../media/image25.png"/><Relationship Id="rId14" Type="http://schemas.openxmlformats.org/officeDocument/2006/relationships/image" Target="../media/image23.png"/></Relationships>
</file>

<file path=ppt/slides/_rels/slide5.xml.rels><?xml version="1.0" encoding="UTF-8" standalone="yes"?>
<Relationships xmlns="http://schemas.openxmlformats.org/package/2006/relationships"><Relationship Id="rId8" Type="http://schemas.openxmlformats.org/officeDocument/2006/relationships/image" Target="../media/image270.png"/><Relationship Id="rId3" Type="http://schemas.openxmlformats.org/officeDocument/2006/relationships/image" Target="../media/image271.png"/><Relationship Id="rId2" Type="http://schemas.openxmlformats.org/officeDocument/2006/relationships/image" Target="../media/image24.gif"/><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292.png"/><Relationship Id="rId4" Type="http://schemas.openxmlformats.org/officeDocument/2006/relationships/image" Target="../media/image30.png"/></Relationships>
</file>

<file path=ppt/slides/_rels/slide6.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5.gif"/><Relationship Id="rId7" Type="http://schemas.openxmlformats.org/officeDocument/2006/relationships/image" Target="../media/image300.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291.png"/><Relationship Id="rId5" Type="http://schemas.openxmlformats.org/officeDocument/2006/relationships/image" Target="../media/image270.png"/><Relationship Id="rId10" Type="http://schemas.openxmlformats.org/officeDocument/2006/relationships/image" Target="../media/image33.png"/><Relationship Id="rId9" Type="http://schemas.openxmlformats.org/officeDocument/2006/relationships/image" Target="../media/image311.png"/></Relationships>
</file>

<file path=ppt/slides/_rels/slide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8.xml.rels><?xml version="1.0" encoding="UTF-8" standalone="yes"?>
<Relationships xmlns="http://schemas.openxmlformats.org/package/2006/relationships"><Relationship Id="rId3" Type="http://schemas.openxmlformats.org/officeDocument/2006/relationships/image" Target="../media/image350.png"/><Relationship Id="rId2" Type="http://schemas.openxmlformats.org/officeDocument/2006/relationships/image" Target="../media/image34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210.png"/><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0.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image" Target="../media/image41.png"/><Relationship Id="rId1" Type="http://schemas.openxmlformats.org/officeDocument/2006/relationships/slideLayout" Target="../slideLayouts/slideLayout2.xml"/><Relationship Id="rId6" Type="http://schemas.openxmlformats.org/officeDocument/2006/relationships/image" Target="../media/image45.png"/><Relationship Id="rId11" Type="http://schemas.openxmlformats.org/officeDocument/2006/relationships/image" Target="../media/image50.png"/><Relationship Id="rId5" Type="http://schemas.openxmlformats.org/officeDocument/2006/relationships/image" Target="../media/image44.png"/><Relationship Id="rId10" Type="http://schemas.openxmlformats.org/officeDocument/2006/relationships/image" Target="../media/image49.png"/><Relationship Id="rId4" Type="http://schemas.openxmlformats.org/officeDocument/2006/relationships/image" Target="../media/image43.png"/><Relationship Id="rId9" Type="http://schemas.openxmlformats.org/officeDocument/2006/relationships/image" Target="../media/image48.png"/></Relationships>
</file>

<file path=ppt/slides/_rels/slide11.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image" Target="../media/image51.png"/><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标题 1"/>
              <p:cNvSpPr>
                <a:spLocks noGrp="1"/>
              </p:cNvSpPr>
              <p:nvPr>
                <p:ph type="ctrTitle"/>
              </p:nvPr>
            </p:nvSpPr>
            <p:spPr>
              <a:xfrm>
                <a:off x="873635" y="1572493"/>
                <a:ext cx="10444730" cy="1204636"/>
              </a:xfrm>
            </p:spPr>
            <p:txBody>
              <a:bodyPr>
                <a:normAutofit fontScale="90000"/>
              </a:bodyPr>
              <a:lstStyle/>
              <a:p>
                <a:r>
                  <a:rPr lang="ja-JP" altLang="en-US" sz="4400" dirty="0">
                    <a:solidFill>
                      <a:schemeClr val="tx1"/>
                    </a:solidFill>
                    <a:ea typeface="メイリオ" panose="020B0604030504040204" pitchFamily="50" charset="-128"/>
                  </a:rPr>
                  <a:t>行列</a:t>
                </a:r>
                <a:r>
                  <a:rPr lang="zh-CN" altLang="en-US" sz="4400" dirty="0">
                    <a:solidFill>
                      <a:schemeClr val="tx1"/>
                    </a:solidFill>
                    <a:ea typeface="メイリオ" panose="020B0604030504040204" pitchFamily="50" charset="-128"/>
                  </a:rPr>
                  <a:t> </a:t>
                </a:r>
                <a14:m>
                  <m:oMath xmlns:m="http://schemas.openxmlformats.org/officeDocument/2006/math">
                    <m:r>
                      <a:rPr lang="en-US" altLang="ja-JP" sz="4400" b="0" i="1" dirty="0">
                        <a:solidFill>
                          <a:schemeClr val="tx1"/>
                        </a:solidFill>
                        <a:latin typeface="Cambria Math" panose="02040503050406030204" pitchFamily="18" charset="0"/>
                        <a:ea typeface="メイリオ" panose="020B0604030504040204" pitchFamily="50" charset="-128"/>
                      </a:rPr>
                      <m:t>𝑝</m:t>
                    </m:r>
                  </m:oMath>
                </a14:m>
                <a:r>
                  <a:rPr lang="ja-JP" altLang="en-US" sz="4400" dirty="0">
                    <a:solidFill>
                      <a:schemeClr val="tx1"/>
                    </a:solidFill>
                    <a:latin typeface="メイリオ" panose="020B0604030504040204" pitchFamily="50" charset="-128"/>
                    <a:ea typeface="メイリオ" panose="020B0604030504040204" pitchFamily="50" charset="-128"/>
                  </a:rPr>
                  <a:t> 乗根を求めるための</a:t>
                </a:r>
                <a:br>
                  <a:rPr lang="en-US" altLang="ja-JP" sz="4400" dirty="0">
                    <a:solidFill>
                      <a:schemeClr val="tx1"/>
                    </a:solidFill>
                    <a:latin typeface="メイリオ" panose="020B0604030504040204" pitchFamily="50" charset="-128"/>
                    <a:ea typeface="メイリオ" panose="020B0604030504040204" pitchFamily="50" charset="-128"/>
                  </a:rPr>
                </a:br>
                <a:r>
                  <a:rPr lang="en-US" altLang="zh-CN" sz="4400" dirty="0">
                    <a:solidFill>
                      <a:schemeClr val="tx1"/>
                    </a:solidFill>
                    <a:latin typeface="メイリオ" panose="020B0604030504040204" pitchFamily="50" charset="-128"/>
                    <a:ea typeface="メイリオ" panose="020B0604030504040204" pitchFamily="50" charset="-128"/>
                  </a:rPr>
                  <a:t>Incremental Newton</a:t>
                </a:r>
                <a:r>
                  <a:rPr lang="ja-JP" altLang="en-US" sz="4400" dirty="0">
                    <a:solidFill>
                      <a:schemeClr val="tx1"/>
                    </a:solidFill>
                    <a:latin typeface="メイリオ" panose="020B0604030504040204" pitchFamily="50" charset="-128"/>
                    <a:ea typeface="メイリオ" panose="020B0604030504040204" pitchFamily="50" charset="-128"/>
                  </a:rPr>
                  <a:t>法の初期値について</a:t>
                </a:r>
                <a:endParaRPr lang="en-US" altLang="zh-CN" sz="4400" dirty="0">
                  <a:solidFill>
                    <a:schemeClr val="tx1"/>
                  </a:solidFill>
                </a:endParaRPr>
              </a:p>
            </p:txBody>
          </p:sp>
        </mc:Choice>
        <mc:Fallback xmlns="">
          <p:sp>
            <p:nvSpPr>
              <p:cNvPr id="2" name="标题 1"/>
              <p:cNvSpPr>
                <a:spLocks noGrp="1" noRot="1" noChangeAspect="1" noMove="1" noResize="1" noEditPoints="1" noAdjustHandles="1" noChangeArrowheads="1" noChangeShapeType="1" noTextEdit="1"/>
              </p:cNvSpPr>
              <p:nvPr>
                <p:ph type="ctrTitle"/>
              </p:nvPr>
            </p:nvSpPr>
            <p:spPr>
              <a:xfrm>
                <a:off x="873635" y="1572493"/>
                <a:ext cx="10444730" cy="1204636"/>
              </a:xfrm>
              <a:blipFill>
                <a:blip r:embed="rId2"/>
                <a:stretch>
                  <a:fillRect t="-11616" b="-22727"/>
                </a:stretch>
              </a:blipFill>
            </p:spPr>
            <p:txBody>
              <a:bodyPr/>
              <a:lstStyle/>
              <a:p>
                <a:r>
                  <a:rPr lang="zh-CN" altLang="en-US">
                    <a:noFill/>
                  </a:rPr>
                  <a:t> </a:t>
                </a:r>
              </a:p>
            </p:txBody>
          </p:sp>
        </mc:Fallback>
      </mc:AlternateContent>
      <p:sp>
        <p:nvSpPr>
          <p:cNvPr id="3" name="副标题 2"/>
          <p:cNvSpPr>
            <a:spLocks noGrp="1"/>
          </p:cNvSpPr>
          <p:nvPr>
            <p:ph type="subTitle" idx="1"/>
          </p:nvPr>
        </p:nvSpPr>
        <p:spPr>
          <a:xfrm>
            <a:off x="2175029" y="3417633"/>
            <a:ext cx="7841941" cy="1894098"/>
          </a:xfrm>
        </p:spPr>
        <p:txBody>
          <a:bodyPr>
            <a:normAutofit/>
          </a:bodyPr>
          <a:lstStyle/>
          <a:p>
            <a:r>
              <a:rPr lang="ja-JP" altLang="en-US" sz="2800" dirty="0"/>
              <a:t>応用物理学専攻</a:t>
            </a:r>
            <a:r>
              <a:rPr lang="zh-CN" altLang="en-US" sz="2800" dirty="0"/>
              <a:t> </a:t>
            </a:r>
            <a:r>
              <a:rPr lang="ja-JP" altLang="en-US" sz="2800" dirty="0"/>
              <a:t>博士前期課程</a:t>
            </a:r>
            <a:r>
              <a:rPr lang="en-US" altLang="ja-JP" sz="2800" dirty="0"/>
              <a:t>2</a:t>
            </a:r>
            <a:r>
              <a:rPr lang="ja-JP" altLang="en-US" sz="2800" dirty="0"/>
              <a:t>年　</a:t>
            </a:r>
            <a:endParaRPr lang="en-US" altLang="ja-JP" sz="2800" dirty="0"/>
          </a:p>
          <a:p>
            <a:r>
              <a:rPr lang="ja-JP" altLang="en-US" sz="2800" dirty="0"/>
              <a:t>張研究室</a:t>
            </a:r>
            <a:endParaRPr lang="en-US" altLang="ja-JP" sz="2800" dirty="0"/>
          </a:p>
          <a:p>
            <a:r>
              <a:rPr lang="ja-JP" altLang="en-US" sz="2800" dirty="0"/>
              <a:t>王　鶴鵬</a:t>
            </a:r>
            <a:endParaRPr lang="zh-CN" altLang="en-US" sz="2800" dirty="0"/>
          </a:p>
        </p:txBody>
      </p:sp>
      <p:cxnSp>
        <p:nvCxnSpPr>
          <p:cNvPr id="6" name="直線コネクタ 5"/>
          <p:cNvCxnSpPr>
            <a:cxnSpLocks/>
          </p:cNvCxnSpPr>
          <p:nvPr/>
        </p:nvCxnSpPr>
        <p:spPr>
          <a:xfrm>
            <a:off x="1131633" y="2777129"/>
            <a:ext cx="10119023"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 name="文本框 3">
            <a:extLst>
              <a:ext uri="{FF2B5EF4-FFF2-40B4-BE49-F238E27FC236}">
                <a16:creationId xmlns:a16="http://schemas.microsoft.com/office/drawing/2014/main" id="{04037AA4-3641-4A3C-BE97-45B038FD6F72}"/>
              </a:ext>
            </a:extLst>
          </p:cNvPr>
          <p:cNvSpPr txBox="1"/>
          <p:nvPr/>
        </p:nvSpPr>
        <p:spPr>
          <a:xfrm>
            <a:off x="4836553" y="491406"/>
            <a:ext cx="2586589" cy="707886"/>
          </a:xfrm>
          <a:prstGeom prst="rect">
            <a:avLst/>
          </a:prstGeom>
          <a:noFill/>
        </p:spPr>
        <p:txBody>
          <a:bodyPr wrap="square" rtlCol="0">
            <a:spAutoFit/>
          </a:bodyPr>
          <a:lstStyle/>
          <a:p>
            <a:pPr algn="ctr"/>
            <a:r>
              <a:rPr lang="ja-JP" altLang="en-US" sz="2000" dirty="0"/>
              <a:t>修士論文中間審査会</a:t>
            </a:r>
            <a:endParaRPr lang="en-US" altLang="ja-JP" sz="2000" dirty="0"/>
          </a:p>
          <a:p>
            <a:pPr algn="ctr"/>
            <a:r>
              <a:rPr lang="en-US" altLang="ja-JP" sz="2000" dirty="0"/>
              <a:t>2022</a:t>
            </a:r>
            <a:r>
              <a:rPr lang="ja-JP" altLang="en-US" sz="2000" dirty="0"/>
              <a:t>年</a:t>
            </a:r>
            <a:r>
              <a:rPr lang="en-US" altLang="ja-JP" sz="2000" dirty="0"/>
              <a:t>4</a:t>
            </a:r>
            <a:r>
              <a:rPr lang="ja-JP" altLang="en-US" sz="2000" dirty="0"/>
              <a:t>月</a:t>
            </a:r>
            <a:r>
              <a:rPr lang="en-US" altLang="ja-JP" sz="2000" dirty="0"/>
              <a:t>7</a:t>
            </a:r>
            <a:r>
              <a:rPr lang="ja-JP" altLang="en-US" sz="2000" dirty="0"/>
              <a:t>日</a:t>
            </a:r>
            <a:endParaRPr lang="zh-CN" alt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正方形/長方形 33"/>
          <p:cNvSpPr/>
          <p:nvPr/>
        </p:nvSpPr>
        <p:spPr>
          <a:xfrm>
            <a:off x="908729" y="1612910"/>
            <a:ext cx="10256043" cy="2025062"/>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2" name="标题 1"/>
              <p:cNvSpPr>
                <a:spLocks noGrp="1"/>
              </p:cNvSpPr>
              <p:nvPr>
                <p:ph type="title"/>
              </p:nvPr>
            </p:nvSpPr>
            <p:spPr/>
            <p:txBody>
              <a:bodyPr>
                <a:normAutofit/>
              </a:bodyPr>
              <a:lstStyle/>
              <a:p>
                <a:r>
                  <a:rPr lang="ja-JP" altLang="en-US" sz="3200" dirty="0">
                    <a:ea typeface="メイリオ" panose="020B0604030504040204" pitchFamily="50" charset="-128"/>
                  </a:rPr>
                  <a:t>行列</a:t>
                </a:r>
                <a:r>
                  <a:rPr lang="zh-CN" altLang="en-US" sz="3200" dirty="0">
                    <a:ea typeface="メイリオ" panose="020B0604030504040204" pitchFamily="50" charset="-128"/>
                  </a:rPr>
                  <a:t> </a:t>
                </a:r>
                <a14:m>
                  <m:oMath xmlns:m="http://schemas.openxmlformats.org/officeDocument/2006/math">
                    <m:r>
                      <a:rPr lang="en-US" altLang="ja-JP" sz="3200" i="1" dirty="0" smtClean="0">
                        <a:latin typeface="Cambria Math" panose="02040503050406030204" pitchFamily="18" charset="0"/>
                        <a:ea typeface="メイリオ" panose="020B0604030504040204" pitchFamily="50" charset="-128"/>
                      </a:rPr>
                      <m:t>𝑝</m:t>
                    </m:r>
                  </m:oMath>
                </a14:m>
                <a:r>
                  <a:rPr lang="ja-JP" altLang="en-US" sz="3200" dirty="0">
                    <a:latin typeface="メイリオ" panose="020B0604030504040204" pitchFamily="50" charset="-128"/>
                    <a:ea typeface="メイリオ" panose="020B0604030504040204" pitchFamily="50" charset="-128"/>
                  </a:rPr>
                  <a:t> 乗根とは</a:t>
                </a:r>
                <a:endParaRPr lang="zh-CN" altLang="en-US" sz="3200" dirty="0">
                  <a:latin typeface="メイリオ" panose="020B0604030504040204" pitchFamily="50" charset="-128"/>
                  <a:ea typeface="メイリオ" panose="020B0604030504040204" pitchFamily="50" charset="-128"/>
                </a:endParaRPr>
              </a:p>
            </p:txBody>
          </p:sp>
        </mc:Choice>
        <mc:Fallback xmlns="">
          <p:sp>
            <p:nvSpPr>
              <p:cNvPr id="2" name="标题 1"/>
              <p:cNvSpPr>
                <a:spLocks noGrp="1" noRot="1" noChangeAspect="1" noMove="1" noResize="1" noEditPoints="1" noAdjustHandles="1" noChangeArrowheads="1" noChangeShapeType="1" noTextEdit="1"/>
              </p:cNvSpPr>
              <p:nvPr>
                <p:ph type="title"/>
              </p:nvPr>
            </p:nvSpPr>
            <p:spPr>
              <a:blipFill>
                <a:blip r:embed="rId2"/>
                <a:stretch>
                  <a:fillRect l="-1594" t="-2542" b="-16949"/>
                </a:stretch>
              </a:blipFill>
            </p:spPr>
            <p:txBody>
              <a:bodyPr/>
              <a:lstStyle/>
              <a:p>
                <a:r>
                  <a:rPr lang="zh-CN" altLang="en-US">
                    <a:noFill/>
                  </a:rPr>
                  <a:t> </a:t>
                </a:r>
              </a:p>
            </p:txBody>
          </p:sp>
        </mc:Fallback>
      </mc:AlternateContent>
      <p:cxnSp>
        <p:nvCxnSpPr>
          <p:cNvPr id="22" name="直線コネクタ 21"/>
          <p:cNvCxnSpPr/>
          <p:nvPr/>
        </p:nvCxnSpPr>
        <p:spPr>
          <a:xfrm>
            <a:off x="263371" y="907622"/>
            <a:ext cx="11665258" cy="0"/>
          </a:xfrm>
          <a:prstGeom prst="line">
            <a:avLst/>
          </a:prstGeom>
          <a:ln w="1905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テキスト ボックス 23"/>
              <p:cNvSpPr txBox="1"/>
              <p:nvPr/>
            </p:nvSpPr>
            <p:spPr>
              <a:xfrm>
                <a:off x="1051214" y="1956300"/>
                <a:ext cx="9927910" cy="433965"/>
              </a:xfrm>
              <a:prstGeom prst="rect">
                <a:avLst/>
              </a:prstGeom>
              <a:solidFill>
                <a:schemeClr val="bg1"/>
              </a:solidFill>
            </p:spPr>
            <p:txBody>
              <a:bodyPr wrap="square">
                <a:spAutoFit/>
              </a:bodyPr>
              <a:lstStyle/>
              <a:p>
                <a:pPr>
                  <a:lnSpc>
                    <a:spcPct val="90000"/>
                  </a:lnSpc>
                  <a:spcBef>
                    <a:spcPct val="0"/>
                  </a:spcBef>
                </a:pPr>
                <a:r>
                  <a:rPr kumimoji="1" lang="ja-JP" altLang="en-US" sz="2400" dirty="0">
                    <a:solidFill>
                      <a:schemeClr val="tx1"/>
                    </a:solidFill>
                    <a:latin typeface="メイリオ" panose="020B0604030504040204" pitchFamily="50" charset="-128"/>
                    <a:ea typeface="メイリオ" panose="020B0604030504040204" pitchFamily="50" charset="-128"/>
                    <a:cs typeface="+mj-cs"/>
                  </a:rPr>
                  <a:t>行列 </a:t>
                </a:r>
                <a14:m>
                  <m:oMath xmlns:m="http://schemas.openxmlformats.org/officeDocument/2006/math">
                    <m:r>
                      <a:rPr kumimoji="1" lang="en-US" altLang="ja-JP" sz="2400" b="0" i="1" smtClean="0">
                        <a:solidFill>
                          <a:schemeClr val="tx1"/>
                        </a:solidFill>
                        <a:latin typeface="Cambria Math" panose="02040503050406030204" pitchFamily="18" charset="0"/>
                        <a:ea typeface="メイリオ" panose="020B0604030504040204" pitchFamily="50" charset="-128"/>
                        <a:cs typeface="+mj-cs"/>
                      </a:rPr>
                      <m:t>𝐴</m:t>
                    </m:r>
                    <m:r>
                      <a:rPr kumimoji="1" lang="en-US" altLang="ja-JP" sz="2400" b="0" i="1" smtClean="0">
                        <a:solidFill>
                          <a:schemeClr val="tx1"/>
                        </a:solidFill>
                        <a:latin typeface="Cambria Math" panose="02040503050406030204" pitchFamily="18" charset="0"/>
                        <a:ea typeface="メイリオ" panose="020B0604030504040204" pitchFamily="50" charset="-128"/>
                        <a:cs typeface="+mj-cs"/>
                      </a:rPr>
                      <m:t>∈</m:t>
                    </m:r>
                    <m:sSup>
                      <m:sSupPr>
                        <m:ctrlPr>
                          <a:rPr kumimoji="1" lang="en-US" altLang="ja-JP" sz="2400" b="0" i="1" smtClean="0">
                            <a:solidFill>
                              <a:schemeClr val="tx1"/>
                            </a:solidFill>
                            <a:latin typeface="Cambria Math" panose="02040503050406030204" pitchFamily="18" charset="0"/>
                            <a:ea typeface="Cambria Math" panose="02040503050406030204" pitchFamily="18" charset="0"/>
                            <a:cs typeface="+mj-cs"/>
                          </a:rPr>
                        </m:ctrlPr>
                      </m:sSupPr>
                      <m:e>
                        <m:r>
                          <a:rPr kumimoji="1" lang="en-US" altLang="ja-JP" sz="2400" b="0" i="1" smtClean="0">
                            <a:solidFill>
                              <a:schemeClr val="tx1"/>
                            </a:solidFill>
                            <a:latin typeface="Cambria Math" panose="02040503050406030204" pitchFamily="18" charset="0"/>
                            <a:ea typeface="Cambria Math" panose="02040503050406030204" pitchFamily="18" charset="0"/>
                            <a:cs typeface="+mj-cs"/>
                          </a:rPr>
                          <m:t>ℂ</m:t>
                        </m:r>
                      </m:e>
                      <m:sup>
                        <m:r>
                          <a:rPr kumimoji="1" lang="en-US" altLang="ja-JP" sz="2400" b="0" i="1" smtClean="0">
                            <a:solidFill>
                              <a:schemeClr val="tx1"/>
                            </a:solidFill>
                            <a:latin typeface="Cambria Math" panose="02040503050406030204" pitchFamily="18" charset="0"/>
                            <a:ea typeface="Cambria Math" panose="02040503050406030204" pitchFamily="18" charset="0"/>
                            <a:cs typeface="+mj-cs"/>
                          </a:rPr>
                          <m:t>𝑛</m:t>
                        </m:r>
                        <m:r>
                          <a:rPr kumimoji="1" lang="en-US" altLang="ja-JP" sz="2400" b="0" i="1" smtClean="0">
                            <a:solidFill>
                              <a:schemeClr val="tx1"/>
                            </a:solidFill>
                            <a:latin typeface="Cambria Math" panose="02040503050406030204" pitchFamily="18" charset="0"/>
                            <a:ea typeface="Cambria Math" panose="02040503050406030204" pitchFamily="18" charset="0"/>
                            <a:cs typeface="+mj-cs"/>
                          </a:rPr>
                          <m:t>×</m:t>
                        </m:r>
                        <m:r>
                          <a:rPr kumimoji="1" lang="en-US" altLang="ja-JP" sz="2400" b="0" i="1" smtClean="0">
                            <a:solidFill>
                              <a:schemeClr val="tx1"/>
                            </a:solidFill>
                            <a:latin typeface="Cambria Math" panose="02040503050406030204" pitchFamily="18" charset="0"/>
                            <a:ea typeface="Cambria Math" panose="02040503050406030204" pitchFamily="18" charset="0"/>
                            <a:cs typeface="+mj-cs"/>
                          </a:rPr>
                          <m:t>𝑛</m:t>
                        </m:r>
                      </m:sup>
                    </m:sSup>
                    <m:r>
                      <a:rPr kumimoji="1" lang="en-US" altLang="ja-JP" sz="2400" b="0" i="1" smtClean="0">
                        <a:solidFill>
                          <a:schemeClr val="tx1"/>
                        </a:solidFill>
                        <a:latin typeface="Cambria Math" panose="02040503050406030204" pitchFamily="18" charset="0"/>
                        <a:ea typeface="Cambria Math" panose="02040503050406030204" pitchFamily="18" charset="0"/>
                        <a:cs typeface="+mj-cs"/>
                      </a:rPr>
                      <m:t> </m:t>
                    </m:r>
                  </m:oMath>
                </a14:m>
                <a:r>
                  <a:rPr kumimoji="1" lang="ja-JP" altLang="en-US" sz="2400" dirty="0">
                    <a:solidFill>
                      <a:schemeClr val="tx1"/>
                    </a:solidFill>
                    <a:latin typeface="メイリオ" panose="020B0604030504040204" pitchFamily="50" charset="-128"/>
                    <a:ea typeface="メイリオ" panose="020B0604030504040204" pitchFamily="50" charset="-128"/>
                    <a:cs typeface="+mj-cs"/>
                  </a:rPr>
                  <a:t> と自然数</a:t>
                </a:r>
                <a:r>
                  <a:rPr kumimoji="1" lang="ja-JP" altLang="en-US" sz="2400" dirty="0">
                    <a:latin typeface="メイリオ" panose="020B0604030504040204" pitchFamily="50" charset="-128"/>
                    <a:ea typeface="メイリオ" panose="020B0604030504040204" pitchFamily="50" charset="-128"/>
                    <a:cs typeface="+mj-cs"/>
                  </a:rPr>
                  <a:t> </a:t>
                </a:r>
                <a14:m>
                  <m:oMath xmlns:m="http://schemas.openxmlformats.org/officeDocument/2006/math">
                    <m:r>
                      <a:rPr kumimoji="1" lang="en-US" altLang="ja-JP" sz="2400" b="0" i="1" smtClean="0">
                        <a:solidFill>
                          <a:schemeClr val="tx1"/>
                        </a:solidFill>
                        <a:latin typeface="Cambria Math" panose="02040503050406030204" pitchFamily="18" charset="0"/>
                        <a:ea typeface="メイリオ" panose="020B0604030504040204" pitchFamily="50" charset="-128"/>
                        <a:cs typeface="+mj-cs"/>
                      </a:rPr>
                      <m:t>𝑝</m:t>
                    </m:r>
                    <m:r>
                      <a:rPr kumimoji="1" lang="en-US" altLang="ja-JP" sz="2400" b="0" i="1" smtClean="0">
                        <a:solidFill>
                          <a:schemeClr val="tx1"/>
                        </a:solidFill>
                        <a:latin typeface="Cambria Math" panose="02040503050406030204" pitchFamily="18" charset="0"/>
                        <a:ea typeface="メイリオ" panose="020B0604030504040204" pitchFamily="50" charset="-128"/>
                        <a:cs typeface="+mj-cs"/>
                      </a:rPr>
                      <m:t>∈</m:t>
                    </m:r>
                    <m:r>
                      <a:rPr kumimoji="1" lang="en-US" altLang="ja-JP" sz="2400" b="0" i="1" smtClean="0">
                        <a:solidFill>
                          <a:schemeClr val="tx1"/>
                        </a:solidFill>
                        <a:latin typeface="Cambria Math" panose="02040503050406030204" pitchFamily="18" charset="0"/>
                        <a:ea typeface="Cambria Math" panose="02040503050406030204" pitchFamily="18" charset="0"/>
                        <a:cs typeface="+mj-cs"/>
                      </a:rPr>
                      <m:t>ℕ</m:t>
                    </m:r>
                  </m:oMath>
                </a14:m>
                <a:r>
                  <a:rPr kumimoji="1" lang="ja-JP" altLang="en-US" sz="2400" dirty="0">
                    <a:solidFill>
                      <a:schemeClr val="tx1"/>
                    </a:solidFill>
                    <a:latin typeface="メイリオ" panose="020B0604030504040204" pitchFamily="50" charset="-128"/>
                    <a:ea typeface="メイリオ" panose="020B0604030504040204" pitchFamily="50" charset="-128"/>
                    <a:cs typeface="+mj-cs"/>
                  </a:rPr>
                  <a:t> が与えられたとき，</a:t>
                </a:r>
                <a:r>
                  <a:rPr lang="en-US" altLang="zh-CN" sz="2400" dirty="0"/>
                  <a:t> </a:t>
                </a:r>
                <a:endParaRPr kumimoji="1" lang="ja-JP" altLang="en-US" sz="2400" dirty="0">
                  <a:latin typeface="メイリオ" panose="020B0604030504040204" pitchFamily="50" charset="-128"/>
                  <a:ea typeface="メイリオ" panose="020B0604030504040204" pitchFamily="50" charset="-128"/>
                  <a:cs typeface="+mj-cs"/>
                </a:endParaRPr>
              </a:p>
            </p:txBody>
          </p:sp>
        </mc:Choice>
        <mc:Fallback xmlns="">
          <p:sp>
            <p:nvSpPr>
              <p:cNvPr id="24" name="テキスト ボックス 23"/>
              <p:cNvSpPr txBox="1">
                <a:spLocks noRot="1" noChangeAspect="1" noMove="1" noResize="1" noEditPoints="1" noAdjustHandles="1" noChangeArrowheads="1" noChangeShapeType="1" noTextEdit="1"/>
              </p:cNvSpPr>
              <p:nvPr/>
            </p:nvSpPr>
            <p:spPr>
              <a:xfrm>
                <a:off x="1051214" y="1956300"/>
                <a:ext cx="9927910" cy="433965"/>
              </a:xfrm>
              <a:prstGeom prst="rect">
                <a:avLst/>
              </a:prstGeom>
              <a:blipFill>
                <a:blip r:embed="rId3"/>
                <a:stretch>
                  <a:fillRect l="-921" t="-15493" b="-3380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テキスト ボックス 24"/>
              <p:cNvSpPr txBox="1"/>
              <p:nvPr/>
            </p:nvSpPr>
            <p:spPr>
              <a:xfrm>
                <a:off x="1285589" y="1406696"/>
                <a:ext cx="1775883" cy="461665"/>
              </a:xfrm>
              <a:prstGeom prst="rect">
                <a:avLst/>
              </a:prstGeom>
              <a:solidFill>
                <a:schemeClr val="bg1"/>
              </a:solidFill>
            </p:spPr>
            <p:txBody>
              <a:bodyPr wrap="square">
                <a:spAutoFit/>
              </a:bodyPr>
              <a:lstStyle/>
              <a:p>
                <a:r>
                  <a:rPr kumimoji="1" lang="ja-JP" altLang="en-US" sz="2400" dirty="0">
                    <a:ea typeface="メイリオ" panose="020B0604030504040204" pitchFamily="50" charset="-128"/>
                    <a:cs typeface="+mj-cs"/>
                  </a:rPr>
                  <a:t>行列 </a:t>
                </a:r>
                <a14:m>
                  <m:oMath xmlns:m="http://schemas.openxmlformats.org/officeDocument/2006/math">
                    <m:r>
                      <a:rPr kumimoji="1" lang="en-US" altLang="ja-JP" sz="2400" i="1" dirty="0" smtClean="0">
                        <a:latin typeface="Cambria Math" panose="02040503050406030204" pitchFamily="18" charset="0"/>
                        <a:ea typeface="メイリオ" panose="020B0604030504040204" pitchFamily="50" charset="-128"/>
                        <a:cs typeface="+mj-cs"/>
                      </a:rPr>
                      <m:t>𝑝</m:t>
                    </m:r>
                  </m:oMath>
                </a14:m>
                <a:r>
                  <a:rPr kumimoji="1" lang="ja-JP" altLang="en-US" sz="2400" dirty="0">
                    <a:latin typeface="メイリオ" panose="020B0604030504040204" pitchFamily="50" charset="-128"/>
                    <a:ea typeface="メイリオ" panose="020B0604030504040204" pitchFamily="50" charset="-128"/>
                    <a:cs typeface="+mj-cs"/>
                  </a:rPr>
                  <a:t> 乗根</a:t>
                </a:r>
                <a:endParaRPr lang="ja-JP" altLang="en-US" sz="2400" dirty="0"/>
              </a:p>
            </p:txBody>
          </p:sp>
        </mc:Choice>
        <mc:Fallback xmlns="">
          <p:sp>
            <p:nvSpPr>
              <p:cNvPr id="25" name="テキスト ボックス 24"/>
              <p:cNvSpPr txBox="1">
                <a:spLocks noRot="1" noChangeAspect="1" noMove="1" noResize="1" noEditPoints="1" noAdjustHandles="1" noChangeArrowheads="1" noChangeShapeType="1" noTextEdit="1"/>
              </p:cNvSpPr>
              <p:nvPr/>
            </p:nvSpPr>
            <p:spPr>
              <a:xfrm>
                <a:off x="1285589" y="1406696"/>
                <a:ext cx="1775883" cy="461665"/>
              </a:xfrm>
              <a:prstGeom prst="rect">
                <a:avLst/>
              </a:prstGeom>
              <a:blipFill>
                <a:blip r:embed="rId4"/>
                <a:stretch>
                  <a:fillRect l="-5498" t="-8000" r="-3436" b="-33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p:cNvSpPr txBox="1"/>
              <p:nvPr/>
            </p:nvSpPr>
            <p:spPr>
              <a:xfrm>
                <a:off x="3477528" y="2468561"/>
                <a:ext cx="5075282" cy="49244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CN" sz="3200" i="1" smtClean="0">
                              <a:latin typeface="Cambria Math" panose="02040503050406030204" pitchFamily="18" charset="0"/>
                            </a:rPr>
                          </m:ctrlPr>
                        </m:sSupPr>
                        <m:e>
                          <m:r>
                            <a:rPr lang="en-US" altLang="zh-CN" sz="3200" i="1">
                              <a:latin typeface="Cambria Math" panose="02040503050406030204" pitchFamily="18" charset="0"/>
                            </a:rPr>
                            <m:t>𝑋</m:t>
                          </m:r>
                        </m:e>
                        <m:sup>
                          <m:r>
                            <a:rPr lang="en-US" altLang="zh-CN" sz="3200" i="1">
                              <a:latin typeface="Cambria Math" panose="02040503050406030204" pitchFamily="18" charset="0"/>
                            </a:rPr>
                            <m:t>𝑝</m:t>
                          </m:r>
                        </m:sup>
                      </m:sSup>
                      <m:r>
                        <a:rPr lang="en-US" altLang="zh-CN" sz="3200" i="1">
                          <a:latin typeface="Cambria Math" panose="02040503050406030204" pitchFamily="18" charset="0"/>
                        </a:rPr>
                        <m:t>=</m:t>
                      </m:r>
                      <m:r>
                        <a:rPr lang="en-US" altLang="zh-CN" sz="3200" i="1">
                          <a:latin typeface="Cambria Math" panose="02040503050406030204" pitchFamily="18" charset="0"/>
                        </a:rPr>
                        <m:t>𝐴</m:t>
                      </m:r>
                    </m:oMath>
                  </m:oMathPara>
                </a14:m>
                <a:endParaRPr lang="en-US" altLang="zh-CN" sz="3200" i="1" dirty="0">
                  <a:latin typeface="Cambria Math" panose="02040503050406030204" pitchFamily="18" charset="0"/>
                </a:endParaRPr>
              </a:p>
            </p:txBody>
          </p:sp>
        </mc:Choice>
        <mc:Fallback xmlns="">
          <p:sp>
            <p:nvSpPr>
              <p:cNvPr id="3" name="文本框 2"/>
              <p:cNvSpPr txBox="1">
                <a:spLocks noRot="1" noChangeAspect="1" noMove="1" noResize="1" noEditPoints="1" noAdjustHandles="1" noChangeArrowheads="1" noChangeShapeType="1" noTextEdit="1"/>
              </p:cNvSpPr>
              <p:nvPr/>
            </p:nvSpPr>
            <p:spPr>
              <a:xfrm>
                <a:off x="3477528" y="2468561"/>
                <a:ext cx="5075282" cy="492443"/>
              </a:xfrm>
              <a:prstGeom prst="rect">
                <a:avLst/>
              </a:prstGeom>
              <a:blipFill>
                <a:blip r:embed="rId5"/>
                <a:stretch>
                  <a:fillRect/>
                </a:stretch>
              </a:blipFill>
            </p:spPr>
            <p:txBody>
              <a:bodyPr/>
              <a:lstStyle/>
              <a:p>
                <a:r>
                  <a:rPr lang="zh-CN" altLang="en-US">
                    <a:noFill/>
                  </a:rPr>
                  <a:t> </a:t>
                </a:r>
              </a:p>
            </p:txBody>
          </p:sp>
        </mc:Fallback>
      </mc:AlternateContent>
      <p:sp>
        <p:nvSpPr>
          <p:cNvPr id="26" name="テキスト ボックス 25">
            <a:extLst>
              <a:ext uri="{FF2B5EF4-FFF2-40B4-BE49-F238E27FC236}">
                <a16:creationId xmlns:a16="http://schemas.microsoft.com/office/drawing/2014/main" id="{A7BF755F-3F2A-48CF-8CFB-86916E620075}"/>
              </a:ext>
            </a:extLst>
          </p:cNvPr>
          <p:cNvSpPr txBox="1"/>
          <p:nvPr/>
        </p:nvSpPr>
        <p:spPr>
          <a:xfrm>
            <a:off x="908729" y="4732642"/>
            <a:ext cx="8290842" cy="1024896"/>
          </a:xfrm>
          <a:prstGeom prst="rect">
            <a:avLst/>
          </a:prstGeom>
          <a:solidFill>
            <a:schemeClr val="bg1"/>
          </a:solidFill>
        </p:spPr>
        <p:txBody>
          <a:bodyPr wrap="square">
            <a:spAutoFit/>
          </a:bodyPr>
          <a:lstStyle/>
          <a:p>
            <a:pPr>
              <a:lnSpc>
                <a:spcPct val="130000"/>
              </a:lnSpc>
              <a:spcBef>
                <a:spcPct val="0"/>
              </a:spcBef>
            </a:pPr>
            <a:r>
              <a:rPr kumimoji="1" lang="ja-JP" altLang="en-US" sz="2400" dirty="0">
                <a:latin typeface="メイリオ" panose="020B0604030504040204" pitchFamily="50" charset="-128"/>
                <a:ea typeface="メイリオ" panose="020B0604030504040204" pitchFamily="50" charset="-128"/>
                <a:cs typeface="+mj-cs"/>
              </a:rPr>
              <a:t>・</a:t>
            </a:r>
            <a:r>
              <a:rPr kumimoji="1" lang="ja-JP" altLang="en-US" sz="2400" dirty="0"/>
              <a:t>格子量子色力学分野の数値計算 </a:t>
            </a:r>
            <a:r>
              <a:rPr kumimoji="1" lang="en-US" altLang="ja-JP" sz="2400" dirty="0">
                <a:latin typeface="メイリオ" panose="020B0604030504040204" pitchFamily="50" charset="-128"/>
                <a:ea typeface="メイリオ" panose="020B0604030504040204" pitchFamily="50" charset="-128"/>
                <a:cs typeface="+mj-cs"/>
              </a:rPr>
              <a:t>[Clark et al.,</a:t>
            </a:r>
            <a:r>
              <a:rPr kumimoji="1" lang="ja-JP" altLang="en-US" sz="2400" dirty="0">
                <a:latin typeface="メイリオ" panose="020B0604030504040204" pitchFamily="50" charset="-128"/>
                <a:ea typeface="メイリオ" panose="020B0604030504040204" pitchFamily="50" charset="-128"/>
                <a:cs typeface="+mj-cs"/>
              </a:rPr>
              <a:t> </a:t>
            </a:r>
            <a:r>
              <a:rPr kumimoji="1" lang="en-US" altLang="ja-JP" sz="2400" dirty="0">
                <a:latin typeface="メイリオ" panose="020B0604030504040204" pitchFamily="50" charset="-128"/>
                <a:ea typeface="メイリオ" panose="020B0604030504040204" pitchFamily="50" charset="-128"/>
                <a:cs typeface="+mj-cs"/>
              </a:rPr>
              <a:t>2007]</a:t>
            </a:r>
          </a:p>
          <a:p>
            <a:pPr>
              <a:lnSpc>
                <a:spcPct val="130000"/>
              </a:lnSpc>
              <a:spcBef>
                <a:spcPct val="0"/>
              </a:spcBef>
            </a:pPr>
            <a:r>
              <a:rPr kumimoji="1" lang="ja-JP" altLang="en-US" sz="2400" dirty="0">
                <a:latin typeface="メイリオ" panose="020B0604030504040204" pitchFamily="50" charset="-128"/>
                <a:ea typeface="メイリオ" panose="020B0604030504040204" pitchFamily="50" charset="-128"/>
                <a:cs typeface="+mj-cs"/>
              </a:rPr>
              <a:t>・偏微分方程式の数値計算</a:t>
            </a:r>
            <a:r>
              <a:rPr kumimoji="1" lang="en-US" altLang="ja-JP" sz="2400" dirty="0">
                <a:latin typeface="メイリオ" panose="020B0604030504040204" pitchFamily="50" charset="-128"/>
                <a:ea typeface="メイリオ" panose="020B0604030504040204" pitchFamily="50" charset="-128"/>
                <a:cs typeface="+mj-cs"/>
              </a:rPr>
              <a:t>[</a:t>
            </a:r>
            <a:r>
              <a:rPr kumimoji="1" lang="en-US" altLang="ja-JP" sz="2400" dirty="0" err="1">
                <a:latin typeface="メイリオ" panose="020B0604030504040204" pitchFamily="50" charset="-128"/>
                <a:ea typeface="メイリオ" panose="020B0604030504040204" pitchFamily="50" charset="-128"/>
                <a:cs typeface="+mj-cs"/>
              </a:rPr>
              <a:t>Burrage</a:t>
            </a:r>
            <a:r>
              <a:rPr kumimoji="1" lang="en-US" altLang="ja-JP" sz="2400" dirty="0">
                <a:latin typeface="メイリオ" panose="020B0604030504040204" pitchFamily="50" charset="-128"/>
                <a:ea typeface="メイリオ" panose="020B0604030504040204" pitchFamily="50" charset="-128"/>
                <a:cs typeface="+mj-cs"/>
              </a:rPr>
              <a:t> et al.,</a:t>
            </a:r>
            <a:r>
              <a:rPr kumimoji="1" lang="ja-JP" altLang="en-US" sz="2400" dirty="0">
                <a:latin typeface="メイリオ" panose="020B0604030504040204" pitchFamily="50" charset="-128"/>
                <a:ea typeface="メイリオ" panose="020B0604030504040204" pitchFamily="50" charset="-128"/>
                <a:cs typeface="+mj-cs"/>
              </a:rPr>
              <a:t> </a:t>
            </a:r>
            <a:r>
              <a:rPr kumimoji="1" lang="en-US" altLang="ja-JP" sz="2400" dirty="0">
                <a:latin typeface="メイリオ" panose="020B0604030504040204" pitchFamily="50" charset="-128"/>
                <a:ea typeface="メイリオ" panose="020B0604030504040204" pitchFamily="50" charset="-128"/>
                <a:cs typeface="+mj-cs"/>
              </a:rPr>
              <a:t>2013]</a:t>
            </a:r>
          </a:p>
        </p:txBody>
      </p:sp>
      <mc:AlternateContent xmlns:mc="http://schemas.openxmlformats.org/markup-compatibility/2006" xmlns:a14="http://schemas.microsoft.com/office/drawing/2010/main">
        <mc:Choice Requires="a14">
          <p:sp>
            <p:nvSpPr>
              <p:cNvPr id="31" name="テキスト ボックス 30">
                <a:extLst>
                  <a:ext uri="{FF2B5EF4-FFF2-40B4-BE49-F238E27FC236}">
                    <a16:creationId xmlns:a16="http://schemas.microsoft.com/office/drawing/2014/main" id="{6B7CE5DB-F3FB-4767-BA0D-FF927E2E9F78}"/>
                  </a:ext>
                </a:extLst>
              </p:cNvPr>
              <p:cNvSpPr txBox="1"/>
              <p:nvPr/>
            </p:nvSpPr>
            <p:spPr>
              <a:xfrm>
                <a:off x="1051213" y="3048014"/>
                <a:ext cx="6626775" cy="461665"/>
              </a:xfrm>
              <a:prstGeom prst="rect">
                <a:avLst/>
              </a:prstGeom>
              <a:noFill/>
            </p:spPr>
            <p:txBody>
              <a:bodyPr wrap="square">
                <a:spAutoFit/>
              </a:bodyPr>
              <a:lstStyle/>
              <a:p>
                <a:r>
                  <a:rPr kumimoji="1" lang="ja-JP" altLang="en-US" sz="2400" dirty="0">
                    <a:latin typeface="メイリオ" panose="020B0604030504040204" pitchFamily="50" charset="-128"/>
                    <a:ea typeface="メイリオ" panose="020B0604030504040204" pitchFamily="50" charset="-128"/>
                    <a:cs typeface="+mj-cs"/>
                  </a:rPr>
                  <a:t>を満たす </a:t>
                </a:r>
                <a14:m>
                  <m:oMath xmlns:m="http://schemas.openxmlformats.org/officeDocument/2006/math">
                    <m:r>
                      <a:rPr lang="en-US" altLang="zh-CN" sz="2400" i="1">
                        <a:solidFill>
                          <a:schemeClr val="tx1"/>
                        </a:solidFill>
                        <a:latin typeface="Cambria Math" panose="02040503050406030204" pitchFamily="18" charset="0"/>
                      </a:rPr>
                      <m:t>𝑋</m:t>
                    </m:r>
                  </m:oMath>
                </a14:m>
                <a:r>
                  <a:rPr kumimoji="1" lang="ja-JP" altLang="en-US" sz="2400" dirty="0">
                    <a:solidFill>
                      <a:schemeClr val="tx1"/>
                    </a:solidFill>
                    <a:latin typeface="メイリオ" panose="020B0604030504040204" pitchFamily="50" charset="-128"/>
                    <a:ea typeface="メイリオ" panose="020B0604030504040204" pitchFamily="50" charset="-128"/>
                    <a:cs typeface="+mj-cs"/>
                  </a:rPr>
                  <a:t> を行列</a:t>
                </a:r>
                <a:r>
                  <a:rPr kumimoji="1" lang="zh-CN" altLang="en-US" sz="2400" dirty="0">
                    <a:solidFill>
                      <a:schemeClr val="tx1"/>
                    </a:solidFill>
                    <a:latin typeface="メイリオ" panose="020B0604030504040204" pitchFamily="50" charset="-128"/>
                    <a:ea typeface="メイリオ" panose="020B0604030504040204" pitchFamily="50" charset="-128"/>
                    <a:cs typeface="+mj-cs"/>
                  </a:rPr>
                  <a:t> </a:t>
                </a:r>
                <a14:m>
                  <m:oMath xmlns:m="http://schemas.openxmlformats.org/officeDocument/2006/math">
                    <m:r>
                      <a:rPr kumimoji="1" lang="en-US" altLang="ja-JP" sz="2400" i="1" dirty="0">
                        <a:latin typeface="Cambria Math" panose="02040503050406030204" pitchFamily="18" charset="0"/>
                        <a:ea typeface="メイリオ" panose="020B0604030504040204" pitchFamily="50" charset="-128"/>
                      </a:rPr>
                      <m:t>𝑝</m:t>
                    </m:r>
                  </m:oMath>
                </a14:m>
                <a:r>
                  <a:rPr kumimoji="1" lang="ja-JP" altLang="en-US" sz="2400" dirty="0">
                    <a:solidFill>
                      <a:schemeClr val="tx1"/>
                    </a:solidFill>
                    <a:latin typeface="メイリオ" panose="020B0604030504040204" pitchFamily="50" charset="-128"/>
                    <a:ea typeface="メイリオ" panose="020B0604030504040204" pitchFamily="50" charset="-128"/>
                    <a:cs typeface="+mj-cs"/>
                  </a:rPr>
                  <a:t> 乗根と言う</a:t>
                </a:r>
                <a:r>
                  <a:rPr kumimoji="1" lang="ja-JP" altLang="en-US" sz="2400" dirty="0">
                    <a:latin typeface="メイリオ" panose="020B0604030504040204" pitchFamily="50" charset="-128"/>
                    <a:ea typeface="メイリオ" panose="020B0604030504040204" pitchFamily="50" charset="-128"/>
                    <a:cs typeface="+mj-cs"/>
                  </a:rPr>
                  <a:t>．</a:t>
                </a:r>
                <a:endParaRPr lang="en-US" sz="2400" dirty="0"/>
              </a:p>
            </p:txBody>
          </p:sp>
        </mc:Choice>
        <mc:Fallback xmlns="">
          <p:sp>
            <p:nvSpPr>
              <p:cNvPr id="31" name="テキスト ボックス 30">
                <a:extLst>
                  <a:ext uri="{FF2B5EF4-FFF2-40B4-BE49-F238E27FC236}">
                    <a16:creationId xmlns:a16="http://schemas.microsoft.com/office/drawing/2014/main" id="{6B7CE5DB-F3FB-4767-BA0D-FF927E2E9F78}"/>
                  </a:ext>
                </a:extLst>
              </p:cNvPr>
              <p:cNvSpPr txBox="1">
                <a:spLocks noRot="1" noChangeAspect="1" noMove="1" noResize="1" noEditPoints="1" noAdjustHandles="1" noChangeArrowheads="1" noChangeShapeType="1" noTextEdit="1"/>
              </p:cNvSpPr>
              <p:nvPr/>
            </p:nvSpPr>
            <p:spPr>
              <a:xfrm>
                <a:off x="1051213" y="3048014"/>
                <a:ext cx="6626775" cy="461665"/>
              </a:xfrm>
              <a:prstGeom prst="rect">
                <a:avLst/>
              </a:prstGeom>
              <a:blipFill>
                <a:blip r:embed="rId6"/>
                <a:stretch>
                  <a:fillRect l="-1379" t="-7895" b="-31579"/>
                </a:stretch>
              </a:blipFill>
            </p:spPr>
            <p:txBody>
              <a:bodyPr/>
              <a:lstStyle/>
              <a:p>
                <a:r>
                  <a:rPr lang="zh-CN" altLang="en-US">
                    <a:noFill/>
                  </a:rPr>
                  <a:t> </a:t>
                </a:r>
              </a:p>
            </p:txBody>
          </p:sp>
        </mc:Fallback>
      </mc:AlternateContent>
      <p:sp>
        <p:nvSpPr>
          <p:cNvPr id="11" name="テキスト ボックス 10">
            <a:extLst>
              <a:ext uri="{FF2B5EF4-FFF2-40B4-BE49-F238E27FC236}">
                <a16:creationId xmlns:a16="http://schemas.microsoft.com/office/drawing/2014/main" id="{16036BFB-964D-46A4-8C64-74D289228828}"/>
              </a:ext>
            </a:extLst>
          </p:cNvPr>
          <p:cNvSpPr txBox="1"/>
          <p:nvPr/>
        </p:nvSpPr>
        <p:spPr>
          <a:xfrm>
            <a:off x="1051213" y="4187877"/>
            <a:ext cx="6094476" cy="544765"/>
          </a:xfrm>
          <a:prstGeom prst="rect">
            <a:avLst/>
          </a:prstGeom>
          <a:noFill/>
        </p:spPr>
        <p:txBody>
          <a:bodyPr wrap="square">
            <a:spAutoFit/>
          </a:bodyPr>
          <a:lstStyle/>
          <a:p>
            <a:pPr>
              <a:lnSpc>
                <a:spcPct val="130000"/>
              </a:lnSpc>
              <a:spcBef>
                <a:spcPct val="0"/>
              </a:spcBef>
            </a:pPr>
            <a:r>
              <a:rPr kumimoji="1" lang="ja-JP" altLang="en-US" sz="2400" dirty="0">
                <a:latin typeface="メイリオ" panose="020B0604030504040204" pitchFamily="50" charset="-128"/>
                <a:ea typeface="メイリオ" panose="020B0604030504040204" pitchFamily="50" charset="-128"/>
                <a:cs typeface="+mj-cs"/>
              </a:rPr>
              <a:t>応用例</a:t>
            </a:r>
            <a:endParaRPr kumimoji="1" lang="en-US" altLang="ja-JP" sz="2400" dirty="0">
              <a:latin typeface="メイリオ" panose="020B0604030504040204" pitchFamily="50" charset="-128"/>
              <a:ea typeface="メイリオ" panose="020B0604030504040204" pitchFamily="50" charset="-128"/>
              <a:cs typeface="+mj-cs"/>
            </a:endParaRPr>
          </a:p>
        </p:txBody>
      </p:sp>
    </p:spTree>
    <p:extLst>
      <p:ext uri="{BB962C8B-B14F-4D97-AF65-F5344CB8AC3E}">
        <p14:creationId xmlns:p14="http://schemas.microsoft.com/office/powerpoint/2010/main" val="1655903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1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标题 1">
                <a:extLst>
                  <a:ext uri="{FF2B5EF4-FFF2-40B4-BE49-F238E27FC236}">
                    <a16:creationId xmlns:a16="http://schemas.microsoft.com/office/drawing/2014/main" id="{6F17B942-E3C3-42CE-A526-5FA355017A4D}"/>
                  </a:ext>
                </a:extLst>
              </p:cNvPr>
              <p:cNvSpPr>
                <a:spLocks noGrp="1"/>
              </p:cNvSpPr>
              <p:nvPr>
                <p:ph type="title"/>
              </p:nvPr>
            </p:nvSpPr>
            <p:spPr>
              <a:xfrm>
                <a:off x="263371" y="175636"/>
                <a:ext cx="7592079" cy="717316"/>
              </a:xfrm>
            </p:spPr>
            <p:txBody>
              <a:bodyPr>
                <a:normAutofit/>
              </a:bodyPr>
              <a:lstStyle/>
              <a:p>
                <a:r>
                  <a:rPr lang="en-US" altLang="ja-JP" sz="3200" dirty="0">
                    <a:ea typeface="メイリオ" panose="020B0604030504040204" pitchFamily="50" charset="-128"/>
                  </a:rPr>
                  <a:t> </a:t>
                </a:r>
                <a:r>
                  <a:rPr lang="ja-JP" altLang="en-US" sz="3200" dirty="0">
                    <a:ea typeface="メイリオ" panose="020B0604030504040204" pitchFamily="50" charset="-128"/>
                  </a:rPr>
                  <a:t>行列 </a:t>
                </a:r>
                <a14:m>
                  <m:oMath xmlns:m="http://schemas.openxmlformats.org/officeDocument/2006/math">
                    <m:r>
                      <a:rPr lang="en-US" altLang="ja-JP" sz="3200" i="1" dirty="0" smtClean="0">
                        <a:latin typeface="Cambria Math" panose="02040503050406030204" pitchFamily="18" charset="0"/>
                        <a:ea typeface="メイリオ" panose="020B0604030504040204" pitchFamily="50" charset="-128"/>
                      </a:rPr>
                      <m:t>𝑝</m:t>
                    </m:r>
                  </m:oMath>
                </a14:m>
                <a:r>
                  <a:rPr lang="ja-JP" altLang="en-US" sz="3200" dirty="0">
                    <a:latin typeface="メイリオ" panose="020B0604030504040204" pitchFamily="50" charset="-128"/>
                    <a:ea typeface="メイリオ" panose="020B0604030504040204" pitchFamily="50" charset="-128"/>
                  </a:rPr>
                  <a:t> 乗根を求めるための</a:t>
                </a:r>
                <a:r>
                  <a:rPr lang="en-US" altLang="ja-JP" sz="3200" dirty="0">
                    <a:latin typeface="メイリオ" panose="020B0604030504040204" pitchFamily="50" charset="-128"/>
                    <a:ea typeface="メイリオ" panose="020B0604030504040204" pitchFamily="50" charset="-128"/>
                  </a:rPr>
                  <a:t>N</a:t>
                </a:r>
                <a:r>
                  <a:rPr lang="en-US" altLang="zh-CN" sz="3200" dirty="0">
                    <a:latin typeface="メイリオ" panose="020B0604030504040204" pitchFamily="50" charset="-128"/>
                    <a:ea typeface="メイリオ" panose="020B0604030504040204" pitchFamily="50" charset="-128"/>
                  </a:rPr>
                  <a:t>ewton</a:t>
                </a:r>
                <a:r>
                  <a:rPr lang="ja-JP" altLang="en-US" sz="3200" dirty="0">
                    <a:latin typeface="メイリオ" panose="020B0604030504040204" pitchFamily="50" charset="-128"/>
                    <a:ea typeface="メイリオ" panose="020B0604030504040204" pitchFamily="50" charset="-128"/>
                  </a:rPr>
                  <a:t>法</a:t>
                </a:r>
                <a:endParaRPr lang="zh-CN" altLang="en-US" sz="3200" dirty="0"/>
              </a:p>
            </p:txBody>
          </p:sp>
        </mc:Choice>
        <mc:Fallback xmlns="">
          <p:sp>
            <p:nvSpPr>
              <p:cNvPr id="2" name="标题 1">
                <a:extLst>
                  <a:ext uri="{FF2B5EF4-FFF2-40B4-BE49-F238E27FC236}">
                    <a16:creationId xmlns:a16="http://schemas.microsoft.com/office/drawing/2014/main" id="{6F17B942-E3C3-42CE-A526-5FA355017A4D}"/>
                  </a:ext>
                </a:extLst>
              </p:cNvPr>
              <p:cNvSpPr>
                <a:spLocks noGrp="1" noRot="1" noChangeAspect="1" noMove="1" noResize="1" noEditPoints="1" noAdjustHandles="1" noChangeArrowheads="1" noChangeShapeType="1" noTextEdit="1"/>
              </p:cNvSpPr>
              <p:nvPr>
                <p:ph type="title"/>
              </p:nvPr>
            </p:nvSpPr>
            <p:spPr>
              <a:xfrm>
                <a:off x="263371" y="175636"/>
                <a:ext cx="7592079" cy="717316"/>
              </a:xfrm>
              <a:blipFill>
                <a:blip r:embed="rId6"/>
                <a:stretch>
                  <a:fillRect l="-803" t="-3419" b="-17094"/>
                </a:stretch>
              </a:blipFill>
            </p:spPr>
            <p:txBody>
              <a:bodyPr/>
              <a:lstStyle/>
              <a:p>
                <a:r>
                  <a:rPr lang="en-US">
                    <a:noFill/>
                  </a:rPr>
                  <a:t> </a:t>
                </a:r>
              </a:p>
            </p:txBody>
          </p:sp>
        </mc:Fallback>
      </mc:AlternateContent>
      <p:pic>
        <p:nvPicPr>
          <p:cNvPr id="8" name="図 2">
            <a:extLst>
              <a:ext uri="{FF2B5EF4-FFF2-40B4-BE49-F238E27FC236}">
                <a16:creationId xmlns:a16="http://schemas.microsoft.com/office/drawing/2014/main" id="{CCACBB82-413D-4720-903E-58E1D5C528AA}"/>
              </a:ext>
            </a:extLst>
          </p:cNvPr>
          <p:cNvPicPr>
            <a:picLocks noChangeAspect="1"/>
          </p:cNvPicPr>
          <p:nvPr>
            <p:custDataLst>
              <p:tags r:id="rId1"/>
            </p:custDataLst>
          </p:nvPr>
        </p:nvPicPr>
        <p:blipFill>
          <a:blip r:embed="rId7" cstate="print">
            <a:extLst>
              <a:ext uri="{28A0092B-C50C-407E-A947-70E740481C1C}">
                <a14:useLocalDpi xmlns:a14="http://schemas.microsoft.com/office/drawing/2010/main" val="0"/>
              </a:ext>
            </a:extLst>
          </a:blip>
          <a:stretch>
            <a:fillRect/>
          </a:stretch>
        </p:blipFill>
        <p:spPr>
          <a:xfrm>
            <a:off x="1544299" y="1852888"/>
            <a:ext cx="2417401" cy="735128"/>
          </a:xfrm>
          <a:prstGeom prst="rect">
            <a:avLst/>
          </a:prstGeom>
        </p:spPr>
      </p:pic>
      <p:pic>
        <p:nvPicPr>
          <p:cNvPr id="9" name="図 40">
            <a:extLst>
              <a:ext uri="{FF2B5EF4-FFF2-40B4-BE49-F238E27FC236}">
                <a16:creationId xmlns:a16="http://schemas.microsoft.com/office/drawing/2014/main" id="{CFDFEDF6-EC46-434F-B199-B27AEA06D596}"/>
              </a:ext>
            </a:extLst>
          </p:cNvPr>
          <p:cNvPicPr>
            <a:picLocks noChangeAspect="1"/>
          </p:cNvPicPr>
          <p:nvPr>
            <p:custDataLst>
              <p:tags r:id="rId2"/>
            </p:custDataLst>
          </p:nvPr>
        </p:nvPicPr>
        <p:blipFill>
          <a:blip r:embed="rId8" cstate="print">
            <a:extLst>
              <a:ext uri="{28A0092B-C50C-407E-A947-70E740481C1C}">
                <a14:useLocalDpi xmlns:a14="http://schemas.microsoft.com/office/drawing/2010/main" val="0"/>
              </a:ext>
            </a:extLst>
          </a:blip>
          <a:stretch>
            <a:fillRect/>
          </a:stretch>
        </p:blipFill>
        <p:spPr>
          <a:xfrm>
            <a:off x="1053944" y="3485926"/>
            <a:ext cx="3459660" cy="487443"/>
          </a:xfrm>
          <a:prstGeom prst="rect">
            <a:avLst/>
          </a:prstGeom>
        </p:spPr>
      </p:pic>
      <p:pic>
        <p:nvPicPr>
          <p:cNvPr id="11" name="図 42">
            <a:extLst>
              <a:ext uri="{FF2B5EF4-FFF2-40B4-BE49-F238E27FC236}">
                <a16:creationId xmlns:a16="http://schemas.microsoft.com/office/drawing/2014/main" id="{42338980-78C8-4D88-8025-D6C3E802D44E}"/>
              </a:ext>
            </a:extLst>
          </p:cNvPr>
          <p:cNvPicPr>
            <a:picLocks noChangeAspect="1"/>
          </p:cNvPicPr>
          <p:nvPr>
            <p:custDataLst>
              <p:tags r:id="rId3"/>
            </p:custDataLst>
          </p:nvPr>
        </p:nvPicPr>
        <p:blipFill>
          <a:blip r:embed="rId9" cstate="print">
            <a:extLst>
              <a:ext uri="{28A0092B-C50C-407E-A947-70E740481C1C}">
                <a14:useLocalDpi xmlns:a14="http://schemas.microsoft.com/office/drawing/2010/main" val="0"/>
              </a:ext>
            </a:extLst>
          </a:blip>
          <a:stretch>
            <a:fillRect/>
          </a:stretch>
        </p:blipFill>
        <p:spPr>
          <a:xfrm>
            <a:off x="1021593" y="5591229"/>
            <a:ext cx="3670712" cy="459305"/>
          </a:xfrm>
          <a:prstGeom prst="rect">
            <a:avLst/>
          </a:prstGeom>
        </p:spPr>
      </p:pic>
      <p:grpSp>
        <p:nvGrpSpPr>
          <p:cNvPr id="7" name="グループ化 6">
            <a:extLst>
              <a:ext uri="{FF2B5EF4-FFF2-40B4-BE49-F238E27FC236}">
                <a16:creationId xmlns:a16="http://schemas.microsoft.com/office/drawing/2014/main" id="{B795AC55-CCBD-4572-995F-10B453D1049B}"/>
              </a:ext>
            </a:extLst>
          </p:cNvPr>
          <p:cNvGrpSpPr/>
          <p:nvPr/>
        </p:nvGrpSpPr>
        <p:grpSpPr>
          <a:xfrm>
            <a:off x="232452" y="1047910"/>
            <a:ext cx="5267053" cy="5421508"/>
            <a:chOff x="302805" y="1047910"/>
            <a:chExt cx="5071480" cy="5421508"/>
          </a:xfrm>
        </p:grpSpPr>
        <p:sp>
          <p:nvSpPr>
            <p:cNvPr id="12" name="矩形 11">
              <a:extLst>
                <a:ext uri="{FF2B5EF4-FFF2-40B4-BE49-F238E27FC236}">
                  <a16:creationId xmlns:a16="http://schemas.microsoft.com/office/drawing/2014/main" id="{7D219284-BAAC-45A7-9108-F9E7A496BE30}"/>
                </a:ext>
              </a:extLst>
            </p:cNvPr>
            <p:cNvSpPr/>
            <p:nvPr/>
          </p:nvSpPr>
          <p:spPr>
            <a:xfrm>
              <a:off x="302805" y="1244405"/>
              <a:ext cx="5071480" cy="5225013"/>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C45B64F7-84D0-4525-9A98-E8CD8AFF63DB}"/>
                    </a:ext>
                  </a:extLst>
                </p:cNvPr>
                <p:cNvSpPr txBox="1"/>
                <p:nvPr/>
              </p:nvSpPr>
              <p:spPr>
                <a:xfrm>
                  <a:off x="347992" y="1047910"/>
                  <a:ext cx="4981103" cy="461665"/>
                </a:xfrm>
                <a:prstGeom prst="rect">
                  <a:avLst/>
                </a:prstGeom>
                <a:solidFill>
                  <a:schemeClr val="bg1"/>
                </a:solidFill>
              </p:spPr>
              <p:txBody>
                <a:bodyPr wrap="square" rtlCol="0">
                  <a:spAutoFit/>
                </a:bodyPr>
                <a:lstStyle/>
                <a:p>
                  <a:r>
                    <a:rPr lang="en-US" altLang="ja-JP" sz="2400" dirty="0"/>
                    <a:t>N</a:t>
                  </a:r>
                  <a:r>
                    <a:rPr lang="en-US" altLang="zh-CN" sz="2400" dirty="0"/>
                    <a:t>ewton</a:t>
                  </a:r>
                  <a:r>
                    <a:rPr lang="ja-JP" altLang="en-US" sz="2400" dirty="0"/>
                    <a:t>法</a:t>
                  </a:r>
                  <a:r>
                    <a:rPr lang="en-US" altLang="ja-JP" sz="2400" dirty="0"/>
                    <a:t>:</a:t>
                  </a:r>
                  <a14:m>
                    <m:oMath xmlns:m="http://schemas.openxmlformats.org/officeDocument/2006/math">
                      <m:r>
                        <a:rPr lang="en-US" altLang="ja-JP" sz="2400" b="0" i="1" smtClean="0">
                          <a:latin typeface="Cambria Math" panose="02040503050406030204" pitchFamily="18" charset="0"/>
                        </a:rPr>
                        <m:t>𝑓</m:t>
                      </m:r>
                      <m:d>
                        <m:dPr>
                          <m:ctrlPr>
                            <a:rPr lang="en-US" altLang="ja-JP" sz="2400" b="0" i="1" smtClean="0">
                              <a:latin typeface="Cambria Math" panose="02040503050406030204" pitchFamily="18" charset="0"/>
                            </a:rPr>
                          </m:ctrlPr>
                        </m:dPr>
                        <m:e>
                          <m:r>
                            <a:rPr lang="en-US" altLang="ja-JP" sz="2400" b="0" i="1" smtClean="0">
                              <a:latin typeface="Cambria Math" panose="02040503050406030204" pitchFamily="18" charset="0"/>
                            </a:rPr>
                            <m:t>𝑥</m:t>
                          </m:r>
                        </m:e>
                      </m:d>
                      <m:r>
                        <a:rPr lang="en-US" altLang="ja-JP" sz="2400" b="0" i="1" smtClean="0">
                          <a:latin typeface="Cambria Math" panose="02040503050406030204" pitchFamily="18" charset="0"/>
                        </a:rPr>
                        <m:t>=</m:t>
                      </m:r>
                      <m:r>
                        <a:rPr lang="en-US" altLang="ja-JP" sz="2400" b="0" i="0" smtClean="0">
                          <a:latin typeface="Cambria Math" panose="02040503050406030204" pitchFamily="18" charset="0"/>
                        </a:rPr>
                        <m:t>0</m:t>
                      </m:r>
                    </m:oMath>
                  </a14:m>
                  <a:r>
                    <a:rPr lang="ja-JP" altLang="en-US" sz="2400" dirty="0"/>
                    <a:t>の近似解を求める</a:t>
                  </a:r>
                  <a:endParaRPr lang="en-US" altLang="zh-CN" sz="2400" dirty="0"/>
                </a:p>
              </p:txBody>
            </p:sp>
          </mc:Choice>
          <mc:Fallback xmlns="">
            <p:sp>
              <p:nvSpPr>
                <p:cNvPr id="3" name="文本框 2">
                  <a:extLst>
                    <a:ext uri="{FF2B5EF4-FFF2-40B4-BE49-F238E27FC236}">
                      <a16:creationId xmlns:a16="http://schemas.microsoft.com/office/drawing/2014/main" id="{C45B64F7-84D0-4525-9A98-E8CD8AFF63DB}"/>
                    </a:ext>
                  </a:extLst>
                </p:cNvPr>
                <p:cNvSpPr txBox="1">
                  <a:spLocks noRot="1" noChangeAspect="1" noMove="1" noResize="1" noEditPoints="1" noAdjustHandles="1" noChangeArrowheads="1" noChangeShapeType="1" noTextEdit="1"/>
                </p:cNvSpPr>
                <p:nvPr/>
              </p:nvSpPr>
              <p:spPr>
                <a:xfrm>
                  <a:off x="347992" y="1047910"/>
                  <a:ext cx="4981103" cy="461665"/>
                </a:xfrm>
                <a:prstGeom prst="rect">
                  <a:avLst/>
                </a:prstGeom>
                <a:blipFill>
                  <a:blip r:embed="rId10"/>
                  <a:stretch>
                    <a:fillRect l="-1887" t="-14474" r="-1533" b="-31579"/>
                  </a:stretch>
                </a:blipFill>
              </p:spPr>
              <p:txBody>
                <a:bodyPr/>
                <a:lstStyle/>
                <a:p>
                  <a:r>
                    <a:rPr lang="en-US">
                      <a:noFill/>
                    </a:rPr>
                    <a:t> </a:t>
                  </a:r>
                </a:p>
              </p:txBody>
            </p:sp>
          </mc:Fallback>
        </mc:AlternateContent>
      </p:grpSp>
      <p:sp>
        <p:nvSpPr>
          <p:cNvPr id="22" name="矩形 21">
            <a:extLst>
              <a:ext uri="{FF2B5EF4-FFF2-40B4-BE49-F238E27FC236}">
                <a16:creationId xmlns:a16="http://schemas.microsoft.com/office/drawing/2014/main" id="{E10E8E6F-F301-4816-BE85-E36458355A03}"/>
              </a:ext>
            </a:extLst>
          </p:cNvPr>
          <p:cNvSpPr/>
          <p:nvPr/>
        </p:nvSpPr>
        <p:spPr>
          <a:xfrm>
            <a:off x="805864" y="1697930"/>
            <a:ext cx="4102171" cy="2422291"/>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a:extLst>
              <a:ext uri="{FF2B5EF4-FFF2-40B4-BE49-F238E27FC236}">
                <a16:creationId xmlns:a16="http://schemas.microsoft.com/office/drawing/2014/main" id="{C5F0CA01-BA0D-42A3-80A1-A6525D98979E}"/>
              </a:ext>
            </a:extLst>
          </p:cNvPr>
          <p:cNvSpPr txBox="1"/>
          <p:nvPr/>
        </p:nvSpPr>
        <p:spPr>
          <a:xfrm>
            <a:off x="988997" y="1478520"/>
            <a:ext cx="1433486" cy="461665"/>
          </a:xfrm>
          <a:prstGeom prst="rect">
            <a:avLst/>
          </a:prstGeom>
          <a:solidFill>
            <a:schemeClr val="bg1"/>
          </a:solidFill>
        </p:spPr>
        <p:txBody>
          <a:bodyPr wrap="square">
            <a:spAutoFit/>
          </a:bodyPr>
          <a:lstStyle/>
          <a:p>
            <a:r>
              <a:rPr lang="ja-JP" altLang="en-US" sz="2400" dirty="0"/>
              <a:t>スカラー</a:t>
            </a:r>
            <a:endParaRPr lang="zh-CN" altLang="en-US" sz="2400" dirty="0"/>
          </a:p>
        </p:txBody>
      </p:sp>
      <p:sp>
        <p:nvSpPr>
          <p:cNvPr id="30" name="矩形 29">
            <a:extLst>
              <a:ext uri="{FF2B5EF4-FFF2-40B4-BE49-F238E27FC236}">
                <a16:creationId xmlns:a16="http://schemas.microsoft.com/office/drawing/2014/main" id="{74145744-3746-4052-837E-CC66322FBE11}"/>
              </a:ext>
            </a:extLst>
          </p:cNvPr>
          <p:cNvSpPr/>
          <p:nvPr/>
        </p:nvSpPr>
        <p:spPr>
          <a:xfrm>
            <a:off x="805864" y="5336661"/>
            <a:ext cx="4102171" cy="102938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框 30">
            <a:extLst>
              <a:ext uri="{FF2B5EF4-FFF2-40B4-BE49-F238E27FC236}">
                <a16:creationId xmlns:a16="http://schemas.microsoft.com/office/drawing/2014/main" id="{089A8736-72F1-44E4-951B-A8811C545447}"/>
              </a:ext>
            </a:extLst>
          </p:cNvPr>
          <p:cNvSpPr txBox="1"/>
          <p:nvPr/>
        </p:nvSpPr>
        <p:spPr>
          <a:xfrm>
            <a:off x="1288711" y="5109907"/>
            <a:ext cx="834058" cy="461665"/>
          </a:xfrm>
          <a:prstGeom prst="rect">
            <a:avLst/>
          </a:prstGeom>
          <a:solidFill>
            <a:schemeClr val="bg1"/>
          </a:solidFill>
        </p:spPr>
        <p:txBody>
          <a:bodyPr wrap="square">
            <a:spAutoFit/>
          </a:bodyPr>
          <a:lstStyle/>
          <a:p>
            <a:r>
              <a:rPr lang="ja-JP" altLang="en-US" sz="2400" dirty="0"/>
              <a:t>行列</a:t>
            </a:r>
            <a:endParaRPr lang="zh-CN" altLang="en-US" sz="2400" dirty="0"/>
          </a:p>
        </p:txBody>
      </p:sp>
      <p:grpSp>
        <p:nvGrpSpPr>
          <p:cNvPr id="14" name="グループ化 13">
            <a:extLst>
              <a:ext uri="{FF2B5EF4-FFF2-40B4-BE49-F238E27FC236}">
                <a16:creationId xmlns:a16="http://schemas.microsoft.com/office/drawing/2014/main" id="{55A12561-7D5A-421F-84A9-CA2EBC05F547}"/>
              </a:ext>
            </a:extLst>
          </p:cNvPr>
          <p:cNvGrpSpPr/>
          <p:nvPr/>
        </p:nvGrpSpPr>
        <p:grpSpPr>
          <a:xfrm>
            <a:off x="2526320" y="4304018"/>
            <a:ext cx="2120111" cy="916190"/>
            <a:chOff x="2526320" y="4304018"/>
            <a:chExt cx="2120111" cy="916190"/>
          </a:xfrm>
        </p:grpSpPr>
        <p:sp>
          <p:nvSpPr>
            <p:cNvPr id="29" name="箭头: 下 28">
              <a:extLst>
                <a:ext uri="{FF2B5EF4-FFF2-40B4-BE49-F238E27FC236}">
                  <a16:creationId xmlns:a16="http://schemas.microsoft.com/office/drawing/2014/main" id="{6C81D50C-3032-42E6-A00D-D14D4A699915}"/>
                </a:ext>
              </a:extLst>
            </p:cNvPr>
            <p:cNvSpPr/>
            <p:nvPr/>
          </p:nvSpPr>
          <p:spPr>
            <a:xfrm>
              <a:off x="2526320" y="4304018"/>
              <a:ext cx="353636" cy="91619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D011EFFA-A664-493E-9C94-11B59B496E79}"/>
                    </a:ext>
                  </a:extLst>
                </p:cNvPr>
                <p:cNvSpPr txBox="1"/>
                <p:nvPr/>
              </p:nvSpPr>
              <p:spPr>
                <a:xfrm>
                  <a:off x="3037721" y="4573746"/>
                  <a:ext cx="1608710" cy="369332"/>
                </a:xfrm>
                <a:prstGeom prst="rect">
                  <a:avLst/>
                </a:prstGeom>
                <a:noFill/>
              </p:spPr>
              <p:txBody>
                <a:bodyPr wrap="none" lIns="0" tIns="0" rIns="0" bIns="0" rtlCol="0">
                  <a:spAutoFit/>
                </a:bodyPr>
                <a:lstStyle/>
                <a:p>
                  <a14:m>
                    <m:oMath xmlns:m="http://schemas.openxmlformats.org/officeDocument/2006/math">
                      <m:r>
                        <a:rPr lang="en-US" altLang="zh-CN" sz="2400" b="0" i="1" smtClean="0">
                          <a:latin typeface="Cambria Math" panose="02040503050406030204" pitchFamily="18" charset="0"/>
                        </a:rPr>
                        <m:t>𝑎</m:t>
                      </m:r>
                    </m:oMath>
                  </a14:m>
                  <a:r>
                    <a:rPr lang="ja-JP" altLang="en-US" sz="2400" dirty="0"/>
                    <a:t>を行列</a:t>
                  </a:r>
                  <a14:m>
                    <m:oMath xmlns:m="http://schemas.openxmlformats.org/officeDocument/2006/math">
                      <m:r>
                        <a:rPr lang="en-US" altLang="ja-JP" sz="2400" b="0" i="1" smtClean="0">
                          <a:latin typeface="Cambria Math" panose="02040503050406030204" pitchFamily="18" charset="0"/>
                        </a:rPr>
                        <m:t>𝐴</m:t>
                      </m:r>
                    </m:oMath>
                  </a14:m>
                  <a:r>
                    <a:rPr lang="ja-JP" altLang="en-US" sz="2400" dirty="0"/>
                    <a:t>に</a:t>
                  </a:r>
                  <a:endParaRPr lang="zh-CN" altLang="en-US" sz="2400" dirty="0"/>
                </a:p>
              </p:txBody>
            </p:sp>
          </mc:Choice>
          <mc:Fallback xmlns="">
            <p:sp>
              <p:nvSpPr>
                <p:cNvPr id="37" name="文本框 36">
                  <a:extLst>
                    <a:ext uri="{FF2B5EF4-FFF2-40B4-BE49-F238E27FC236}">
                      <a16:creationId xmlns:a16="http://schemas.microsoft.com/office/drawing/2014/main" id="{D011EFFA-A664-493E-9C94-11B59B496E79}"/>
                    </a:ext>
                  </a:extLst>
                </p:cNvPr>
                <p:cNvSpPr txBox="1">
                  <a:spLocks noRot="1" noChangeAspect="1" noMove="1" noResize="1" noEditPoints="1" noAdjustHandles="1" noChangeArrowheads="1" noChangeShapeType="1" noTextEdit="1"/>
                </p:cNvSpPr>
                <p:nvPr/>
              </p:nvSpPr>
              <p:spPr>
                <a:xfrm>
                  <a:off x="3037721" y="4573746"/>
                  <a:ext cx="1608710" cy="369332"/>
                </a:xfrm>
                <a:prstGeom prst="rect">
                  <a:avLst/>
                </a:prstGeom>
                <a:blipFill>
                  <a:blip r:embed="rId11"/>
                  <a:stretch>
                    <a:fillRect l="-4545" t="-21311" r="-10606" b="-52459"/>
                  </a:stretch>
                </a:blipFill>
              </p:spPr>
              <p:txBody>
                <a:bodyPr/>
                <a:lstStyle/>
                <a:p>
                  <a:r>
                    <a:rPr lang="en-US">
                      <a:noFill/>
                    </a:rPr>
                    <a:t> </a:t>
                  </a:r>
                </a:p>
              </p:txBody>
            </p:sp>
          </mc:Fallback>
        </mc:AlternateContent>
      </p:grpSp>
      <p:grpSp>
        <p:nvGrpSpPr>
          <p:cNvPr id="13" name="グループ化 12">
            <a:extLst>
              <a:ext uri="{FF2B5EF4-FFF2-40B4-BE49-F238E27FC236}">
                <a16:creationId xmlns:a16="http://schemas.microsoft.com/office/drawing/2014/main" id="{E623B28C-85CB-4B2C-A5C8-2B26650FA533}"/>
              </a:ext>
            </a:extLst>
          </p:cNvPr>
          <p:cNvGrpSpPr/>
          <p:nvPr/>
        </p:nvGrpSpPr>
        <p:grpSpPr>
          <a:xfrm>
            <a:off x="2518680" y="2569736"/>
            <a:ext cx="2300851" cy="916190"/>
            <a:chOff x="2518680" y="2569736"/>
            <a:chExt cx="2300851" cy="916190"/>
          </a:xfrm>
        </p:grpSpPr>
        <p:sp>
          <p:nvSpPr>
            <p:cNvPr id="21" name="箭头: 下 20">
              <a:extLst>
                <a:ext uri="{FF2B5EF4-FFF2-40B4-BE49-F238E27FC236}">
                  <a16:creationId xmlns:a16="http://schemas.microsoft.com/office/drawing/2014/main" id="{E39A8A5C-D5B5-4BD3-8EB3-B7FB743511EB}"/>
                </a:ext>
              </a:extLst>
            </p:cNvPr>
            <p:cNvSpPr/>
            <p:nvPr/>
          </p:nvSpPr>
          <p:spPr>
            <a:xfrm>
              <a:off x="2518680" y="2569736"/>
              <a:ext cx="353636" cy="91619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7" name="図 8">
              <a:extLst>
                <a:ext uri="{FF2B5EF4-FFF2-40B4-BE49-F238E27FC236}">
                  <a16:creationId xmlns:a16="http://schemas.microsoft.com/office/drawing/2014/main" id="{8700F778-805C-4951-BF42-5C739F23EBBF}"/>
                </a:ext>
              </a:extLst>
            </p:cNvPr>
            <p:cNvPicPr>
              <a:picLocks noChangeAspect="1"/>
            </p:cNvPicPr>
            <p:nvPr>
              <p:custDataLst>
                <p:tags r:id="rId4"/>
              </p:custDataLst>
            </p:nvPr>
          </p:nvPicPr>
          <p:blipFill>
            <a:blip r:embed="rId12" cstate="print">
              <a:extLst>
                <a:ext uri="{28A0092B-C50C-407E-A947-70E740481C1C}">
                  <a14:useLocalDpi xmlns:a14="http://schemas.microsoft.com/office/drawing/2010/main" val="0"/>
                </a:ext>
              </a:extLst>
            </a:blip>
            <a:stretch>
              <a:fillRect/>
            </a:stretch>
          </p:blipFill>
          <p:spPr>
            <a:xfrm>
              <a:off x="2966510" y="2790265"/>
              <a:ext cx="1696145" cy="307129"/>
            </a:xfrm>
            <a:prstGeom prst="rect">
              <a:avLst/>
            </a:prstGeom>
          </p:spPr>
        </p:pic>
        <mc:AlternateContent xmlns:mc="http://schemas.openxmlformats.org/markup-compatibility/2006" xmlns:a14="http://schemas.microsoft.com/office/drawing/2010/main">
          <mc:Choice Requires="a14">
            <p:sp>
              <p:nvSpPr>
                <p:cNvPr id="40" name="文本框 39">
                  <a:extLst>
                    <a:ext uri="{FF2B5EF4-FFF2-40B4-BE49-F238E27FC236}">
                      <a16:creationId xmlns:a16="http://schemas.microsoft.com/office/drawing/2014/main" id="{7F512304-E215-4D9F-AD24-3D596D6F7EEC}"/>
                    </a:ext>
                  </a:extLst>
                </p:cNvPr>
                <p:cNvSpPr txBox="1"/>
                <p:nvPr/>
              </p:nvSpPr>
              <p:spPr>
                <a:xfrm>
                  <a:off x="3113871" y="3081822"/>
                  <a:ext cx="1705660" cy="369332"/>
                </a:xfrm>
                <a:prstGeom prst="rect">
                  <a:avLst/>
                </a:prstGeom>
                <a:noFill/>
              </p:spPr>
              <p:txBody>
                <a:bodyPr wrap="none" lIns="0" tIns="0" rIns="0" bIns="0" rtlCol="0">
                  <a:spAutoFit/>
                </a:bodyPr>
                <a:lstStyle/>
                <a:p>
                  <a14:m>
                    <m:oMath xmlns:m="http://schemas.openxmlformats.org/officeDocument/2006/math">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𝑎</m:t>
                      </m:r>
                    </m:oMath>
                  </a14:m>
                  <a:r>
                    <a:rPr lang="ja-JP" altLang="en-US" sz="2400" b="0" dirty="0"/>
                    <a:t> の </a:t>
                  </a:r>
                  <a14:m>
                    <m:oMath xmlns:m="http://schemas.openxmlformats.org/officeDocument/2006/math">
                      <m:r>
                        <a:rPr lang="en-US" altLang="zh-CN" sz="2400" b="0" i="1" smtClean="0">
                          <a:latin typeface="Cambria Math" panose="02040503050406030204" pitchFamily="18" charset="0"/>
                        </a:rPr>
                        <m:t>𝑝</m:t>
                      </m:r>
                    </m:oMath>
                  </a14:m>
                  <a:r>
                    <a:rPr lang="ja-JP" altLang="en-US" sz="2400" dirty="0"/>
                    <a:t> 乗根</a:t>
                  </a:r>
                  <a:r>
                    <a:rPr lang="en-US" altLang="ja-JP" sz="2400" dirty="0"/>
                    <a:t>)</a:t>
                  </a:r>
                  <a:endParaRPr lang="zh-CN" altLang="en-US" sz="2400" dirty="0"/>
                </a:p>
              </p:txBody>
            </p:sp>
          </mc:Choice>
          <mc:Fallback xmlns="">
            <p:sp>
              <p:nvSpPr>
                <p:cNvPr id="40" name="文本框 39">
                  <a:extLst>
                    <a:ext uri="{FF2B5EF4-FFF2-40B4-BE49-F238E27FC236}">
                      <a16:creationId xmlns:a16="http://schemas.microsoft.com/office/drawing/2014/main" id="{7F512304-E215-4D9F-AD24-3D596D6F7EEC}"/>
                    </a:ext>
                  </a:extLst>
                </p:cNvPr>
                <p:cNvSpPr txBox="1">
                  <a:spLocks noRot="1" noChangeAspect="1" noMove="1" noResize="1" noEditPoints="1" noAdjustHandles="1" noChangeArrowheads="1" noChangeShapeType="1" noTextEdit="1"/>
                </p:cNvSpPr>
                <p:nvPr/>
              </p:nvSpPr>
              <p:spPr>
                <a:xfrm>
                  <a:off x="3113871" y="3081822"/>
                  <a:ext cx="1705660" cy="369332"/>
                </a:xfrm>
                <a:prstGeom prst="rect">
                  <a:avLst/>
                </a:prstGeom>
                <a:blipFill>
                  <a:blip r:embed="rId13"/>
                  <a:stretch>
                    <a:fillRect l="-8571" t="-31667" r="-9643" b="-53333"/>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A698DAF8-CAF3-4CB9-866A-9541B43BE8A9}"/>
                  </a:ext>
                </a:extLst>
              </p:cNvPr>
              <p:cNvSpPr txBox="1"/>
              <p:nvPr/>
            </p:nvSpPr>
            <p:spPr>
              <a:xfrm>
                <a:off x="5677786" y="1109188"/>
                <a:ext cx="5780000" cy="830997"/>
              </a:xfrm>
              <a:prstGeom prst="rect">
                <a:avLst/>
              </a:prstGeom>
              <a:noFill/>
            </p:spPr>
            <p:txBody>
              <a:bodyPr wrap="square" rtlCol="0">
                <a:spAutoFit/>
              </a:bodyPr>
              <a:lstStyle/>
              <a:p>
                <a:pPr algn="ctr"/>
                <a:r>
                  <a:rPr lang="ja-JP" altLang="en-US" sz="2400" dirty="0">
                    <a:ea typeface="メイリオ" panose="020B0604030504040204" pitchFamily="50" charset="-128"/>
                  </a:rPr>
                  <a:t>行列 </a:t>
                </a:r>
                <a14:m>
                  <m:oMath xmlns:m="http://schemas.openxmlformats.org/officeDocument/2006/math">
                    <m:r>
                      <a:rPr lang="en-US" altLang="ja-JP" sz="2400" i="1" dirty="0">
                        <a:latin typeface="Cambria Math" panose="02040503050406030204" pitchFamily="18" charset="0"/>
                        <a:ea typeface="メイリオ" panose="020B0604030504040204" pitchFamily="50" charset="-128"/>
                      </a:rPr>
                      <m:t>𝑝</m:t>
                    </m:r>
                  </m:oMath>
                </a14:m>
                <a:r>
                  <a:rPr lang="ja-JP" altLang="en-US" sz="2400" dirty="0">
                    <a:latin typeface="メイリオ" panose="020B0604030504040204" pitchFamily="50" charset="-128"/>
                    <a:ea typeface="メイリオ" panose="020B0604030504040204" pitchFamily="50" charset="-128"/>
                  </a:rPr>
                  <a:t> 乗根を求めるための</a:t>
                </a:r>
                <a:r>
                  <a:rPr lang="en-US" altLang="zh-CN" sz="2400" dirty="0"/>
                  <a:t>Newton</a:t>
                </a:r>
                <a:r>
                  <a:rPr lang="ja-JP" altLang="en-US" sz="2400" dirty="0"/>
                  <a:t>法</a:t>
                </a:r>
                <a:endParaRPr lang="en-US" altLang="ja-JP" sz="2400" dirty="0"/>
              </a:p>
              <a:p>
                <a:pPr algn="ctr"/>
                <a:r>
                  <a:rPr lang="ja-JP" altLang="en-US" sz="2400" dirty="0"/>
                  <a:t>問題点</a:t>
                </a:r>
                <a:r>
                  <a:rPr lang="zh-CN" altLang="en-US" sz="2400" dirty="0"/>
                  <a:t>：</a:t>
                </a:r>
                <a:r>
                  <a:rPr lang="ja-JP" altLang="en-US" sz="2400" dirty="0"/>
                  <a:t>反復式は数値的に安定ではない</a:t>
                </a:r>
                <a:endParaRPr lang="zh-CN" altLang="en-US" sz="2400" dirty="0"/>
              </a:p>
            </p:txBody>
          </p:sp>
        </mc:Choice>
        <mc:Fallback xmlns="">
          <p:sp>
            <p:nvSpPr>
              <p:cNvPr id="32" name="文本框 31">
                <a:extLst>
                  <a:ext uri="{FF2B5EF4-FFF2-40B4-BE49-F238E27FC236}">
                    <a16:creationId xmlns:a16="http://schemas.microsoft.com/office/drawing/2014/main" id="{A698DAF8-CAF3-4CB9-866A-9541B43BE8A9}"/>
                  </a:ext>
                </a:extLst>
              </p:cNvPr>
              <p:cNvSpPr txBox="1">
                <a:spLocks noRot="1" noChangeAspect="1" noMove="1" noResize="1" noEditPoints="1" noAdjustHandles="1" noChangeArrowheads="1" noChangeShapeType="1" noTextEdit="1"/>
              </p:cNvSpPr>
              <p:nvPr/>
            </p:nvSpPr>
            <p:spPr>
              <a:xfrm>
                <a:off x="5677786" y="1109188"/>
                <a:ext cx="5780000" cy="830997"/>
              </a:xfrm>
              <a:prstGeom prst="rect">
                <a:avLst/>
              </a:prstGeom>
              <a:blipFill>
                <a:blip r:embed="rId14"/>
                <a:stretch>
                  <a:fillRect l="-632" t="-8088" r="-632" b="-17647"/>
                </a:stretch>
              </a:blipFill>
            </p:spPr>
            <p:txBody>
              <a:bodyPr/>
              <a:lstStyle/>
              <a:p>
                <a:r>
                  <a:rPr lang="zh-CN" altLang="en-US">
                    <a:noFill/>
                  </a:rPr>
                  <a:t> </a:t>
                </a:r>
              </a:p>
            </p:txBody>
          </p:sp>
        </mc:Fallback>
      </mc:AlternateContent>
      <p:grpSp>
        <p:nvGrpSpPr>
          <p:cNvPr id="6" name="组合 5">
            <a:extLst>
              <a:ext uri="{FF2B5EF4-FFF2-40B4-BE49-F238E27FC236}">
                <a16:creationId xmlns:a16="http://schemas.microsoft.com/office/drawing/2014/main" id="{77246065-4AF8-420E-8AEA-02FBEA9C4388}"/>
              </a:ext>
            </a:extLst>
          </p:cNvPr>
          <p:cNvGrpSpPr/>
          <p:nvPr/>
        </p:nvGrpSpPr>
        <p:grpSpPr>
          <a:xfrm>
            <a:off x="5914294" y="4828457"/>
            <a:ext cx="6596817" cy="2057229"/>
            <a:chOff x="5914294" y="4828457"/>
            <a:chExt cx="6596817" cy="2057229"/>
          </a:xfrm>
        </p:grpSpPr>
        <p:sp>
          <p:nvSpPr>
            <p:cNvPr id="20" name="文本框 19">
              <a:extLst>
                <a:ext uri="{FF2B5EF4-FFF2-40B4-BE49-F238E27FC236}">
                  <a16:creationId xmlns:a16="http://schemas.microsoft.com/office/drawing/2014/main" id="{D9DA6815-2F49-443B-9FF4-790E4A77516E}"/>
                </a:ext>
              </a:extLst>
            </p:cNvPr>
            <p:cNvSpPr txBox="1"/>
            <p:nvPr/>
          </p:nvSpPr>
          <p:spPr>
            <a:xfrm>
              <a:off x="5914294" y="5685357"/>
              <a:ext cx="5081091" cy="1200329"/>
            </a:xfrm>
            <a:prstGeom prst="rect">
              <a:avLst/>
            </a:prstGeom>
            <a:noFill/>
          </p:spPr>
          <p:txBody>
            <a:bodyPr wrap="square" rtlCol="0">
              <a:spAutoFit/>
            </a:bodyPr>
            <a:lstStyle/>
            <a:p>
              <a:pPr algn="ctr"/>
              <a:r>
                <a:rPr lang="en-US" altLang="zh-CN" sz="2400" dirty="0"/>
                <a:t>[</a:t>
              </a:r>
              <a:r>
                <a:rPr lang="en-US" altLang="zh-CN" sz="2400" dirty="0" err="1"/>
                <a:t>Tatsuoka</a:t>
              </a:r>
              <a:r>
                <a:rPr lang="en-US" altLang="zh-CN" sz="2400" dirty="0"/>
                <a:t> et al., 2017]</a:t>
              </a:r>
            </a:p>
            <a:p>
              <a:pPr algn="ctr"/>
              <a:r>
                <a:rPr lang="ja-JP" altLang="en-US" sz="2400" dirty="0">
                  <a:solidFill>
                    <a:srgbClr val="FF0000"/>
                  </a:solidFill>
                </a:rPr>
                <a:t>反復回数を減らすことに寄与する</a:t>
              </a:r>
              <a:endParaRPr lang="en-US" altLang="ja-JP" sz="2400" dirty="0">
                <a:solidFill>
                  <a:srgbClr val="FF0000"/>
                </a:solidFill>
              </a:endParaRPr>
            </a:p>
            <a:p>
              <a:pPr algn="ctr"/>
              <a:r>
                <a:rPr lang="ja-JP" altLang="en-US" sz="2400" dirty="0">
                  <a:solidFill>
                    <a:srgbClr val="FF0000"/>
                  </a:solidFill>
                </a:rPr>
                <a:t>初期値の与え方は研究されていない</a:t>
              </a:r>
              <a:endParaRPr lang="zh-CN" altLang="en-US" sz="2400" dirty="0">
                <a:solidFill>
                  <a:srgbClr val="FF0000"/>
                </a:solidFill>
              </a:endParaRPr>
            </a:p>
          </p:txBody>
        </p:sp>
        <p:sp>
          <p:nvSpPr>
            <p:cNvPr id="26" name="文本框 25">
              <a:extLst>
                <a:ext uri="{FF2B5EF4-FFF2-40B4-BE49-F238E27FC236}">
                  <a16:creationId xmlns:a16="http://schemas.microsoft.com/office/drawing/2014/main" id="{AE3137F7-133D-4B02-84D3-2ED9C2E1A439}"/>
                </a:ext>
              </a:extLst>
            </p:cNvPr>
            <p:cNvSpPr txBox="1"/>
            <p:nvPr/>
          </p:nvSpPr>
          <p:spPr>
            <a:xfrm>
              <a:off x="8278022" y="4875573"/>
              <a:ext cx="4233089" cy="830997"/>
            </a:xfrm>
            <a:prstGeom prst="rect">
              <a:avLst/>
            </a:prstGeom>
            <a:noFill/>
          </p:spPr>
          <p:txBody>
            <a:bodyPr wrap="square" rtlCol="0">
              <a:spAutoFit/>
            </a:bodyPr>
            <a:lstStyle/>
            <a:p>
              <a:pPr algn="ctr"/>
              <a:r>
                <a:rPr lang="ja-JP" altLang="en-US" sz="2400" dirty="0"/>
                <a:t>反復ごとの計算量の削減</a:t>
              </a:r>
              <a:endParaRPr lang="en-US" altLang="ja-JP" sz="2400" dirty="0"/>
            </a:p>
            <a:p>
              <a:pPr algn="ctr"/>
              <a:r>
                <a:rPr lang="ja-JP" altLang="en-US" sz="2400" dirty="0"/>
                <a:t>（行列多項式計算の効率化）</a:t>
              </a:r>
              <a:endParaRPr lang="zh-CN" altLang="en-US" sz="2400" dirty="0"/>
            </a:p>
          </p:txBody>
        </p:sp>
        <p:sp>
          <p:nvSpPr>
            <p:cNvPr id="41" name="箭头: 下 40">
              <a:extLst>
                <a:ext uri="{FF2B5EF4-FFF2-40B4-BE49-F238E27FC236}">
                  <a16:creationId xmlns:a16="http://schemas.microsoft.com/office/drawing/2014/main" id="{B8DCC5F7-2BA8-4895-B82B-1E8DBE5E062E}"/>
                </a:ext>
              </a:extLst>
            </p:cNvPr>
            <p:cNvSpPr/>
            <p:nvPr/>
          </p:nvSpPr>
          <p:spPr>
            <a:xfrm>
              <a:off x="8278022" y="4828457"/>
              <a:ext cx="353636" cy="92035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 name="グループ化 9">
            <a:extLst>
              <a:ext uri="{FF2B5EF4-FFF2-40B4-BE49-F238E27FC236}">
                <a16:creationId xmlns:a16="http://schemas.microsoft.com/office/drawing/2014/main" id="{E7B69753-B7E5-4557-B5F0-86A442A0E827}"/>
              </a:ext>
            </a:extLst>
          </p:cNvPr>
          <p:cNvGrpSpPr/>
          <p:nvPr/>
        </p:nvGrpSpPr>
        <p:grpSpPr>
          <a:xfrm>
            <a:off x="5677786" y="1890055"/>
            <a:ext cx="6281762" cy="2890865"/>
            <a:chOff x="5677786" y="1890055"/>
            <a:chExt cx="6281762" cy="2890865"/>
          </a:xfrm>
        </p:grpSpPr>
        <p:sp>
          <p:nvSpPr>
            <p:cNvPr id="39" name="箭头: 下 38">
              <a:extLst>
                <a:ext uri="{FF2B5EF4-FFF2-40B4-BE49-F238E27FC236}">
                  <a16:creationId xmlns:a16="http://schemas.microsoft.com/office/drawing/2014/main" id="{B1F2519F-2F37-4DBB-BE62-81128644033F}"/>
                </a:ext>
              </a:extLst>
            </p:cNvPr>
            <p:cNvSpPr/>
            <p:nvPr/>
          </p:nvSpPr>
          <p:spPr>
            <a:xfrm>
              <a:off x="8285847" y="1890055"/>
              <a:ext cx="353636" cy="84907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782312A2-733D-4AAD-BF11-C23A6F5AE8E7}"/>
                </a:ext>
              </a:extLst>
            </p:cNvPr>
            <p:cNvSpPr txBox="1"/>
            <p:nvPr/>
          </p:nvSpPr>
          <p:spPr>
            <a:xfrm>
              <a:off x="8890232" y="2044141"/>
              <a:ext cx="3008670" cy="461665"/>
            </a:xfrm>
            <a:prstGeom prst="rect">
              <a:avLst/>
            </a:prstGeom>
            <a:noFill/>
          </p:spPr>
          <p:txBody>
            <a:bodyPr wrap="square" rtlCol="0">
              <a:spAutoFit/>
            </a:bodyPr>
            <a:lstStyle/>
            <a:p>
              <a:r>
                <a:rPr lang="ja-JP" altLang="en-US" sz="2400" dirty="0"/>
                <a:t>安定な反復式の提案</a:t>
              </a:r>
              <a:endParaRPr lang="zh-CN" altLang="en-US" sz="2400" dirty="0"/>
            </a:p>
          </p:txBody>
        </p:sp>
        <p:grpSp>
          <p:nvGrpSpPr>
            <p:cNvPr id="24" name="组合 23">
              <a:extLst>
                <a:ext uri="{FF2B5EF4-FFF2-40B4-BE49-F238E27FC236}">
                  <a16:creationId xmlns:a16="http://schemas.microsoft.com/office/drawing/2014/main" id="{06E47A14-B743-4AB8-AD5F-A98DCAA03F8B}"/>
                </a:ext>
              </a:extLst>
            </p:cNvPr>
            <p:cNvGrpSpPr/>
            <p:nvPr/>
          </p:nvGrpSpPr>
          <p:grpSpPr>
            <a:xfrm>
              <a:off x="5677786" y="2748561"/>
              <a:ext cx="6281762" cy="2032359"/>
              <a:chOff x="5677786" y="2748561"/>
              <a:chExt cx="6281762" cy="2032359"/>
            </a:xfrm>
          </p:grpSpPr>
          <p:grpSp>
            <p:nvGrpSpPr>
              <p:cNvPr id="34" name="グループ化 3">
                <a:extLst>
                  <a:ext uri="{FF2B5EF4-FFF2-40B4-BE49-F238E27FC236}">
                    <a16:creationId xmlns:a16="http://schemas.microsoft.com/office/drawing/2014/main" id="{949522C3-DDF7-4425-ACE6-75FB25E50E17}"/>
                  </a:ext>
                </a:extLst>
              </p:cNvPr>
              <p:cNvGrpSpPr/>
              <p:nvPr/>
            </p:nvGrpSpPr>
            <p:grpSpPr>
              <a:xfrm>
                <a:off x="5677786" y="2748561"/>
                <a:ext cx="6281762" cy="1997234"/>
                <a:chOff x="-470983" y="4190475"/>
                <a:chExt cx="5439948" cy="1300435"/>
              </a:xfrm>
            </p:grpSpPr>
            <p:sp>
              <p:nvSpPr>
                <p:cNvPr id="35" name="正方形/長方形 4">
                  <a:extLst>
                    <a:ext uri="{FF2B5EF4-FFF2-40B4-BE49-F238E27FC236}">
                      <a16:creationId xmlns:a16="http://schemas.microsoft.com/office/drawing/2014/main" id="{01C5C3BD-5751-4E8F-99B7-5A5AE39C9584}"/>
                    </a:ext>
                  </a:extLst>
                </p:cNvPr>
                <p:cNvSpPr/>
                <p:nvPr/>
              </p:nvSpPr>
              <p:spPr>
                <a:xfrm>
                  <a:off x="-470983" y="4330546"/>
                  <a:ext cx="5439948" cy="1160364"/>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8" name="文本框 22">
                  <a:extLst>
                    <a:ext uri="{FF2B5EF4-FFF2-40B4-BE49-F238E27FC236}">
                      <a16:creationId xmlns:a16="http://schemas.microsoft.com/office/drawing/2014/main" id="{EFC6C221-6069-466A-B87E-EE9F34DC7F07}"/>
                    </a:ext>
                  </a:extLst>
                </p:cNvPr>
                <p:cNvSpPr txBox="1"/>
                <p:nvPr/>
              </p:nvSpPr>
              <p:spPr>
                <a:xfrm>
                  <a:off x="-242961" y="4190475"/>
                  <a:ext cx="4910884" cy="282562"/>
                </a:xfrm>
                <a:prstGeom prst="rect">
                  <a:avLst/>
                </a:prstGeom>
                <a:solidFill>
                  <a:schemeClr val="bg1"/>
                </a:solidFill>
              </p:spPr>
              <p:txBody>
                <a:bodyPr wrap="square">
                  <a:spAutoFit/>
                </a:bodyPr>
                <a:lstStyle/>
                <a:p>
                  <a:pPr algn="ctr">
                    <a:lnSpc>
                      <a:spcPct val="90000"/>
                    </a:lnSpc>
                    <a:spcBef>
                      <a:spcPct val="0"/>
                    </a:spcBef>
                  </a:pPr>
                  <a:r>
                    <a:rPr lang="en-US" altLang="zh-CN" sz="2400" dirty="0"/>
                    <a:t>IN(Incremental Newton)</a:t>
                  </a:r>
                  <a:r>
                    <a:rPr lang="ja-JP" altLang="en-US" sz="2400" dirty="0"/>
                    <a:t>法</a:t>
                  </a:r>
                  <a:r>
                    <a:rPr lang="en-US" altLang="ja-JP" sz="2400" dirty="0"/>
                    <a:t>[</a:t>
                  </a:r>
                  <a:r>
                    <a:rPr lang="en-US" altLang="ja-JP" sz="2400" dirty="0" err="1"/>
                    <a:t>Iannazzo</a:t>
                  </a:r>
                  <a:r>
                    <a:rPr lang="en-US" altLang="ja-JP" sz="2400" dirty="0"/>
                    <a:t>, 2006]</a:t>
                  </a:r>
                </a:p>
              </p:txBody>
            </p:sp>
          </p:grpSp>
          <p:sp>
            <p:nvSpPr>
              <p:cNvPr id="42" name="文本框 41">
                <a:extLst>
                  <a:ext uri="{FF2B5EF4-FFF2-40B4-BE49-F238E27FC236}">
                    <a16:creationId xmlns:a16="http://schemas.microsoft.com/office/drawing/2014/main" id="{5753C5BD-B453-44BE-8A71-2823E4185A0D}"/>
                  </a:ext>
                </a:extLst>
              </p:cNvPr>
              <p:cNvSpPr txBox="1"/>
              <p:nvPr/>
            </p:nvSpPr>
            <p:spPr>
              <a:xfrm>
                <a:off x="6825384" y="4319255"/>
                <a:ext cx="3335487" cy="461665"/>
              </a:xfrm>
              <a:prstGeom prst="rect">
                <a:avLst/>
              </a:prstGeom>
              <a:noFill/>
            </p:spPr>
            <p:txBody>
              <a:bodyPr wrap="square" rtlCol="0">
                <a:spAutoFit/>
              </a:bodyPr>
              <a:lstStyle/>
              <a:p>
                <a:r>
                  <a:rPr lang="ja-JP" altLang="en-US" sz="2400" dirty="0"/>
                  <a:t>問題点</a:t>
                </a:r>
                <a:r>
                  <a:rPr lang="zh-CN" altLang="en-US" sz="2400" dirty="0"/>
                  <a:t>：</a:t>
                </a:r>
                <a:r>
                  <a:rPr lang="ja-JP" altLang="en-US" sz="2400" dirty="0"/>
                  <a:t>計算量が多い</a:t>
                </a:r>
                <a:endParaRPr lang="zh-CN" altLang="en-US" sz="2400" dirty="0"/>
              </a:p>
            </p:txBody>
          </p:sp>
          <p:pic>
            <p:nvPicPr>
              <p:cNvPr id="23" name="图片 22">
                <a:extLst>
                  <a:ext uri="{FF2B5EF4-FFF2-40B4-BE49-F238E27FC236}">
                    <a16:creationId xmlns:a16="http://schemas.microsoft.com/office/drawing/2014/main" id="{D3D23B3B-D7E5-4376-8B96-D4A742E72A96}"/>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5727914" y="3343977"/>
                <a:ext cx="6181505" cy="927951"/>
              </a:xfrm>
              <a:prstGeom prst="rect">
                <a:avLst/>
              </a:prstGeom>
            </p:spPr>
          </p:pic>
        </p:grpSp>
      </p:grpSp>
      <p:grpSp>
        <p:nvGrpSpPr>
          <p:cNvPr id="16" name="组合 15">
            <a:extLst>
              <a:ext uri="{FF2B5EF4-FFF2-40B4-BE49-F238E27FC236}">
                <a16:creationId xmlns:a16="http://schemas.microsoft.com/office/drawing/2014/main" id="{8D733BD2-4FCA-4640-8FFE-F7CE72F450A0}"/>
              </a:ext>
            </a:extLst>
          </p:cNvPr>
          <p:cNvGrpSpPr/>
          <p:nvPr/>
        </p:nvGrpSpPr>
        <p:grpSpPr>
          <a:xfrm>
            <a:off x="5568514" y="1837493"/>
            <a:ext cx="6592026" cy="4868870"/>
            <a:chOff x="729537" y="1057515"/>
            <a:chExt cx="6592026" cy="4868870"/>
          </a:xfrm>
        </p:grpSpPr>
        <p:pic>
          <p:nvPicPr>
            <p:cNvPr id="15" name="图片 14">
              <a:extLst>
                <a:ext uri="{FF2B5EF4-FFF2-40B4-BE49-F238E27FC236}">
                  <a16:creationId xmlns:a16="http://schemas.microsoft.com/office/drawing/2014/main" id="{2E1D4FCC-073E-4926-9886-70AECC863D9E}"/>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729537" y="1057515"/>
              <a:ext cx="6592026" cy="4868870"/>
            </a:xfrm>
            <a:prstGeom prst="rect">
              <a:avLst/>
            </a:prstGeom>
          </p:spPr>
        </p:pic>
        <p:sp>
          <p:nvSpPr>
            <p:cNvPr id="5" name="文本框 4">
              <a:extLst>
                <a:ext uri="{FF2B5EF4-FFF2-40B4-BE49-F238E27FC236}">
                  <a16:creationId xmlns:a16="http://schemas.microsoft.com/office/drawing/2014/main" id="{BAF2C35C-D3EC-4561-8D3B-1A6A37439ECD}"/>
                </a:ext>
              </a:extLst>
            </p:cNvPr>
            <p:cNvSpPr txBox="1"/>
            <p:nvPr/>
          </p:nvSpPr>
          <p:spPr>
            <a:xfrm>
              <a:off x="4680634" y="4793422"/>
              <a:ext cx="880469" cy="461665"/>
            </a:xfrm>
            <a:prstGeom prst="rect">
              <a:avLst/>
            </a:prstGeom>
            <a:noFill/>
          </p:spPr>
          <p:txBody>
            <a:bodyPr wrap="square" rtlCol="0">
              <a:spAutoFit/>
            </a:bodyPr>
            <a:lstStyle/>
            <a:p>
              <a:r>
                <a:rPr lang="ja-JP" altLang="en-US" sz="2400" dirty="0"/>
                <a:t>安定</a:t>
              </a:r>
              <a:endParaRPr lang="zh-CN" altLang="en-US" sz="2400" dirty="0"/>
            </a:p>
          </p:txBody>
        </p:sp>
        <p:sp>
          <p:nvSpPr>
            <p:cNvPr id="33" name="文本框 32">
              <a:extLst>
                <a:ext uri="{FF2B5EF4-FFF2-40B4-BE49-F238E27FC236}">
                  <a16:creationId xmlns:a16="http://schemas.microsoft.com/office/drawing/2014/main" id="{EFC13B77-A26A-497F-8D4F-1A85990BC804}"/>
                </a:ext>
              </a:extLst>
            </p:cNvPr>
            <p:cNvSpPr txBox="1"/>
            <p:nvPr/>
          </p:nvSpPr>
          <p:spPr>
            <a:xfrm>
              <a:off x="4086400" y="2700082"/>
              <a:ext cx="1233948" cy="461665"/>
            </a:xfrm>
            <a:prstGeom prst="rect">
              <a:avLst/>
            </a:prstGeom>
            <a:noFill/>
          </p:spPr>
          <p:txBody>
            <a:bodyPr wrap="square" rtlCol="0">
              <a:spAutoFit/>
            </a:bodyPr>
            <a:lstStyle/>
            <a:p>
              <a:r>
                <a:rPr lang="ja-JP" altLang="en-US" sz="2400" dirty="0"/>
                <a:t>不安定</a:t>
              </a:r>
              <a:endParaRPr lang="zh-CN" altLang="en-US" sz="2400" dirty="0"/>
            </a:p>
          </p:txBody>
        </p:sp>
      </p:grpSp>
    </p:spTree>
    <p:extLst>
      <p:ext uri="{BB962C8B-B14F-4D97-AF65-F5344CB8AC3E}">
        <p14:creationId xmlns:p14="http://schemas.microsoft.com/office/powerpoint/2010/main" val="2814668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up)">
                                      <p:cBhvr>
                                        <p:cTn id="19" dur="500"/>
                                        <p:tgtEl>
                                          <p:spTgt spid="13"/>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9"/>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up)">
                                      <p:cBhvr>
                                        <p:cTn id="28" dur="500"/>
                                        <p:tgtEl>
                                          <p:spTgt spid="14"/>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6"/>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xit" presetSubtype="0" fill="hold" nodeType="clickEffect">
                                  <p:stCondLst>
                                    <p:cond delay="0"/>
                                  </p:stCondLst>
                                  <p:childTnLst>
                                    <p:set>
                                      <p:cBhvr>
                                        <p:cTn id="48" dur="1" fill="hold">
                                          <p:stCondLst>
                                            <p:cond delay="0"/>
                                          </p:stCondLst>
                                        </p:cTn>
                                        <p:tgtEl>
                                          <p:spTgt spid="16"/>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22" presetClass="entr" presetSubtype="1" fill="hold" nodeType="clickEffect">
                                  <p:stCondLst>
                                    <p:cond delay="0"/>
                                  </p:stCondLst>
                                  <p:childTnLst>
                                    <p:set>
                                      <p:cBhvr>
                                        <p:cTn id="52" dur="1" fill="hold">
                                          <p:stCondLst>
                                            <p:cond delay="0"/>
                                          </p:stCondLst>
                                        </p:cTn>
                                        <p:tgtEl>
                                          <p:spTgt spid="10"/>
                                        </p:tgtEl>
                                        <p:attrNameLst>
                                          <p:attrName>style.visibility</p:attrName>
                                        </p:attrNameLst>
                                      </p:cBhvr>
                                      <p:to>
                                        <p:strVal val="visible"/>
                                      </p:to>
                                    </p:set>
                                    <p:animEffect transition="in" filter="wipe(up)">
                                      <p:cBhvr>
                                        <p:cTn id="53" dur="500"/>
                                        <p:tgtEl>
                                          <p:spTgt spid="10"/>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1" fill="hold" nodeType="clickEffect">
                                  <p:stCondLst>
                                    <p:cond delay="0"/>
                                  </p:stCondLst>
                                  <p:childTnLst>
                                    <p:set>
                                      <p:cBhvr>
                                        <p:cTn id="57" dur="1" fill="hold">
                                          <p:stCondLst>
                                            <p:cond delay="0"/>
                                          </p:stCondLst>
                                        </p:cTn>
                                        <p:tgtEl>
                                          <p:spTgt spid="6"/>
                                        </p:tgtEl>
                                        <p:attrNameLst>
                                          <p:attrName>style.visibility</p:attrName>
                                        </p:attrNameLst>
                                      </p:cBhvr>
                                      <p:to>
                                        <p:strVal val="visible"/>
                                      </p:to>
                                    </p:set>
                                    <p:animEffect transition="in" filter="wipe(up)">
                                      <p:cBhvr>
                                        <p:cTn id="5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5" grpId="0" animBg="1"/>
      <p:bldP spid="30" grpId="0" animBg="1"/>
      <p:bldP spid="31" grpId="0" animBg="1"/>
      <p:bldP spid="3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标题 1">
                <a:extLst>
                  <a:ext uri="{FF2B5EF4-FFF2-40B4-BE49-F238E27FC236}">
                    <a16:creationId xmlns:a16="http://schemas.microsoft.com/office/drawing/2014/main" id="{1C9822B7-31FA-4F7D-89B1-6149BAE6F33F}"/>
                  </a:ext>
                </a:extLst>
              </p:cNvPr>
              <p:cNvSpPr>
                <a:spLocks noGrp="1"/>
              </p:cNvSpPr>
              <p:nvPr>
                <p:ph type="title"/>
              </p:nvPr>
            </p:nvSpPr>
            <p:spPr>
              <a:xfrm>
                <a:off x="135437" y="264417"/>
                <a:ext cx="11204976" cy="717316"/>
              </a:xfrm>
            </p:spPr>
            <p:txBody>
              <a:bodyPr>
                <a:noAutofit/>
              </a:bodyPr>
              <a:lstStyle/>
              <a:p>
                <a:r>
                  <a:rPr lang="ja-JP" altLang="en-US" sz="3200" dirty="0">
                    <a:ea typeface="メイリオ" panose="020B0604030504040204" pitchFamily="50" charset="-128"/>
                  </a:rPr>
                  <a:t>行列</a:t>
                </a:r>
                <a:r>
                  <a:rPr lang="ja-JP" altLang="en-US" sz="3200" dirty="0">
                    <a:latin typeface="メイリオ" panose="020B0604030504040204" pitchFamily="50" charset="-128"/>
                    <a:ea typeface="メイリオ" panose="020B0604030504040204" pitchFamily="50" charset="-128"/>
                  </a:rPr>
                  <a:t> </a:t>
                </a:r>
                <a14:m>
                  <m:oMath xmlns:m="http://schemas.openxmlformats.org/officeDocument/2006/math">
                    <m:r>
                      <a:rPr lang="en-US" altLang="ja-JP" sz="3200" i="1" dirty="0" smtClean="0">
                        <a:latin typeface="Cambria Math" panose="02040503050406030204" pitchFamily="18" charset="0"/>
                        <a:ea typeface="メイリオ" panose="020B0604030504040204" pitchFamily="50" charset="-128"/>
                      </a:rPr>
                      <m:t>𝑝</m:t>
                    </m:r>
                  </m:oMath>
                </a14:m>
                <a:r>
                  <a:rPr lang="ja-JP" altLang="en-US" sz="3200" dirty="0">
                    <a:latin typeface="メイリオ" panose="020B0604030504040204" pitchFamily="50" charset="-128"/>
                    <a:ea typeface="メイリオ" panose="020B0604030504040204" pitchFamily="50" charset="-128"/>
                  </a:rPr>
                  <a:t> 乗根のための</a:t>
                </a:r>
                <a:r>
                  <a:rPr lang="en-US" altLang="ja-JP" sz="3200" dirty="0">
                    <a:latin typeface="メイリオ" panose="020B0604030504040204" pitchFamily="50" charset="-128"/>
                    <a:ea typeface="メイリオ" panose="020B0604030504040204" pitchFamily="50" charset="-128"/>
                  </a:rPr>
                  <a:t>N</a:t>
                </a:r>
                <a:r>
                  <a:rPr lang="en-US" altLang="zh-CN" sz="3200" dirty="0">
                    <a:latin typeface="メイリオ" panose="020B0604030504040204" pitchFamily="50" charset="-128"/>
                    <a:ea typeface="メイリオ" panose="020B0604030504040204" pitchFamily="50" charset="-128"/>
                  </a:rPr>
                  <a:t>ewton</a:t>
                </a:r>
                <a:r>
                  <a:rPr lang="ja-JP" altLang="en-US" sz="3200" dirty="0">
                    <a:latin typeface="メイリオ" panose="020B0604030504040204" pitchFamily="50" charset="-128"/>
                    <a:ea typeface="メイリオ" panose="020B0604030504040204" pitchFamily="50" charset="-128"/>
                  </a:rPr>
                  <a:t>法の</a:t>
                </a:r>
                <a:r>
                  <a:rPr lang="ja-JP" altLang="en-US" sz="3200" dirty="0">
                    <a:solidFill>
                      <a:srgbClr val="FF0000"/>
                    </a:solidFill>
                    <a:latin typeface="メイリオ" panose="020B0604030504040204" pitchFamily="50" charset="-128"/>
                    <a:ea typeface="メイリオ" panose="020B0604030504040204" pitchFamily="50" charset="-128"/>
                  </a:rPr>
                  <a:t>初期値の与え方</a:t>
                </a:r>
                <a:r>
                  <a:rPr lang="ja-JP" altLang="en-US" sz="3200" dirty="0">
                    <a:latin typeface="メイリオ" panose="020B0604030504040204" pitchFamily="50" charset="-128"/>
                    <a:ea typeface="メイリオ" panose="020B0604030504040204" pitchFamily="50" charset="-128"/>
                  </a:rPr>
                  <a:t>について</a:t>
                </a:r>
                <a:endParaRPr lang="zh-CN" altLang="en-US" sz="3200" dirty="0"/>
              </a:p>
            </p:txBody>
          </p:sp>
        </mc:Choice>
        <mc:Fallback xmlns="">
          <p:sp>
            <p:nvSpPr>
              <p:cNvPr id="2" name="标题 1">
                <a:extLst>
                  <a:ext uri="{FF2B5EF4-FFF2-40B4-BE49-F238E27FC236}">
                    <a16:creationId xmlns:a16="http://schemas.microsoft.com/office/drawing/2014/main" id="{1C9822B7-31FA-4F7D-89B1-6149BAE6F33F}"/>
                  </a:ext>
                </a:extLst>
              </p:cNvPr>
              <p:cNvSpPr>
                <a:spLocks noGrp="1" noRot="1" noChangeAspect="1" noMove="1" noResize="1" noEditPoints="1" noAdjustHandles="1" noChangeArrowheads="1" noChangeShapeType="1" noTextEdit="1"/>
              </p:cNvSpPr>
              <p:nvPr>
                <p:ph type="title"/>
              </p:nvPr>
            </p:nvSpPr>
            <p:spPr>
              <a:xfrm>
                <a:off x="135437" y="264417"/>
                <a:ext cx="11204976" cy="717316"/>
              </a:xfrm>
              <a:blipFill>
                <a:blip r:embed="rId2"/>
                <a:stretch>
                  <a:fillRect l="-1360" t="-2542" b="-16949"/>
                </a:stretch>
              </a:blipFill>
            </p:spPr>
            <p:txBody>
              <a:bodyPr/>
              <a:lstStyle/>
              <a:p>
                <a:r>
                  <a:rPr lang="en-US">
                    <a:noFill/>
                  </a:rPr>
                  <a:t> </a:t>
                </a:r>
              </a:p>
            </p:txBody>
          </p:sp>
        </mc:Fallback>
      </mc:AlternateContent>
      <p:sp>
        <p:nvSpPr>
          <p:cNvPr id="3" name="文本框 2">
            <a:extLst>
              <a:ext uri="{FF2B5EF4-FFF2-40B4-BE49-F238E27FC236}">
                <a16:creationId xmlns:a16="http://schemas.microsoft.com/office/drawing/2014/main" id="{CF73FE18-908F-46B0-B2E7-819393C627E5}"/>
              </a:ext>
            </a:extLst>
          </p:cNvPr>
          <p:cNvSpPr txBox="1"/>
          <p:nvPr/>
        </p:nvSpPr>
        <p:spPr>
          <a:xfrm>
            <a:off x="525041" y="2799162"/>
            <a:ext cx="5209132" cy="461665"/>
          </a:xfrm>
          <a:prstGeom prst="rect">
            <a:avLst/>
          </a:prstGeom>
          <a:noFill/>
        </p:spPr>
        <p:txBody>
          <a:bodyPr wrap="square" rtlCol="0">
            <a:spAutoFit/>
          </a:bodyPr>
          <a:lstStyle/>
          <a:p>
            <a:r>
              <a:rPr lang="ja-JP" altLang="en-US" sz="2400" dirty="0"/>
              <a:t>行列</a:t>
            </a:r>
            <a:r>
              <a:rPr lang="ja-JP" altLang="en-US" sz="2400" b="1" dirty="0"/>
              <a:t>平方根</a:t>
            </a:r>
            <a:r>
              <a:rPr lang="ja-JP" altLang="en-US" sz="2400" dirty="0"/>
              <a:t>に対する初期値の研究</a:t>
            </a:r>
            <a:endParaRPr lang="en-US" altLang="ja-JP" sz="2400" dirty="0"/>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68EBBA8C-A242-4E1B-9019-FA1769EE3009}"/>
                  </a:ext>
                </a:extLst>
              </p:cNvPr>
              <p:cNvSpPr txBox="1"/>
              <p:nvPr/>
            </p:nvSpPr>
            <p:spPr>
              <a:xfrm>
                <a:off x="6240947" y="2794110"/>
                <a:ext cx="5463472" cy="461665"/>
              </a:xfrm>
              <a:prstGeom prst="rect">
                <a:avLst/>
              </a:prstGeom>
              <a:noFill/>
            </p:spPr>
            <p:txBody>
              <a:bodyPr wrap="square" rtlCol="0">
                <a:spAutoFit/>
              </a:bodyPr>
              <a:lstStyle/>
              <a:p>
                <a:r>
                  <a:rPr lang="ja-JP" altLang="en-US" sz="2400" dirty="0"/>
                  <a:t>行列</a:t>
                </a:r>
                <a:r>
                  <a:rPr lang="zh-CN" altLang="en-US" sz="2400" dirty="0"/>
                  <a:t> </a:t>
                </a:r>
                <a14:m>
                  <m:oMath xmlns:m="http://schemas.openxmlformats.org/officeDocument/2006/math">
                    <m:r>
                      <a:rPr kumimoji="1" lang="en-US" altLang="ja-JP" sz="2400" b="1" i="1" dirty="0">
                        <a:latin typeface="Cambria Math" panose="02040503050406030204" pitchFamily="18" charset="0"/>
                        <a:ea typeface="メイリオ" panose="020B0604030504040204" pitchFamily="50" charset="-128"/>
                      </a:rPr>
                      <m:t>𝒑</m:t>
                    </m:r>
                    <m:r>
                      <a:rPr kumimoji="1" lang="en-US" altLang="ja-JP" sz="2400" b="1" i="1" dirty="0" smtClean="0">
                        <a:latin typeface="Cambria Math" panose="02040503050406030204" pitchFamily="18" charset="0"/>
                        <a:ea typeface="メイリオ" panose="020B0604030504040204" pitchFamily="50" charset="-128"/>
                      </a:rPr>
                      <m:t>&gt;</m:t>
                    </m:r>
                    <m:r>
                      <a:rPr kumimoji="1" lang="en-US" altLang="ja-JP" sz="2400" b="1" i="1" dirty="0" smtClean="0">
                        <a:latin typeface="Cambria Math" panose="02040503050406030204" pitchFamily="18" charset="0"/>
                        <a:ea typeface="メイリオ" panose="020B0604030504040204" pitchFamily="50" charset="-128"/>
                      </a:rPr>
                      <m:t>𝟐</m:t>
                    </m:r>
                  </m:oMath>
                </a14:m>
                <a:r>
                  <a:rPr lang="ja-JP" altLang="en-US" sz="2400" b="1" dirty="0"/>
                  <a:t> 乗根</a:t>
                </a:r>
                <a:r>
                  <a:rPr lang="ja-JP" altLang="en-US" sz="2400" dirty="0"/>
                  <a:t>に対する初期値の研究</a:t>
                </a:r>
                <a:endParaRPr lang="en-US" altLang="ja-JP" sz="2400" dirty="0"/>
              </a:p>
            </p:txBody>
          </p:sp>
        </mc:Choice>
        <mc:Fallback xmlns="">
          <p:sp>
            <p:nvSpPr>
              <p:cNvPr id="7" name="文本框 6">
                <a:extLst>
                  <a:ext uri="{FF2B5EF4-FFF2-40B4-BE49-F238E27FC236}">
                    <a16:creationId xmlns:a16="http://schemas.microsoft.com/office/drawing/2014/main" id="{68EBBA8C-A242-4E1B-9019-FA1769EE3009}"/>
                  </a:ext>
                </a:extLst>
              </p:cNvPr>
              <p:cNvSpPr txBox="1">
                <a:spLocks noRot="1" noChangeAspect="1" noMove="1" noResize="1" noEditPoints="1" noAdjustHandles="1" noChangeArrowheads="1" noChangeShapeType="1" noTextEdit="1"/>
              </p:cNvSpPr>
              <p:nvPr/>
            </p:nvSpPr>
            <p:spPr>
              <a:xfrm>
                <a:off x="6240947" y="2794110"/>
                <a:ext cx="5463472" cy="461665"/>
              </a:xfrm>
              <a:prstGeom prst="rect">
                <a:avLst/>
              </a:prstGeom>
              <a:blipFill>
                <a:blip r:embed="rId3"/>
                <a:stretch>
                  <a:fillRect l="-1786" t="-7895" b="-31579"/>
                </a:stretch>
              </a:blipFill>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640B00F0-B125-45DD-B71A-1AEFE1C5E9BE}"/>
              </a:ext>
            </a:extLst>
          </p:cNvPr>
          <p:cNvSpPr txBox="1"/>
          <p:nvPr/>
        </p:nvSpPr>
        <p:spPr>
          <a:xfrm>
            <a:off x="6331896" y="3441955"/>
            <a:ext cx="5166306" cy="892552"/>
          </a:xfrm>
          <a:prstGeom prst="rect">
            <a:avLst/>
          </a:prstGeom>
          <a:noFill/>
        </p:spPr>
        <p:txBody>
          <a:bodyPr wrap="square" rtlCol="0">
            <a:spAutoFit/>
          </a:bodyPr>
          <a:lstStyle/>
          <a:p>
            <a:r>
              <a:rPr lang="ja-JP" altLang="en-US" sz="2400" dirty="0"/>
              <a:t>対象</a:t>
            </a:r>
            <a:r>
              <a:rPr lang="en-US" altLang="ja-JP" sz="2400" dirty="0"/>
              <a:t>:</a:t>
            </a:r>
          </a:p>
          <a:p>
            <a:r>
              <a:rPr lang="ja-JP" altLang="en-US" sz="2400" dirty="0"/>
              <a:t>　</a:t>
            </a:r>
            <a:r>
              <a:rPr lang="en-US" altLang="ja-JP" sz="2400" dirty="0">
                <a:solidFill>
                  <a:srgbClr val="00B050"/>
                </a:solidFill>
              </a:rPr>
              <a:t>N</a:t>
            </a:r>
            <a:r>
              <a:rPr lang="en-US" altLang="zh-CN" sz="2400" dirty="0">
                <a:solidFill>
                  <a:srgbClr val="00B050"/>
                </a:solidFill>
              </a:rPr>
              <a:t>ewton</a:t>
            </a:r>
            <a:r>
              <a:rPr lang="ja-JP" altLang="en-US" sz="2400" dirty="0">
                <a:solidFill>
                  <a:srgbClr val="00B050"/>
                </a:solidFill>
              </a:rPr>
              <a:t>法</a:t>
            </a:r>
            <a:r>
              <a:rPr lang="en-US" altLang="ja-JP" sz="2400" dirty="0"/>
              <a:t>, </a:t>
            </a:r>
            <a:r>
              <a:rPr lang="en-US" altLang="zh-CN" sz="2400" dirty="0">
                <a:solidFill>
                  <a:srgbClr val="FF0000"/>
                </a:solidFill>
              </a:rPr>
              <a:t>IN</a:t>
            </a:r>
            <a:r>
              <a:rPr lang="ja-JP" altLang="en-US" sz="2400" dirty="0">
                <a:solidFill>
                  <a:srgbClr val="FF0000"/>
                </a:solidFill>
              </a:rPr>
              <a:t>法</a:t>
            </a:r>
            <a:r>
              <a:rPr lang="en-US" altLang="ja-JP" sz="2800" baseline="30000" dirty="0"/>
              <a:t>*</a:t>
            </a:r>
            <a:endParaRPr lang="en-US" altLang="ja-JP" sz="2800" b="1" dirty="0"/>
          </a:p>
        </p:txBody>
      </p:sp>
      <p:sp>
        <p:nvSpPr>
          <p:cNvPr id="9" name="文本框 8">
            <a:extLst>
              <a:ext uri="{FF2B5EF4-FFF2-40B4-BE49-F238E27FC236}">
                <a16:creationId xmlns:a16="http://schemas.microsoft.com/office/drawing/2014/main" id="{499C4760-6AAD-4264-ABD4-84DF86ECA058}"/>
              </a:ext>
            </a:extLst>
          </p:cNvPr>
          <p:cNvSpPr txBox="1"/>
          <p:nvPr/>
        </p:nvSpPr>
        <p:spPr>
          <a:xfrm>
            <a:off x="529698" y="3445628"/>
            <a:ext cx="5204475" cy="830997"/>
          </a:xfrm>
          <a:prstGeom prst="rect">
            <a:avLst/>
          </a:prstGeom>
          <a:noFill/>
        </p:spPr>
        <p:txBody>
          <a:bodyPr wrap="square" rtlCol="0">
            <a:spAutoFit/>
          </a:bodyPr>
          <a:lstStyle/>
          <a:p>
            <a:r>
              <a:rPr lang="ja-JP" altLang="en-US" sz="2400" dirty="0"/>
              <a:t>対象</a:t>
            </a:r>
            <a:r>
              <a:rPr lang="en-US" altLang="ja-JP" sz="2400" dirty="0"/>
              <a:t>:</a:t>
            </a:r>
          </a:p>
          <a:p>
            <a:r>
              <a:rPr lang="ja-JP" altLang="en-US" sz="2400" b="0" dirty="0"/>
              <a:t>　</a:t>
            </a:r>
            <a:r>
              <a:rPr lang="en-US" altLang="zh-CN" sz="2400" dirty="0">
                <a:solidFill>
                  <a:srgbClr val="00B050"/>
                </a:solidFill>
              </a:rPr>
              <a:t>Newton</a:t>
            </a:r>
            <a:r>
              <a:rPr lang="ja-JP" altLang="en-US" sz="2400" dirty="0">
                <a:solidFill>
                  <a:srgbClr val="00B050"/>
                </a:solidFill>
              </a:rPr>
              <a:t>法</a:t>
            </a:r>
            <a:endParaRPr lang="zh-CN" altLang="en-US" sz="2400" dirty="0">
              <a:solidFill>
                <a:srgbClr val="00B050"/>
              </a:solidFill>
            </a:endParaRPr>
          </a:p>
        </p:txBody>
      </p:sp>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FB77E346-17A1-4F28-9F52-C3097A570CD1}"/>
                  </a:ext>
                </a:extLst>
              </p:cNvPr>
              <p:cNvSpPr txBox="1"/>
              <p:nvPr/>
            </p:nvSpPr>
            <p:spPr>
              <a:xfrm>
                <a:off x="1291721" y="1302065"/>
                <a:ext cx="11398735" cy="940322"/>
              </a:xfrm>
              <a:prstGeom prst="rect">
                <a:avLst/>
              </a:prstGeom>
              <a:noFill/>
            </p:spPr>
            <p:txBody>
              <a:bodyPr wrap="square" rtlCol="0">
                <a:spAutoFit/>
              </a:bodyPr>
              <a:lstStyle/>
              <a:p>
                <a:r>
                  <a:rPr lang="en-US" altLang="ja-JP" sz="2400" dirty="0"/>
                  <a:t>N</a:t>
                </a:r>
                <a:r>
                  <a:rPr lang="en-US" altLang="zh-CN" sz="2400" dirty="0"/>
                  <a:t>ewton</a:t>
                </a:r>
                <a:r>
                  <a:rPr lang="ja-JP" altLang="en-US" sz="2400" dirty="0"/>
                  <a:t>法の計算量　＝　</a:t>
                </a:r>
                <a:r>
                  <a:rPr lang="ja-JP" altLang="en-US" sz="2400" dirty="0">
                    <a:solidFill>
                      <a:srgbClr val="FF0000"/>
                    </a:solidFill>
                  </a:rPr>
                  <a:t>反復回数　    </a:t>
                </a:r>
                <a14:m>
                  <m:oMath xmlns:m="http://schemas.openxmlformats.org/officeDocument/2006/math">
                    <m:r>
                      <a:rPr lang="en-US" altLang="ja-JP" sz="2400" i="1" smtClean="0">
                        <a:solidFill>
                          <a:schemeClr val="tx1"/>
                        </a:solidFill>
                        <a:latin typeface="Cambria Math" panose="02040503050406030204" pitchFamily="18" charset="0"/>
                        <a:ea typeface="Cambria Math" panose="02040503050406030204" pitchFamily="18" charset="0"/>
                      </a:rPr>
                      <m:t>×</m:t>
                    </m:r>
                  </m:oMath>
                </a14:m>
                <a:r>
                  <a:rPr lang="ja-JP" altLang="en-US" sz="2400" dirty="0"/>
                  <a:t>　    一反復当たりの計算量</a:t>
                </a:r>
                <a:endParaRPr lang="en-US" altLang="ja-JP" sz="2400" dirty="0"/>
              </a:p>
              <a:p>
                <a:r>
                  <a:rPr lang="ja-JP" altLang="en-US" sz="2400" dirty="0">
                    <a:solidFill>
                      <a:srgbClr val="FF0000"/>
                    </a:solidFill>
                  </a:rPr>
                  <a:t>　（解と初期値の距離</a:t>
                </a:r>
                <a:r>
                  <a:rPr lang="zh-CN" altLang="en-US" sz="2400" dirty="0">
                    <a:solidFill>
                      <a:srgbClr val="FF0000"/>
                    </a:solidFill>
                  </a:rPr>
                  <a:t> </a:t>
                </a:r>
                <a14:m>
                  <m:oMath xmlns:m="http://schemas.openxmlformats.org/officeDocument/2006/math">
                    <m:sSub>
                      <m:sSubPr>
                        <m:ctrlPr>
                          <a:rPr lang="en-US" altLang="ja-JP" sz="2400" b="0" i="1" smtClean="0">
                            <a:solidFill>
                              <a:srgbClr val="FF0000"/>
                            </a:solidFill>
                            <a:latin typeface="Cambria Math" panose="02040503050406030204" pitchFamily="18" charset="0"/>
                          </a:rPr>
                        </m:ctrlPr>
                      </m:sSubPr>
                      <m:e>
                        <m:d>
                          <m:dPr>
                            <m:begChr m:val="‖"/>
                            <m:endChr m:val="‖"/>
                            <m:ctrlPr>
                              <a:rPr lang="en-US" altLang="ja-JP" sz="2400" i="1" smtClean="0">
                                <a:solidFill>
                                  <a:srgbClr val="FF0000"/>
                                </a:solidFill>
                                <a:latin typeface="Cambria Math" panose="02040503050406030204" pitchFamily="18" charset="0"/>
                              </a:rPr>
                            </m:ctrlPr>
                          </m:dPr>
                          <m:e>
                            <m:sSup>
                              <m:sSupPr>
                                <m:ctrlPr>
                                  <a:rPr lang="en-US" altLang="ja-JP" sz="2400" b="0" i="1" smtClean="0">
                                    <a:solidFill>
                                      <a:srgbClr val="FF0000"/>
                                    </a:solidFill>
                                    <a:latin typeface="Cambria Math" panose="02040503050406030204" pitchFamily="18" charset="0"/>
                                  </a:rPr>
                                </m:ctrlPr>
                              </m:sSupPr>
                              <m:e>
                                <m:r>
                                  <a:rPr lang="en-US" altLang="ja-JP" sz="2400" b="0" i="1" smtClean="0">
                                    <a:solidFill>
                                      <a:srgbClr val="FF0000"/>
                                    </a:solidFill>
                                    <a:latin typeface="Cambria Math" panose="02040503050406030204" pitchFamily="18" charset="0"/>
                                  </a:rPr>
                                  <m:t>𝐴</m:t>
                                </m:r>
                              </m:e>
                              <m:sup>
                                <m:r>
                                  <a:rPr lang="en-US" altLang="ja-JP" sz="2400" b="0" i="1" smtClean="0">
                                    <a:solidFill>
                                      <a:srgbClr val="FF0000"/>
                                    </a:solidFill>
                                    <a:latin typeface="Cambria Math" panose="02040503050406030204" pitchFamily="18" charset="0"/>
                                  </a:rPr>
                                  <m:t>1/</m:t>
                                </m:r>
                                <m:r>
                                  <a:rPr lang="en-US" altLang="ja-JP" sz="2400" b="0" i="1" smtClean="0">
                                    <a:solidFill>
                                      <a:srgbClr val="FF0000"/>
                                    </a:solidFill>
                                    <a:latin typeface="Cambria Math" panose="02040503050406030204" pitchFamily="18" charset="0"/>
                                  </a:rPr>
                                  <m:t>𝑝</m:t>
                                </m:r>
                              </m:sup>
                            </m:sSup>
                            <m:r>
                              <a:rPr lang="en-US" altLang="ja-JP" sz="2400" b="0" i="1" smtClean="0">
                                <a:solidFill>
                                  <a:srgbClr val="FF0000"/>
                                </a:solidFill>
                                <a:latin typeface="Cambria Math" panose="02040503050406030204" pitchFamily="18" charset="0"/>
                              </a:rPr>
                              <m:t>−</m:t>
                            </m:r>
                            <m:sSub>
                              <m:sSubPr>
                                <m:ctrlPr>
                                  <a:rPr lang="en-US" altLang="ja-JP" sz="2400" b="0" i="1" smtClean="0">
                                    <a:solidFill>
                                      <a:srgbClr val="FF0000"/>
                                    </a:solidFill>
                                    <a:latin typeface="Cambria Math" panose="02040503050406030204" pitchFamily="18" charset="0"/>
                                  </a:rPr>
                                </m:ctrlPr>
                              </m:sSubPr>
                              <m:e>
                                <m:r>
                                  <a:rPr lang="en-US" altLang="ja-JP" sz="2400" b="0" i="1" smtClean="0">
                                    <a:solidFill>
                                      <a:srgbClr val="FF0000"/>
                                    </a:solidFill>
                                    <a:latin typeface="Cambria Math" panose="02040503050406030204" pitchFamily="18" charset="0"/>
                                  </a:rPr>
                                  <m:t>𝑋</m:t>
                                </m:r>
                              </m:e>
                              <m:sub>
                                <m:r>
                                  <a:rPr lang="en-US" altLang="ja-JP" sz="2400" b="0" i="1" smtClean="0">
                                    <a:solidFill>
                                      <a:srgbClr val="FF0000"/>
                                    </a:solidFill>
                                    <a:latin typeface="Cambria Math" panose="02040503050406030204" pitchFamily="18" charset="0"/>
                                  </a:rPr>
                                  <m:t>0</m:t>
                                </m:r>
                              </m:sub>
                            </m:sSub>
                          </m:e>
                        </m:d>
                      </m:e>
                      <m:sub>
                        <m:r>
                          <a:rPr lang="en-US" altLang="ja-JP" sz="2400" b="0" i="1" smtClean="0">
                            <a:solidFill>
                              <a:srgbClr val="FF0000"/>
                            </a:solidFill>
                            <a:latin typeface="Cambria Math" panose="02040503050406030204" pitchFamily="18" charset="0"/>
                          </a:rPr>
                          <m:t>𝐹</m:t>
                        </m:r>
                      </m:sub>
                    </m:sSub>
                  </m:oMath>
                </a14:m>
                <a:r>
                  <a:rPr lang="ja-JP" altLang="en-US" sz="2400" dirty="0">
                    <a:solidFill>
                      <a:srgbClr val="FF0000"/>
                    </a:solidFill>
                  </a:rPr>
                  <a:t> が小さいと反復回数が減少）</a:t>
                </a:r>
                <a:r>
                  <a:rPr lang="en-US" altLang="ja-JP" sz="2400" dirty="0"/>
                  <a:t>     </a:t>
                </a:r>
                <a:r>
                  <a:rPr lang="ja-JP" altLang="en-US" sz="2400" dirty="0"/>
                  <a:t>　　　　　</a:t>
                </a:r>
                <a:endParaRPr lang="en-US" altLang="ja-JP" sz="2400" dirty="0"/>
              </a:p>
            </p:txBody>
          </p:sp>
        </mc:Choice>
        <mc:Fallback xmlns="">
          <p:sp>
            <p:nvSpPr>
              <p:cNvPr id="17" name="文本框 16">
                <a:extLst>
                  <a:ext uri="{FF2B5EF4-FFF2-40B4-BE49-F238E27FC236}">
                    <a16:creationId xmlns:a16="http://schemas.microsoft.com/office/drawing/2014/main" id="{FB77E346-17A1-4F28-9F52-C3097A570CD1}"/>
                  </a:ext>
                </a:extLst>
              </p:cNvPr>
              <p:cNvSpPr txBox="1">
                <a:spLocks noRot="1" noChangeAspect="1" noMove="1" noResize="1" noEditPoints="1" noAdjustHandles="1" noChangeArrowheads="1" noChangeShapeType="1" noTextEdit="1"/>
              </p:cNvSpPr>
              <p:nvPr/>
            </p:nvSpPr>
            <p:spPr>
              <a:xfrm>
                <a:off x="1291721" y="1302065"/>
                <a:ext cx="11398735" cy="940322"/>
              </a:xfrm>
              <a:prstGeom prst="rect">
                <a:avLst/>
              </a:prstGeom>
              <a:blipFill>
                <a:blip r:embed="rId4"/>
                <a:stretch>
                  <a:fillRect l="-856" t="-7143" b="-9091"/>
                </a:stretch>
              </a:blipFill>
            </p:spPr>
            <p:txBody>
              <a:bodyPr/>
              <a:lstStyle/>
              <a:p>
                <a:r>
                  <a:rPr lang="zh-CN" altLang="en-US">
                    <a:noFill/>
                  </a:rPr>
                  <a:t> </a:t>
                </a:r>
              </a:p>
            </p:txBody>
          </p:sp>
        </mc:Fallback>
      </mc:AlternateContent>
      <p:sp>
        <p:nvSpPr>
          <p:cNvPr id="16" name="矩形 15">
            <a:extLst>
              <a:ext uri="{FF2B5EF4-FFF2-40B4-BE49-F238E27FC236}">
                <a16:creationId xmlns:a16="http://schemas.microsoft.com/office/drawing/2014/main" id="{B52D2923-19BC-417A-B859-1541661A64FF}"/>
              </a:ext>
            </a:extLst>
          </p:cNvPr>
          <p:cNvSpPr/>
          <p:nvPr/>
        </p:nvSpPr>
        <p:spPr>
          <a:xfrm>
            <a:off x="418185" y="2526760"/>
            <a:ext cx="5463472" cy="3892328"/>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DB9620F6-B2A1-41BA-9648-118C4D10B97D}"/>
              </a:ext>
            </a:extLst>
          </p:cNvPr>
          <p:cNvSpPr txBox="1"/>
          <p:nvPr/>
        </p:nvSpPr>
        <p:spPr>
          <a:xfrm>
            <a:off x="705261" y="2299333"/>
            <a:ext cx="4104130" cy="461665"/>
          </a:xfrm>
          <a:prstGeom prst="rect">
            <a:avLst/>
          </a:prstGeom>
          <a:solidFill>
            <a:schemeClr val="bg1"/>
          </a:solidFill>
        </p:spPr>
        <p:txBody>
          <a:bodyPr wrap="square" rtlCol="0">
            <a:spAutoFit/>
          </a:bodyPr>
          <a:lstStyle/>
          <a:p>
            <a:r>
              <a:rPr lang="ja-JP" altLang="en-US" sz="2400" dirty="0"/>
              <a:t>従来研究</a:t>
            </a:r>
            <a:r>
              <a:rPr lang="en-US" altLang="ja-JP" sz="2400" dirty="0"/>
              <a:t>[Mizuno et al., 2016]</a:t>
            </a:r>
            <a:endParaRPr lang="zh-CN" altLang="en-US" sz="2400" dirty="0"/>
          </a:p>
        </p:txBody>
      </p:sp>
      <p:sp>
        <p:nvSpPr>
          <p:cNvPr id="20" name="矩形 19">
            <a:extLst>
              <a:ext uri="{FF2B5EF4-FFF2-40B4-BE49-F238E27FC236}">
                <a16:creationId xmlns:a16="http://schemas.microsoft.com/office/drawing/2014/main" id="{778D4CD2-47D2-4858-BF6F-1C37B67A9A21}"/>
              </a:ext>
            </a:extLst>
          </p:cNvPr>
          <p:cNvSpPr/>
          <p:nvPr/>
        </p:nvSpPr>
        <p:spPr>
          <a:xfrm>
            <a:off x="6240947" y="2526760"/>
            <a:ext cx="5463472" cy="3892328"/>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B0A0F5EA-7BF3-43E0-B728-8085CCA53D67}"/>
              </a:ext>
            </a:extLst>
          </p:cNvPr>
          <p:cNvSpPr txBox="1"/>
          <p:nvPr/>
        </p:nvSpPr>
        <p:spPr>
          <a:xfrm>
            <a:off x="6486053" y="2311705"/>
            <a:ext cx="1197856" cy="461665"/>
          </a:xfrm>
          <a:prstGeom prst="rect">
            <a:avLst/>
          </a:prstGeom>
          <a:solidFill>
            <a:schemeClr val="bg1"/>
          </a:solidFill>
        </p:spPr>
        <p:txBody>
          <a:bodyPr wrap="square" rtlCol="0">
            <a:spAutoFit/>
          </a:bodyPr>
          <a:lstStyle/>
          <a:p>
            <a:r>
              <a:rPr lang="ja-JP" altLang="en-US" sz="2400" b="1" dirty="0">
                <a:solidFill>
                  <a:srgbClr val="FF0000"/>
                </a:solidFill>
              </a:rPr>
              <a:t>本研究</a:t>
            </a:r>
            <a:endParaRPr lang="zh-CN" altLang="en-US" sz="2400" b="1" dirty="0">
              <a:solidFill>
                <a:srgbClr val="FF0000"/>
              </a:solidFill>
            </a:endParaRPr>
          </a:p>
        </p:txBody>
      </p:sp>
      <p:sp>
        <p:nvSpPr>
          <p:cNvPr id="24" name="文本框 23">
            <a:extLst>
              <a:ext uri="{FF2B5EF4-FFF2-40B4-BE49-F238E27FC236}">
                <a16:creationId xmlns:a16="http://schemas.microsoft.com/office/drawing/2014/main" id="{443CC8B0-6FAF-44D7-B1D7-04A4CDC0B3F0}"/>
              </a:ext>
            </a:extLst>
          </p:cNvPr>
          <p:cNvSpPr txBox="1"/>
          <p:nvPr/>
        </p:nvSpPr>
        <p:spPr>
          <a:xfrm>
            <a:off x="6181041" y="6430031"/>
            <a:ext cx="6390696" cy="400110"/>
          </a:xfrm>
          <a:prstGeom prst="rect">
            <a:avLst/>
          </a:prstGeom>
          <a:noFill/>
        </p:spPr>
        <p:txBody>
          <a:bodyPr wrap="square">
            <a:spAutoFit/>
          </a:bodyPr>
          <a:lstStyle/>
          <a:p>
            <a:r>
              <a:rPr lang="en-US" altLang="ja-JP" sz="2000" dirty="0"/>
              <a:t>*</a:t>
            </a:r>
            <a:r>
              <a:rPr lang="en-US" altLang="ja-JP" sz="2000" dirty="0" err="1"/>
              <a:t>Tatsuoka</a:t>
            </a:r>
            <a:r>
              <a:rPr lang="ja-JP" altLang="en-US" sz="2000" dirty="0"/>
              <a:t>らの方法は</a:t>
            </a:r>
            <a:r>
              <a:rPr lang="en-US" altLang="ja-JP" sz="2000" dirty="0"/>
              <a:t>IN</a:t>
            </a:r>
            <a:r>
              <a:rPr lang="ja-JP" altLang="en-US" sz="2000" dirty="0"/>
              <a:t>法と同値</a:t>
            </a:r>
            <a:endParaRPr lang="zh-CN" altLang="en-US" sz="2000" dirty="0"/>
          </a:p>
        </p:txBody>
      </p:sp>
      <p:grpSp>
        <p:nvGrpSpPr>
          <p:cNvPr id="4" name="组合 3">
            <a:extLst>
              <a:ext uri="{FF2B5EF4-FFF2-40B4-BE49-F238E27FC236}">
                <a16:creationId xmlns:a16="http://schemas.microsoft.com/office/drawing/2014/main" id="{37EDE772-3BC9-4316-A549-64EDE0E7FD30}"/>
              </a:ext>
            </a:extLst>
          </p:cNvPr>
          <p:cNvGrpSpPr/>
          <p:nvPr/>
        </p:nvGrpSpPr>
        <p:grpSpPr>
          <a:xfrm>
            <a:off x="553996" y="4468987"/>
            <a:ext cx="5394076" cy="533359"/>
            <a:chOff x="553996" y="4484143"/>
            <a:chExt cx="5394076" cy="533359"/>
          </a:xfrm>
        </p:grpSpPr>
        <p:sp>
          <p:nvSpPr>
            <p:cNvPr id="18" name="テキスト ボックス 17">
              <a:extLst>
                <a:ext uri="{FF2B5EF4-FFF2-40B4-BE49-F238E27FC236}">
                  <a16:creationId xmlns:a16="http://schemas.microsoft.com/office/drawing/2014/main" id="{C1C9BC8C-1D73-44BE-BADE-C24D3D38A46B}"/>
                </a:ext>
              </a:extLst>
            </p:cNvPr>
            <p:cNvSpPr txBox="1"/>
            <p:nvPr/>
          </p:nvSpPr>
          <p:spPr>
            <a:xfrm>
              <a:off x="3586599" y="4555837"/>
              <a:ext cx="2361473" cy="461665"/>
            </a:xfrm>
            <a:prstGeom prst="rect">
              <a:avLst/>
            </a:prstGeom>
            <a:noFill/>
          </p:spPr>
          <p:txBody>
            <a:bodyPr wrap="square">
              <a:spAutoFit/>
            </a:bodyPr>
            <a:lstStyle/>
            <a:p>
              <a:r>
                <a:rPr lang="ja-JP" altLang="en-US" sz="2400" dirty="0"/>
                <a:t>反復回数の削減</a:t>
              </a:r>
              <a:endParaRPr lang="en-US" altLang="ja-JP" sz="2400" dirty="0"/>
            </a:p>
          </p:txBody>
        </p:sp>
        <p:sp>
          <p:nvSpPr>
            <p:cNvPr id="22" name="矢印: 右 21">
              <a:extLst>
                <a:ext uri="{FF2B5EF4-FFF2-40B4-BE49-F238E27FC236}">
                  <a16:creationId xmlns:a16="http://schemas.microsoft.com/office/drawing/2014/main" id="{3732B6A6-3D06-4853-9DE4-5C579FE58A97}"/>
                </a:ext>
              </a:extLst>
            </p:cNvPr>
            <p:cNvSpPr/>
            <p:nvPr/>
          </p:nvSpPr>
          <p:spPr>
            <a:xfrm>
              <a:off x="2885991" y="4555837"/>
              <a:ext cx="788487" cy="34394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solidFill>
                  <a:schemeClr val="bg1"/>
                </a:solidFill>
              </a:endParaRPr>
            </a:p>
          </p:txBody>
        </p:sp>
        <p:pic>
          <p:nvPicPr>
            <p:cNvPr id="11" name="图片 10">
              <a:extLst>
                <a:ext uri="{FF2B5EF4-FFF2-40B4-BE49-F238E27FC236}">
                  <a16:creationId xmlns:a16="http://schemas.microsoft.com/office/drawing/2014/main" id="{094E24FF-517D-4A46-BC9D-AEA62A4B037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3996" y="4484143"/>
              <a:ext cx="2262599" cy="517312"/>
            </a:xfrm>
            <a:prstGeom prst="rect">
              <a:avLst/>
            </a:prstGeom>
          </p:spPr>
        </p:pic>
      </p:grpSp>
      <p:grpSp>
        <p:nvGrpSpPr>
          <p:cNvPr id="40" name="グループ化 39">
            <a:extLst>
              <a:ext uri="{FF2B5EF4-FFF2-40B4-BE49-F238E27FC236}">
                <a16:creationId xmlns:a16="http://schemas.microsoft.com/office/drawing/2014/main" id="{0F2B7818-DF6C-4595-B928-7B0D3CCD17CE}"/>
              </a:ext>
            </a:extLst>
          </p:cNvPr>
          <p:cNvGrpSpPr/>
          <p:nvPr/>
        </p:nvGrpSpPr>
        <p:grpSpPr>
          <a:xfrm>
            <a:off x="2303682" y="3723275"/>
            <a:ext cx="1985410" cy="712323"/>
            <a:chOff x="2303682" y="3723275"/>
            <a:chExt cx="1985410" cy="712323"/>
          </a:xfrm>
        </p:grpSpPr>
        <p:cxnSp>
          <p:nvCxnSpPr>
            <p:cNvPr id="25" name="直接箭头连接符 24">
              <a:extLst>
                <a:ext uri="{FF2B5EF4-FFF2-40B4-BE49-F238E27FC236}">
                  <a16:creationId xmlns:a16="http://schemas.microsoft.com/office/drawing/2014/main" id="{1AC413C6-5D60-4BB6-9DBE-CEB5F8EA288F}"/>
                </a:ext>
              </a:extLst>
            </p:cNvPr>
            <p:cNvCxnSpPr>
              <a:cxnSpLocks/>
              <a:stCxn id="26" idx="1"/>
            </p:cNvCxnSpPr>
            <p:nvPr/>
          </p:nvCxnSpPr>
          <p:spPr>
            <a:xfrm flipH="1">
              <a:off x="2303682" y="3923330"/>
              <a:ext cx="727478" cy="51226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6" name="文本框 25">
              <a:extLst>
                <a:ext uri="{FF2B5EF4-FFF2-40B4-BE49-F238E27FC236}">
                  <a16:creationId xmlns:a16="http://schemas.microsoft.com/office/drawing/2014/main" id="{C3D400DE-F72C-4D8B-BC8D-8FC570380E20}"/>
                </a:ext>
              </a:extLst>
            </p:cNvPr>
            <p:cNvSpPr txBox="1"/>
            <p:nvPr/>
          </p:nvSpPr>
          <p:spPr>
            <a:xfrm>
              <a:off x="3031160" y="3723275"/>
              <a:ext cx="1257932" cy="400110"/>
            </a:xfrm>
            <a:prstGeom prst="rect">
              <a:avLst/>
            </a:prstGeom>
            <a:noFill/>
          </p:spPr>
          <p:txBody>
            <a:bodyPr wrap="square" rtlCol="0">
              <a:spAutoFit/>
            </a:bodyPr>
            <a:lstStyle/>
            <a:p>
              <a:r>
                <a:rPr lang="ja-JP" altLang="en-US" sz="2000" dirty="0">
                  <a:solidFill>
                    <a:srgbClr val="0070C0"/>
                  </a:solidFill>
                </a:rPr>
                <a:t>残差最小</a:t>
              </a:r>
              <a:endParaRPr lang="zh-CN" altLang="en-US" sz="2000" dirty="0">
                <a:solidFill>
                  <a:srgbClr val="0070C0"/>
                </a:solidFill>
              </a:endParaRPr>
            </a:p>
          </p:txBody>
        </p:sp>
      </p:grpSp>
      <p:grpSp>
        <p:nvGrpSpPr>
          <p:cNvPr id="35" name="グループ化 34">
            <a:extLst>
              <a:ext uri="{FF2B5EF4-FFF2-40B4-BE49-F238E27FC236}">
                <a16:creationId xmlns:a16="http://schemas.microsoft.com/office/drawing/2014/main" id="{3AA7906A-BFC6-44C6-950C-12355E428DCF}"/>
              </a:ext>
            </a:extLst>
          </p:cNvPr>
          <p:cNvGrpSpPr/>
          <p:nvPr/>
        </p:nvGrpSpPr>
        <p:grpSpPr>
          <a:xfrm>
            <a:off x="553996" y="5115683"/>
            <a:ext cx="5268295" cy="991905"/>
            <a:chOff x="553996" y="5115683"/>
            <a:chExt cx="5268295" cy="991905"/>
          </a:xfrm>
        </p:grpSpPr>
        <p:pic>
          <p:nvPicPr>
            <p:cNvPr id="10" name="図 9">
              <a:extLst>
                <a:ext uri="{FF2B5EF4-FFF2-40B4-BE49-F238E27FC236}">
                  <a16:creationId xmlns:a16="http://schemas.microsoft.com/office/drawing/2014/main" id="{5F9106E8-53DB-4176-9158-8A31517CD05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53996" y="5115683"/>
              <a:ext cx="2555474" cy="625115"/>
            </a:xfrm>
            <a:prstGeom prst="rect">
              <a:avLst/>
            </a:prstGeom>
          </p:spPr>
        </p:pic>
        <p:pic>
          <p:nvPicPr>
            <p:cNvPr id="21" name="図 20">
              <a:extLst>
                <a:ext uri="{FF2B5EF4-FFF2-40B4-BE49-F238E27FC236}">
                  <a16:creationId xmlns:a16="http://schemas.microsoft.com/office/drawing/2014/main" id="{CA401359-5C8E-4B07-B318-B34AD6B8FC2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91456" y="5827601"/>
              <a:ext cx="1343435" cy="229065"/>
            </a:xfrm>
            <a:prstGeom prst="rect">
              <a:avLst/>
            </a:prstGeom>
          </p:spPr>
        </p:pic>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101D5CD0-41C8-4ABB-B471-BBBFD5E0B447}"/>
                    </a:ext>
                  </a:extLst>
                </p:cNvPr>
                <p:cNvSpPr txBox="1"/>
                <p:nvPr/>
              </p:nvSpPr>
              <p:spPr>
                <a:xfrm>
                  <a:off x="4034766" y="5738256"/>
                  <a:ext cx="1787525" cy="369332"/>
                </a:xfrm>
                <a:prstGeom prst="rect">
                  <a:avLst/>
                </a:prstGeom>
                <a:noFill/>
                <a:ln w="19050">
                  <a:solidFill>
                    <a:srgbClr val="FF00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𝑋</m:t>
                            </m:r>
                          </m:e>
                          <m:sub>
                            <m:r>
                              <a:rPr lang="en-US" altLang="zh-CN" b="0" i="1" smtClean="0">
                                <a:latin typeface="Cambria Math" panose="02040503050406030204" pitchFamily="18" charset="0"/>
                              </a:rPr>
                              <m:t>0</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0</m:t>
                            </m:r>
                          </m:sub>
                        </m:sSub>
                        <m:r>
                          <a:rPr lang="en-US" altLang="zh-CN" b="0" i="1" smtClean="0">
                            <a:latin typeface="Cambria Math" panose="02040503050406030204" pitchFamily="18" charset="0"/>
                          </a:rPr>
                          <m:t>𝐼</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𝐴</m:t>
                        </m:r>
                      </m:oMath>
                    </m:oMathPara>
                  </a14:m>
                  <a:endParaRPr lang="zh-CN" altLang="en-US" dirty="0"/>
                </a:p>
              </p:txBody>
            </p:sp>
          </mc:Choice>
          <mc:Fallback xmlns="">
            <p:sp>
              <p:nvSpPr>
                <p:cNvPr id="31" name="文本框 30">
                  <a:extLst>
                    <a:ext uri="{FF2B5EF4-FFF2-40B4-BE49-F238E27FC236}">
                      <a16:creationId xmlns:a16="http://schemas.microsoft.com/office/drawing/2014/main" id="{101D5CD0-41C8-4ABB-B471-BBBFD5E0B447}"/>
                    </a:ext>
                  </a:extLst>
                </p:cNvPr>
                <p:cNvSpPr txBox="1">
                  <a:spLocks noRot="1" noChangeAspect="1" noMove="1" noResize="1" noEditPoints="1" noAdjustHandles="1" noChangeArrowheads="1" noChangeShapeType="1" noTextEdit="1"/>
                </p:cNvSpPr>
                <p:nvPr/>
              </p:nvSpPr>
              <p:spPr>
                <a:xfrm>
                  <a:off x="4034766" y="5738256"/>
                  <a:ext cx="1787525" cy="369332"/>
                </a:xfrm>
                <a:prstGeom prst="rect">
                  <a:avLst/>
                </a:prstGeom>
                <a:blipFill>
                  <a:blip r:embed="rId8"/>
                  <a:stretch>
                    <a:fillRect/>
                  </a:stretch>
                </a:blipFill>
                <a:ln w="19050">
                  <a:solidFill>
                    <a:srgbClr val="FF00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文本框 32">
                  <a:extLst>
                    <a:ext uri="{FF2B5EF4-FFF2-40B4-BE49-F238E27FC236}">
                      <a16:creationId xmlns:a16="http://schemas.microsoft.com/office/drawing/2014/main" id="{2D6AC188-DE91-419C-AECB-E41010B597B5}"/>
                    </a:ext>
                  </a:extLst>
                </p:cNvPr>
                <p:cNvSpPr txBox="1"/>
                <p:nvPr/>
              </p:nvSpPr>
              <p:spPr>
                <a:xfrm>
                  <a:off x="4039764" y="5279077"/>
                  <a:ext cx="1173484" cy="369332"/>
                </a:xfrm>
                <a:prstGeom prst="rect">
                  <a:avLst/>
                </a:prstGeom>
                <a:noFill/>
                <a:ln w="19050">
                  <a:solidFill>
                    <a:srgbClr val="FF00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𝑋</m:t>
                            </m:r>
                          </m:e>
                          <m:sub>
                            <m:r>
                              <a:rPr lang="en-US" altLang="zh-CN" b="0" i="1" smtClean="0">
                                <a:latin typeface="Cambria Math" panose="02040503050406030204" pitchFamily="18" charset="0"/>
                              </a:rPr>
                              <m:t>0</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0</m:t>
                            </m:r>
                          </m:sub>
                        </m:sSub>
                        <m:r>
                          <a:rPr lang="en-US" altLang="zh-CN" b="0" i="1" smtClean="0">
                            <a:latin typeface="Cambria Math" panose="02040503050406030204" pitchFamily="18" charset="0"/>
                          </a:rPr>
                          <m:t>𝐼</m:t>
                        </m:r>
                      </m:oMath>
                    </m:oMathPara>
                  </a14:m>
                  <a:endParaRPr lang="zh-CN" altLang="en-US" dirty="0"/>
                </a:p>
              </p:txBody>
            </p:sp>
          </mc:Choice>
          <mc:Fallback xmlns="">
            <p:sp>
              <p:nvSpPr>
                <p:cNvPr id="33" name="文本框 32">
                  <a:extLst>
                    <a:ext uri="{FF2B5EF4-FFF2-40B4-BE49-F238E27FC236}">
                      <a16:creationId xmlns:a16="http://schemas.microsoft.com/office/drawing/2014/main" id="{2D6AC188-DE91-419C-AECB-E41010B597B5}"/>
                    </a:ext>
                  </a:extLst>
                </p:cNvPr>
                <p:cNvSpPr txBox="1">
                  <a:spLocks noRot="1" noChangeAspect="1" noMove="1" noResize="1" noEditPoints="1" noAdjustHandles="1" noChangeArrowheads="1" noChangeShapeType="1" noTextEdit="1"/>
                </p:cNvSpPr>
                <p:nvPr/>
              </p:nvSpPr>
              <p:spPr>
                <a:xfrm>
                  <a:off x="4039764" y="5279077"/>
                  <a:ext cx="1173484" cy="369332"/>
                </a:xfrm>
                <a:prstGeom prst="rect">
                  <a:avLst/>
                </a:prstGeom>
                <a:blipFill>
                  <a:blip r:embed="rId9"/>
                  <a:stretch>
                    <a:fillRect/>
                  </a:stretch>
                </a:blipFill>
                <a:ln w="19050">
                  <a:solidFill>
                    <a:srgbClr val="FF0000"/>
                  </a:solidFill>
                </a:ln>
              </p:spPr>
              <p:txBody>
                <a:bodyPr/>
                <a:lstStyle/>
                <a:p>
                  <a:r>
                    <a:rPr lang="en-US">
                      <a:noFill/>
                    </a:rPr>
                    <a:t> </a:t>
                  </a:r>
                </a:p>
              </p:txBody>
            </p:sp>
          </mc:Fallback>
        </mc:AlternateContent>
        <p:sp>
          <p:nvSpPr>
            <p:cNvPr id="34" name="箭头: 右 33">
              <a:extLst>
                <a:ext uri="{FF2B5EF4-FFF2-40B4-BE49-F238E27FC236}">
                  <a16:creationId xmlns:a16="http://schemas.microsoft.com/office/drawing/2014/main" id="{8C936169-7EEE-40A9-A187-D00810770F3C}"/>
                </a:ext>
              </a:extLst>
            </p:cNvPr>
            <p:cNvSpPr/>
            <p:nvPr/>
          </p:nvSpPr>
          <p:spPr>
            <a:xfrm>
              <a:off x="3309214" y="5464999"/>
              <a:ext cx="631022" cy="463755"/>
            </a:xfrm>
            <a:prstGeom prst="rightArrow">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39" name="グループ化 38">
            <a:extLst>
              <a:ext uri="{FF2B5EF4-FFF2-40B4-BE49-F238E27FC236}">
                <a16:creationId xmlns:a16="http://schemas.microsoft.com/office/drawing/2014/main" id="{AF1175C7-28E2-4EA3-A80D-5342825EEEF3}"/>
              </a:ext>
            </a:extLst>
          </p:cNvPr>
          <p:cNvGrpSpPr/>
          <p:nvPr/>
        </p:nvGrpSpPr>
        <p:grpSpPr>
          <a:xfrm>
            <a:off x="6371448" y="5044955"/>
            <a:ext cx="4778259" cy="855642"/>
            <a:chOff x="6371448" y="5044955"/>
            <a:chExt cx="4778259" cy="855642"/>
          </a:xfrm>
        </p:grpSpPr>
        <p:pic>
          <p:nvPicPr>
            <p:cNvPr id="30" name="図 29">
              <a:extLst>
                <a:ext uri="{FF2B5EF4-FFF2-40B4-BE49-F238E27FC236}">
                  <a16:creationId xmlns:a16="http://schemas.microsoft.com/office/drawing/2014/main" id="{D3C622F9-7FD5-4185-A26D-B22852B5803F}"/>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399740" y="5714670"/>
              <a:ext cx="634721" cy="185927"/>
            </a:xfrm>
            <a:prstGeom prst="rect">
              <a:avLst/>
            </a:prstGeom>
          </p:spPr>
        </p:pic>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14FE69E7-CF49-4B26-A662-F864B699FBAC}"/>
                    </a:ext>
                  </a:extLst>
                </p:cNvPr>
                <p:cNvSpPr txBox="1"/>
                <p:nvPr/>
              </p:nvSpPr>
              <p:spPr>
                <a:xfrm>
                  <a:off x="9847149" y="5466614"/>
                  <a:ext cx="1302558" cy="369332"/>
                </a:xfrm>
                <a:prstGeom prst="rect">
                  <a:avLst/>
                </a:prstGeom>
                <a:noFill/>
                <a:ln w="19050">
                  <a:solidFill>
                    <a:srgbClr val="FF00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𝑋</m:t>
                            </m:r>
                          </m:e>
                          <m:sub>
                            <m:r>
                              <a:rPr lang="en-US" altLang="zh-CN" b="0" i="1" smtClean="0">
                                <a:latin typeface="Cambria Math" panose="02040503050406030204" pitchFamily="18" charset="0"/>
                              </a:rPr>
                              <m:t>0</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0</m:t>
                            </m:r>
                          </m:sub>
                        </m:sSub>
                        <m:r>
                          <a:rPr lang="en-US" altLang="zh-CN" b="0" i="1" smtClean="0">
                            <a:latin typeface="Cambria Math" panose="02040503050406030204" pitchFamily="18" charset="0"/>
                          </a:rPr>
                          <m:t>𝐼</m:t>
                        </m:r>
                      </m:oMath>
                    </m:oMathPara>
                  </a14:m>
                  <a:endParaRPr lang="zh-CN" altLang="en-US" dirty="0"/>
                </a:p>
              </p:txBody>
            </p:sp>
          </mc:Choice>
          <mc:Fallback xmlns="">
            <p:sp>
              <p:nvSpPr>
                <p:cNvPr id="32" name="文本框 31">
                  <a:extLst>
                    <a:ext uri="{FF2B5EF4-FFF2-40B4-BE49-F238E27FC236}">
                      <a16:creationId xmlns:a16="http://schemas.microsoft.com/office/drawing/2014/main" id="{14FE69E7-CF49-4B26-A662-F864B699FBAC}"/>
                    </a:ext>
                  </a:extLst>
                </p:cNvPr>
                <p:cNvSpPr txBox="1">
                  <a:spLocks noRot="1" noChangeAspect="1" noMove="1" noResize="1" noEditPoints="1" noAdjustHandles="1" noChangeArrowheads="1" noChangeShapeType="1" noTextEdit="1"/>
                </p:cNvSpPr>
                <p:nvPr/>
              </p:nvSpPr>
              <p:spPr>
                <a:xfrm>
                  <a:off x="9847149" y="5466614"/>
                  <a:ext cx="1302558" cy="369332"/>
                </a:xfrm>
                <a:prstGeom prst="rect">
                  <a:avLst/>
                </a:prstGeom>
                <a:blipFill>
                  <a:blip r:embed="rId11"/>
                  <a:stretch>
                    <a:fillRect/>
                  </a:stretch>
                </a:blipFill>
                <a:ln w="19050">
                  <a:solidFill>
                    <a:srgbClr val="FF0000"/>
                  </a:solidFill>
                </a:ln>
              </p:spPr>
              <p:txBody>
                <a:bodyPr/>
                <a:lstStyle/>
                <a:p>
                  <a:r>
                    <a:rPr lang="en-US">
                      <a:noFill/>
                    </a:rPr>
                    <a:t> </a:t>
                  </a:r>
                </a:p>
              </p:txBody>
            </p:sp>
          </mc:Fallback>
        </mc:AlternateContent>
        <p:pic>
          <p:nvPicPr>
            <p:cNvPr id="36" name="図 9">
              <a:extLst>
                <a:ext uri="{FF2B5EF4-FFF2-40B4-BE49-F238E27FC236}">
                  <a16:creationId xmlns:a16="http://schemas.microsoft.com/office/drawing/2014/main" id="{F9B9A543-9DAA-4027-A77F-34FFD201C2C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71448" y="5044955"/>
              <a:ext cx="2555474" cy="625115"/>
            </a:xfrm>
            <a:prstGeom prst="rect">
              <a:avLst/>
            </a:prstGeom>
          </p:spPr>
        </p:pic>
        <p:sp>
          <p:nvSpPr>
            <p:cNvPr id="37" name="箭头: 右 36">
              <a:extLst>
                <a:ext uri="{FF2B5EF4-FFF2-40B4-BE49-F238E27FC236}">
                  <a16:creationId xmlns:a16="http://schemas.microsoft.com/office/drawing/2014/main" id="{52D7FA7D-E0F8-4E98-97EF-BFDA4A257C99}"/>
                </a:ext>
              </a:extLst>
            </p:cNvPr>
            <p:cNvSpPr/>
            <p:nvPr/>
          </p:nvSpPr>
          <p:spPr>
            <a:xfrm>
              <a:off x="9084304" y="5407650"/>
              <a:ext cx="631022" cy="463755"/>
            </a:xfrm>
            <a:prstGeom prst="rightArrow">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mc:AlternateContent xmlns:mc="http://schemas.openxmlformats.org/markup-compatibility/2006" xmlns:a14="http://schemas.microsoft.com/office/drawing/2010/main">
        <mc:Choice Requires="a14">
          <p:sp>
            <p:nvSpPr>
              <p:cNvPr id="38" name="文本框 37">
                <a:extLst>
                  <a:ext uri="{FF2B5EF4-FFF2-40B4-BE49-F238E27FC236}">
                    <a16:creationId xmlns:a16="http://schemas.microsoft.com/office/drawing/2014/main" id="{0FC82547-C6F2-4DBF-ADF1-53566E39D82D}"/>
                  </a:ext>
                </a:extLst>
              </p:cNvPr>
              <p:cNvSpPr txBox="1"/>
              <p:nvPr/>
            </p:nvSpPr>
            <p:spPr>
              <a:xfrm>
                <a:off x="6358566" y="5987601"/>
                <a:ext cx="5298375" cy="400110"/>
              </a:xfrm>
              <a:prstGeom prst="rect">
                <a:avLst/>
              </a:prstGeom>
              <a:noFill/>
            </p:spPr>
            <p:txBody>
              <a:bodyPr wrap="square" rtlCol="0">
                <a:spAutoFit/>
              </a:bodyPr>
              <a:lstStyle/>
              <a:p>
                <a:r>
                  <a:rPr lang="ja-JP" altLang="en-US" sz="2000" dirty="0">
                    <a:solidFill>
                      <a:srgbClr val="FF0000"/>
                    </a:solidFill>
                  </a:rPr>
                  <a:t>今回は最適化問題を解かずに</a:t>
                </a:r>
                <a14:m>
                  <m:oMath xmlns:m="http://schemas.openxmlformats.org/officeDocument/2006/math">
                    <m:sSub>
                      <m:sSubPr>
                        <m:ctrlPr>
                          <a:rPr lang="en-US" altLang="ja-JP" sz="2000" b="0" i="1" smtClean="0">
                            <a:solidFill>
                              <a:srgbClr val="FF0000"/>
                            </a:solidFill>
                            <a:latin typeface="Cambria Math" panose="02040503050406030204" pitchFamily="18" charset="0"/>
                          </a:rPr>
                        </m:ctrlPr>
                      </m:sSubPr>
                      <m:e>
                        <m:r>
                          <a:rPr lang="en-US" altLang="ja-JP" sz="2000" b="0" i="1" smtClean="0">
                            <a:solidFill>
                              <a:srgbClr val="FF0000"/>
                            </a:solidFill>
                            <a:latin typeface="Cambria Math" panose="02040503050406030204" pitchFamily="18" charset="0"/>
                          </a:rPr>
                          <m:t>𝑐</m:t>
                        </m:r>
                      </m:e>
                      <m:sub>
                        <m:r>
                          <a:rPr lang="en-US" altLang="ja-JP" sz="2000" b="0" i="1" smtClean="0">
                            <a:solidFill>
                              <a:srgbClr val="FF0000"/>
                            </a:solidFill>
                            <a:latin typeface="Cambria Math" panose="02040503050406030204" pitchFamily="18" charset="0"/>
                          </a:rPr>
                          <m:t>0</m:t>
                        </m:r>
                      </m:sub>
                    </m:sSub>
                  </m:oMath>
                </a14:m>
                <a:r>
                  <a:rPr lang="ja-JP" altLang="en-US" sz="2000" dirty="0">
                    <a:solidFill>
                      <a:srgbClr val="FF0000"/>
                    </a:solidFill>
                  </a:rPr>
                  <a:t>を変化させる</a:t>
                </a:r>
                <a:endParaRPr lang="zh-CN" altLang="en-US" sz="2000" dirty="0">
                  <a:solidFill>
                    <a:srgbClr val="FF0000"/>
                  </a:solidFill>
                </a:endParaRPr>
              </a:p>
            </p:txBody>
          </p:sp>
        </mc:Choice>
        <mc:Fallback xmlns="">
          <p:sp>
            <p:nvSpPr>
              <p:cNvPr id="38" name="文本框 37">
                <a:extLst>
                  <a:ext uri="{FF2B5EF4-FFF2-40B4-BE49-F238E27FC236}">
                    <a16:creationId xmlns:a16="http://schemas.microsoft.com/office/drawing/2014/main" id="{0FC82547-C6F2-4DBF-ADF1-53566E39D82D}"/>
                  </a:ext>
                </a:extLst>
              </p:cNvPr>
              <p:cNvSpPr txBox="1">
                <a:spLocks noRot="1" noChangeAspect="1" noMove="1" noResize="1" noEditPoints="1" noAdjustHandles="1" noChangeArrowheads="1" noChangeShapeType="1" noTextEdit="1"/>
              </p:cNvSpPr>
              <p:nvPr/>
            </p:nvSpPr>
            <p:spPr>
              <a:xfrm>
                <a:off x="6358566" y="5987601"/>
                <a:ext cx="5298375" cy="400110"/>
              </a:xfrm>
              <a:prstGeom prst="rect">
                <a:avLst/>
              </a:prstGeom>
              <a:blipFill>
                <a:blip r:embed="rId13"/>
                <a:stretch>
                  <a:fillRect l="-1151" t="-7576" r="-575" b="-25758"/>
                </a:stretch>
              </a:blipFill>
            </p:spPr>
            <p:txBody>
              <a:bodyPr/>
              <a:lstStyle/>
              <a:p>
                <a:r>
                  <a:rPr lang="zh-CN" altLang="en-US">
                    <a:noFill/>
                  </a:rPr>
                  <a:t> </a:t>
                </a:r>
              </a:p>
            </p:txBody>
          </p:sp>
        </mc:Fallback>
      </mc:AlternateContent>
      <p:grpSp>
        <p:nvGrpSpPr>
          <p:cNvPr id="29" name="グループ化 28">
            <a:extLst>
              <a:ext uri="{FF2B5EF4-FFF2-40B4-BE49-F238E27FC236}">
                <a16:creationId xmlns:a16="http://schemas.microsoft.com/office/drawing/2014/main" id="{EAC2D7FC-6EFD-4ECD-8616-87CBF4ADBF2B}"/>
              </a:ext>
            </a:extLst>
          </p:cNvPr>
          <p:cNvGrpSpPr/>
          <p:nvPr/>
        </p:nvGrpSpPr>
        <p:grpSpPr>
          <a:xfrm>
            <a:off x="6307362" y="4497089"/>
            <a:ext cx="5296937" cy="489768"/>
            <a:chOff x="6307362" y="4497089"/>
            <a:chExt cx="5296937" cy="489768"/>
          </a:xfrm>
        </p:grpSpPr>
        <p:grpSp>
          <p:nvGrpSpPr>
            <p:cNvPr id="12" name="组合 11">
              <a:extLst>
                <a:ext uri="{FF2B5EF4-FFF2-40B4-BE49-F238E27FC236}">
                  <a16:creationId xmlns:a16="http://schemas.microsoft.com/office/drawing/2014/main" id="{3A5A863F-E721-4ADF-9659-D504C79DC83F}"/>
                </a:ext>
              </a:extLst>
            </p:cNvPr>
            <p:cNvGrpSpPr/>
            <p:nvPr/>
          </p:nvGrpSpPr>
          <p:grpSpPr>
            <a:xfrm>
              <a:off x="8793774" y="4497089"/>
              <a:ext cx="2810525" cy="461665"/>
              <a:chOff x="8793774" y="4517297"/>
              <a:chExt cx="2810525" cy="461665"/>
            </a:xfrm>
          </p:grpSpPr>
          <p:sp>
            <p:nvSpPr>
              <p:cNvPr id="27" name="テキスト ボックス 26">
                <a:extLst>
                  <a:ext uri="{FF2B5EF4-FFF2-40B4-BE49-F238E27FC236}">
                    <a16:creationId xmlns:a16="http://schemas.microsoft.com/office/drawing/2014/main" id="{59089E32-A442-4C5D-A3DB-05946A8369BD}"/>
                  </a:ext>
                </a:extLst>
              </p:cNvPr>
              <p:cNvSpPr txBox="1"/>
              <p:nvPr/>
            </p:nvSpPr>
            <p:spPr>
              <a:xfrm>
                <a:off x="9781474" y="4517297"/>
                <a:ext cx="1822825" cy="461665"/>
              </a:xfrm>
              <a:prstGeom prst="rect">
                <a:avLst/>
              </a:prstGeom>
              <a:noFill/>
            </p:spPr>
            <p:txBody>
              <a:bodyPr wrap="square">
                <a:spAutoFit/>
              </a:bodyPr>
              <a:lstStyle/>
              <a:p>
                <a:pPr algn="ctr"/>
                <a:r>
                  <a:rPr lang="ja-JP" altLang="en-US" sz="2400" b="1" dirty="0"/>
                  <a:t>未知</a:t>
                </a:r>
                <a:r>
                  <a:rPr lang="zh-CN" altLang="en-US" sz="2400" b="1" dirty="0"/>
                  <a:t>（</a:t>
                </a:r>
                <a:r>
                  <a:rPr lang="ja-JP" altLang="en-US" sz="2400" b="1" dirty="0"/>
                  <a:t>調査</a:t>
                </a:r>
                <a:r>
                  <a:rPr lang="zh-CN" altLang="en-US" sz="2400" b="1" dirty="0"/>
                  <a:t>）</a:t>
                </a:r>
                <a:endParaRPr lang="en-US" altLang="ja-JP" sz="2400" b="1" dirty="0"/>
              </a:p>
            </p:txBody>
          </p:sp>
          <p:sp>
            <p:nvSpPr>
              <p:cNvPr id="28" name="矢印: 右 27">
                <a:extLst>
                  <a:ext uri="{FF2B5EF4-FFF2-40B4-BE49-F238E27FC236}">
                    <a16:creationId xmlns:a16="http://schemas.microsoft.com/office/drawing/2014/main" id="{4E37ACA0-2FE0-4CA3-AB6D-8E9F5A433546}"/>
                  </a:ext>
                </a:extLst>
              </p:cNvPr>
              <p:cNvSpPr/>
              <p:nvPr/>
            </p:nvSpPr>
            <p:spPr>
              <a:xfrm>
                <a:off x="8793774" y="4555837"/>
                <a:ext cx="884078" cy="34394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solidFill>
                    <a:schemeClr val="bg1"/>
                  </a:solidFill>
                </a:endParaRPr>
              </a:p>
            </p:txBody>
          </p:sp>
        </p:grpSp>
        <p:pic>
          <p:nvPicPr>
            <p:cNvPr id="23" name="図 22">
              <a:extLst>
                <a:ext uri="{FF2B5EF4-FFF2-40B4-BE49-F238E27FC236}">
                  <a16:creationId xmlns:a16="http://schemas.microsoft.com/office/drawing/2014/main" id="{733FFD33-8487-4377-8120-0D65CACA96BB}"/>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6307362" y="4508220"/>
              <a:ext cx="2400662" cy="478637"/>
            </a:xfrm>
            <a:prstGeom prst="rect">
              <a:avLst/>
            </a:prstGeom>
          </p:spPr>
        </p:pic>
      </p:grpSp>
    </p:spTree>
    <p:extLst>
      <p:ext uri="{BB962C8B-B14F-4D97-AF65-F5344CB8AC3E}">
        <p14:creationId xmlns:p14="http://schemas.microsoft.com/office/powerpoint/2010/main" val="3857261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wipe(left)">
                                      <p:cBhvr>
                                        <p:cTn id="21" dur="500"/>
                                        <p:tgtEl>
                                          <p:spTgt spid="4"/>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40"/>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35"/>
                                        </p:tgtEl>
                                        <p:attrNameLst>
                                          <p:attrName>style.visibility</p:attrName>
                                        </p:attrNameLst>
                                      </p:cBhvr>
                                      <p:to>
                                        <p:strVal val="visible"/>
                                      </p:to>
                                    </p:set>
                                    <p:animEffect transition="in" filter="wipe(left)">
                                      <p:cBhvr>
                                        <p:cTn id="30" dur="500"/>
                                        <p:tgtEl>
                                          <p:spTgt spid="35"/>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wipe(left)">
                                      <p:cBhvr>
                                        <p:cTn id="47" dur="500"/>
                                        <p:tgtEl>
                                          <p:spTgt spid="29"/>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39"/>
                                        </p:tgtEl>
                                        <p:attrNameLst>
                                          <p:attrName>style.visibility</p:attrName>
                                        </p:attrNameLst>
                                      </p:cBhvr>
                                      <p:to>
                                        <p:strVal val="visible"/>
                                      </p:to>
                                    </p:set>
                                    <p:animEffect transition="in" filter="wipe(left)">
                                      <p:cBhvr>
                                        <p:cTn id="52" dur="500"/>
                                        <p:tgtEl>
                                          <p:spTgt spid="39"/>
                                        </p:tgtEl>
                                      </p:cBhvr>
                                    </p:animEffec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8" grpId="0"/>
      <p:bldP spid="9" grpId="0"/>
      <p:bldP spid="17" grpId="0"/>
      <p:bldP spid="16" grpId="0" animBg="1"/>
      <p:bldP spid="6" grpId="0" animBg="1"/>
      <p:bldP spid="20" grpId="0" animBg="1"/>
      <p:bldP spid="5" grpId="0" animBg="1"/>
      <p:bldP spid="24" grpId="0"/>
      <p:bldP spid="3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a:extLst>
              <a:ext uri="{FF2B5EF4-FFF2-40B4-BE49-F238E27FC236}">
                <a16:creationId xmlns:a16="http://schemas.microsoft.com/office/drawing/2014/main" id="{C58CB062-3DD8-48F1-8668-36CF5A0D287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76979" y="1142719"/>
            <a:ext cx="5097001" cy="4114172"/>
          </a:xfrm>
          <a:prstGeom prst="rect">
            <a:avLst/>
          </a:prstGeom>
        </p:spPr>
      </p:pic>
      <p:sp>
        <p:nvSpPr>
          <p:cNvPr id="2" name="タイトル 1">
            <a:extLst>
              <a:ext uri="{FF2B5EF4-FFF2-40B4-BE49-F238E27FC236}">
                <a16:creationId xmlns:a16="http://schemas.microsoft.com/office/drawing/2014/main" id="{92DA4AFE-898C-45C2-8BE7-592EBE15CF8D}"/>
              </a:ext>
            </a:extLst>
          </p:cNvPr>
          <p:cNvSpPr>
            <a:spLocks noGrp="1"/>
          </p:cNvSpPr>
          <p:nvPr>
            <p:ph type="title"/>
          </p:nvPr>
        </p:nvSpPr>
        <p:spPr>
          <a:xfrm>
            <a:off x="256244" y="176094"/>
            <a:ext cx="12070474" cy="717316"/>
          </a:xfrm>
        </p:spPr>
        <p:txBody>
          <a:bodyPr>
            <a:normAutofit/>
          </a:bodyPr>
          <a:lstStyle/>
          <a:p>
            <a:r>
              <a:rPr lang="ja-JP" altLang="en-US" sz="3200" dirty="0">
                <a:latin typeface="メイリオ" panose="020B0604030504040204" pitchFamily="50" charset="-128"/>
                <a:ea typeface="メイリオ" panose="020B0604030504040204" pitchFamily="50" charset="-128"/>
              </a:rPr>
              <a:t>調査</a:t>
            </a:r>
            <a:r>
              <a:rPr lang="en-US" altLang="ja-JP" sz="3200" dirty="0">
                <a:latin typeface="メイリオ" panose="020B0604030504040204" pitchFamily="50" charset="-128"/>
                <a:ea typeface="メイリオ" panose="020B0604030504040204" pitchFamily="50" charset="-128"/>
              </a:rPr>
              <a:t>1</a:t>
            </a:r>
            <a:r>
              <a:rPr lang="zh-CN" altLang="en-US" sz="3200" dirty="0">
                <a:latin typeface="メイリオ" panose="020B0604030504040204" pitchFamily="50" charset="-128"/>
                <a:ea typeface="メイリオ" panose="020B0604030504040204" pitchFamily="50" charset="-128"/>
              </a:rPr>
              <a:t>：</a:t>
            </a:r>
            <a:r>
              <a:rPr lang="en-US" altLang="ja-JP" sz="3200" dirty="0">
                <a:solidFill>
                  <a:srgbClr val="00B050"/>
                </a:solidFill>
                <a:latin typeface="メイリオ" panose="020B0604030504040204" pitchFamily="50" charset="-128"/>
                <a:ea typeface="メイリオ" panose="020B0604030504040204" pitchFamily="50" charset="-128"/>
              </a:rPr>
              <a:t>N</a:t>
            </a:r>
            <a:r>
              <a:rPr lang="en-US" altLang="zh-CN" sz="3200" dirty="0">
                <a:solidFill>
                  <a:srgbClr val="00B050"/>
                </a:solidFill>
                <a:latin typeface="メイリオ" panose="020B0604030504040204" pitchFamily="50" charset="-128"/>
                <a:ea typeface="メイリオ" panose="020B0604030504040204" pitchFamily="50" charset="-128"/>
              </a:rPr>
              <a:t>ewton</a:t>
            </a:r>
            <a:r>
              <a:rPr lang="ja-JP" altLang="en-US" sz="3200" dirty="0">
                <a:solidFill>
                  <a:srgbClr val="00B050"/>
                </a:solidFill>
                <a:latin typeface="メイリオ" panose="020B0604030504040204" pitchFamily="50" charset="-128"/>
                <a:ea typeface="メイリオ" panose="020B0604030504040204" pitchFamily="50" charset="-128"/>
              </a:rPr>
              <a:t>法</a:t>
            </a:r>
            <a:r>
              <a:rPr lang="ja-JP" altLang="en-US" sz="3200" dirty="0">
                <a:latin typeface="メイリオ" panose="020B0604030504040204" pitchFamily="50" charset="-128"/>
                <a:ea typeface="メイリオ" panose="020B0604030504040204" pitchFamily="50" charset="-128"/>
              </a:rPr>
              <a:t>の収束の初期値依存性</a:t>
            </a:r>
            <a:endParaRPr lang="en-US" sz="3200" dirty="0">
              <a:latin typeface="メイリオ" panose="020B0604030504040204" pitchFamily="50" charset="-128"/>
              <a:ea typeface="メイリオ" panose="020B0604030504040204" pitchFamily="50" charset="-128"/>
            </a:endParaRPr>
          </a:p>
        </p:txBody>
      </p:sp>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C60C91E5-9615-4B35-9308-8454E564887E}"/>
                  </a:ext>
                </a:extLst>
              </p:cNvPr>
              <p:cNvSpPr txBox="1"/>
              <p:nvPr/>
            </p:nvSpPr>
            <p:spPr>
              <a:xfrm>
                <a:off x="374644" y="2017909"/>
                <a:ext cx="5721356" cy="754374"/>
              </a:xfrm>
              <a:prstGeom prst="rect">
                <a:avLst/>
              </a:prstGeom>
              <a:noFill/>
            </p:spPr>
            <p:txBody>
              <a:bodyPr wrap="square" lIns="0" tIns="0" rIns="0" bIns="0" rtlCol="0">
                <a:spAutoFit/>
              </a:bodyPr>
              <a:lstStyle/>
              <a:p>
                <a:pPr>
                  <a:lnSpc>
                    <a:spcPct val="130000"/>
                  </a:lnSpc>
                </a:pPr>
                <a:r>
                  <a:rPr lang="ja-JP" altLang="en-US" sz="2400" dirty="0"/>
                  <a:t>・</a:t>
                </a:r>
                <a14:m>
                  <m:oMath xmlns:m="http://schemas.openxmlformats.org/officeDocument/2006/math">
                    <m:r>
                      <a:rPr lang="en-US" sz="2400" i="1" smtClean="0">
                        <a:latin typeface="Cambria Math" panose="02040503050406030204" pitchFamily="18" charset="0"/>
                      </a:rPr>
                      <m:t>𝐴</m:t>
                    </m:r>
                  </m:oMath>
                </a14:m>
                <a:r>
                  <a:rPr lang="en-US" sz="2400" b="0" dirty="0"/>
                  <a:t>=</a:t>
                </a:r>
                <a14:m>
                  <m:oMath xmlns:m="http://schemas.openxmlformats.org/officeDocument/2006/math">
                    <m:d>
                      <m:dPr>
                        <m:begChr m:val="["/>
                        <m:endChr m:val="]"/>
                        <m:ctrlPr>
                          <a:rPr lang="en-US" sz="2400" i="1" smtClean="0">
                            <a:latin typeface="Cambria Math" panose="02040503050406030204" pitchFamily="18" charset="0"/>
                          </a:rPr>
                        </m:ctrlPr>
                      </m:dPr>
                      <m:e>
                        <m:m>
                          <m:mPr>
                            <m:mcs>
                              <m:mc>
                                <m:mcPr>
                                  <m:count m:val="2"/>
                                  <m:mcJc m:val="center"/>
                                </m:mcPr>
                              </m:mc>
                            </m:mcs>
                            <m:ctrlPr>
                              <a:rPr lang="en-US" sz="2400" i="1" smtClean="0">
                                <a:latin typeface="Cambria Math" panose="02040503050406030204" pitchFamily="18" charset="0"/>
                              </a:rPr>
                            </m:ctrlPr>
                          </m:mPr>
                          <m:mr>
                            <m:e>
                              <m:r>
                                <m:rPr>
                                  <m:brk m:alnAt="7"/>
                                </m:rPr>
                                <a:rPr lang="en-US" sz="2400" b="0" i="1" smtClean="0">
                                  <a:latin typeface="Cambria Math" panose="02040503050406030204" pitchFamily="18" charset="0"/>
                                </a:rPr>
                                <m:t>2</m:t>
                              </m:r>
                              <m:r>
                                <a:rPr lang="en-US" sz="2400" b="0" i="1" smtClean="0">
                                  <a:latin typeface="Cambria Math" panose="02040503050406030204" pitchFamily="18" charset="0"/>
                                </a:rPr>
                                <m:t>0</m:t>
                              </m:r>
                            </m:e>
                            <m:e>
                              <m:r>
                                <a:rPr lang="en-US" sz="2400" b="0" i="1" smtClean="0">
                                  <a:latin typeface="Cambria Math" panose="02040503050406030204" pitchFamily="18" charset="0"/>
                                </a:rPr>
                                <m:t>9</m:t>
                              </m:r>
                            </m:e>
                          </m:mr>
                          <m:mr>
                            <m:e>
                              <m:r>
                                <a:rPr lang="en-US" sz="2400" b="0" i="1" smtClean="0">
                                  <a:latin typeface="Cambria Math" panose="02040503050406030204" pitchFamily="18" charset="0"/>
                                </a:rPr>
                                <m:t>0</m:t>
                              </m:r>
                            </m:e>
                            <m:e>
                              <m:r>
                                <a:rPr lang="en-US" sz="2400" b="0" i="1" smtClean="0">
                                  <a:latin typeface="Cambria Math" panose="02040503050406030204" pitchFamily="18" charset="0"/>
                                </a:rPr>
                                <m:t>15</m:t>
                              </m:r>
                            </m:e>
                          </m:mr>
                        </m:m>
                      </m:e>
                    </m:d>
                  </m:oMath>
                </a14:m>
                <a:r>
                  <a:rPr lang="en-US" sz="2400" dirty="0"/>
                  <a:t>, </a:t>
                </a:r>
                <a:r>
                  <a:rPr lang="ja-JP" altLang="en-US" sz="2400" dirty="0"/>
                  <a:t>　</a:t>
                </a:r>
                <a14:m>
                  <m:oMath xmlns:m="http://schemas.openxmlformats.org/officeDocument/2006/math">
                    <m:sSup>
                      <m:sSupPr>
                        <m:ctrlPr>
                          <a:rPr lang="en-US" altLang="zh-CN" sz="2400" b="0" i="1" smtClean="0">
                            <a:latin typeface="Cambria Math" panose="02040503050406030204" pitchFamily="18" charset="0"/>
                          </a:rPr>
                        </m:ctrlPr>
                      </m:sSupPr>
                      <m:e>
                        <m:r>
                          <a:rPr lang="en-US" altLang="zh-CN" sz="2400" i="1">
                            <a:latin typeface="Cambria Math" panose="02040503050406030204" pitchFamily="18" charset="0"/>
                          </a:rPr>
                          <m:t>𝐴</m:t>
                        </m:r>
                      </m:e>
                      <m:sup>
                        <m:r>
                          <a:rPr lang="en-US" altLang="zh-CN" sz="2400" b="0" i="1" smtClean="0">
                            <a:latin typeface="Cambria Math" panose="02040503050406030204" pitchFamily="18" charset="0"/>
                          </a:rPr>
                          <m:t>1/4</m:t>
                        </m:r>
                      </m:sup>
                    </m:sSup>
                    <m:r>
                      <a:rPr lang="en-US" altLang="zh-CN" sz="2400" b="0" i="1" smtClean="0">
                        <a:latin typeface="Cambria Math" panose="02040503050406030204" pitchFamily="18" charset="0"/>
                        <a:ea typeface="Cambria Math" panose="02040503050406030204" pitchFamily="18" charset="0"/>
                      </a:rPr>
                      <m:t>≈</m:t>
                    </m:r>
                    <m:d>
                      <m:dPr>
                        <m:begChr m:val="["/>
                        <m:endChr m:val="]"/>
                        <m:ctrlPr>
                          <a:rPr lang="en-US" altLang="zh-CN" sz="2400" i="1" smtClean="0">
                            <a:latin typeface="Cambria Math" panose="02040503050406030204" pitchFamily="18" charset="0"/>
                          </a:rPr>
                        </m:ctrlPr>
                      </m:dPr>
                      <m:e>
                        <m:m>
                          <m:mPr>
                            <m:mcs>
                              <m:mc>
                                <m:mcPr>
                                  <m:count m:val="2"/>
                                  <m:mcJc m:val="center"/>
                                </m:mcPr>
                              </m:mc>
                            </m:mcs>
                            <m:ctrlPr>
                              <a:rPr lang="en-US" altLang="zh-CN" sz="2400" i="1">
                                <a:latin typeface="Cambria Math" panose="02040503050406030204" pitchFamily="18" charset="0"/>
                              </a:rPr>
                            </m:ctrlPr>
                          </m:mPr>
                          <m:mr>
                            <m:e>
                              <m:r>
                                <m:rPr>
                                  <m:brk m:alnAt="7"/>
                                </m:rPr>
                                <a:rPr lang="en-US" altLang="zh-CN" sz="2400" i="1">
                                  <a:latin typeface="Cambria Math" panose="02040503050406030204" pitchFamily="18" charset="0"/>
                                </a:rPr>
                                <m:t>2</m:t>
                              </m:r>
                              <m:r>
                                <a:rPr lang="en-US" altLang="zh-CN" sz="2400" b="0" i="1" smtClean="0">
                                  <a:latin typeface="Cambria Math" panose="02040503050406030204" pitchFamily="18" charset="0"/>
                                </a:rPr>
                                <m:t>.11</m:t>
                              </m:r>
                            </m:e>
                            <m:e>
                              <m:r>
                                <a:rPr lang="en-US" altLang="zh-CN" sz="2400" b="0" i="1" smtClean="0">
                                  <a:latin typeface="Cambria Math" panose="02040503050406030204" pitchFamily="18" charset="0"/>
                                </a:rPr>
                                <m:t>0.26</m:t>
                              </m:r>
                            </m:e>
                          </m:mr>
                          <m:mr>
                            <m:e>
                              <m:r>
                                <a:rPr lang="en-US" altLang="zh-CN" sz="2400" i="1">
                                  <a:latin typeface="Cambria Math" panose="02040503050406030204" pitchFamily="18" charset="0"/>
                                </a:rPr>
                                <m:t>0</m:t>
                              </m:r>
                            </m:e>
                            <m:e>
                              <m:r>
                                <a:rPr lang="en-US" altLang="zh-CN" sz="2400" b="0" i="1" smtClean="0">
                                  <a:latin typeface="Cambria Math" panose="02040503050406030204" pitchFamily="18" charset="0"/>
                                </a:rPr>
                                <m:t>1.96</m:t>
                              </m:r>
                            </m:e>
                          </m:mr>
                        </m:m>
                      </m:e>
                    </m:d>
                  </m:oMath>
                </a14:m>
                <a:endParaRPr lang="en-US" altLang="zh-CN" sz="2400" dirty="0"/>
              </a:p>
            </p:txBody>
          </p:sp>
        </mc:Choice>
        <mc:Fallback xmlns="">
          <p:sp>
            <p:nvSpPr>
              <p:cNvPr id="7" name="テキスト ボックス 6">
                <a:extLst>
                  <a:ext uri="{FF2B5EF4-FFF2-40B4-BE49-F238E27FC236}">
                    <a16:creationId xmlns:a16="http://schemas.microsoft.com/office/drawing/2014/main" id="{C60C91E5-9615-4B35-9308-8454E564887E}"/>
                  </a:ext>
                </a:extLst>
              </p:cNvPr>
              <p:cNvSpPr txBox="1">
                <a:spLocks noRot="1" noChangeAspect="1" noMove="1" noResize="1" noEditPoints="1" noAdjustHandles="1" noChangeArrowheads="1" noChangeShapeType="1" noTextEdit="1"/>
              </p:cNvSpPr>
              <p:nvPr/>
            </p:nvSpPr>
            <p:spPr>
              <a:xfrm>
                <a:off x="374644" y="2017909"/>
                <a:ext cx="5721356" cy="754374"/>
              </a:xfrm>
              <a:prstGeom prst="rect">
                <a:avLst/>
              </a:prstGeom>
              <a:blipFill>
                <a:blip r:embed="rId3"/>
                <a:stretch>
                  <a:fillRect l="-3195" b="-12097"/>
                </a:stretch>
              </a:blipFill>
            </p:spPr>
            <p:txBody>
              <a:bodyPr/>
              <a:lstStyle/>
              <a:p>
                <a:r>
                  <a:rPr lang="en-US">
                    <a:noFill/>
                  </a:rPr>
                  <a:t> </a:t>
                </a:r>
              </a:p>
            </p:txBody>
          </p:sp>
        </mc:Fallback>
      </mc:AlternateContent>
      <p:cxnSp>
        <p:nvCxnSpPr>
          <p:cNvPr id="26" name="直線コネクタ 10">
            <a:extLst>
              <a:ext uri="{FF2B5EF4-FFF2-40B4-BE49-F238E27FC236}">
                <a16:creationId xmlns:a16="http://schemas.microsoft.com/office/drawing/2014/main" id="{7BBF4033-A284-4E9D-BBE3-E68722308EC4}"/>
              </a:ext>
            </a:extLst>
          </p:cNvPr>
          <p:cNvCxnSpPr>
            <a:cxnSpLocks/>
          </p:cNvCxnSpPr>
          <p:nvPr/>
        </p:nvCxnSpPr>
        <p:spPr>
          <a:xfrm flipH="1">
            <a:off x="7438165" y="893410"/>
            <a:ext cx="7125" cy="3289291"/>
          </a:xfrm>
          <a:prstGeom prst="line">
            <a:avLst/>
          </a:prstGeom>
          <a:ln w="28575"/>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テキスト ボックス 36">
                <a:extLst>
                  <a:ext uri="{FF2B5EF4-FFF2-40B4-BE49-F238E27FC236}">
                    <a16:creationId xmlns:a16="http://schemas.microsoft.com/office/drawing/2014/main" id="{A368107E-7143-4E1E-A430-86F02C36EC59}"/>
                  </a:ext>
                </a:extLst>
              </p:cNvPr>
              <p:cNvSpPr txBox="1"/>
              <p:nvPr/>
            </p:nvSpPr>
            <p:spPr>
              <a:xfrm>
                <a:off x="307313" y="3111206"/>
                <a:ext cx="6999464" cy="461665"/>
              </a:xfrm>
              <a:prstGeom prst="rect">
                <a:avLst/>
              </a:prstGeom>
              <a:noFill/>
            </p:spPr>
            <p:txBody>
              <a:bodyPr wrap="square">
                <a:spAutoFit/>
              </a:bodyPr>
              <a:lstStyle/>
              <a:p>
                <a:r>
                  <a:rPr kumimoji="1" lang="ja-JP" altLang="en-US" sz="2400" dirty="0">
                    <a:solidFill>
                      <a:schemeClr val="tx1"/>
                    </a:solidFill>
                    <a:ea typeface="メイリオ" panose="020B0604030504040204" pitchFamily="50" charset="-128"/>
                  </a:rPr>
                  <a:t>・</a:t>
                </a:r>
                <a14:m>
                  <m:oMath xmlns:m="http://schemas.openxmlformats.org/officeDocument/2006/math">
                    <m:sSub>
                      <m:sSubPr>
                        <m:ctrlPr>
                          <a:rPr kumimoji="1" lang="en-US" altLang="ja-JP" sz="2400" i="1" smtClean="0">
                            <a:solidFill>
                              <a:schemeClr val="tx1"/>
                            </a:solidFill>
                            <a:latin typeface="Cambria Math" panose="02040503050406030204" pitchFamily="18" charset="0"/>
                            <a:ea typeface="メイリオ" panose="020B0604030504040204" pitchFamily="50" charset="-128"/>
                          </a:rPr>
                        </m:ctrlPr>
                      </m:sSubPr>
                      <m:e>
                        <m:r>
                          <a:rPr kumimoji="1" lang="en-US" altLang="ja-JP" sz="2400" i="1">
                            <a:solidFill>
                              <a:schemeClr val="tx1"/>
                            </a:solidFill>
                            <a:latin typeface="Cambria Math" panose="02040503050406030204" pitchFamily="18" charset="0"/>
                            <a:ea typeface="メイリオ" panose="020B0604030504040204" pitchFamily="50" charset="-128"/>
                          </a:rPr>
                          <m:t>𝑋</m:t>
                        </m:r>
                      </m:e>
                      <m:sub>
                        <m:r>
                          <a:rPr kumimoji="1" lang="en-US" altLang="ja-JP" sz="2400">
                            <a:solidFill>
                              <a:schemeClr val="tx1"/>
                            </a:solidFill>
                            <a:latin typeface="Cambria Math" panose="02040503050406030204" pitchFamily="18" charset="0"/>
                            <a:ea typeface="メイリオ" panose="020B0604030504040204" pitchFamily="50" charset="-128"/>
                          </a:rPr>
                          <m:t>0</m:t>
                        </m:r>
                      </m:sub>
                    </m:sSub>
                  </m:oMath>
                </a14:m>
                <a:r>
                  <a:rPr kumimoji="1" lang="ja-JP" altLang="en-US" sz="2400" dirty="0">
                    <a:solidFill>
                      <a:schemeClr val="tx1"/>
                    </a:solidFill>
                    <a:latin typeface="メイリオ" panose="020B0604030504040204" pitchFamily="50" charset="-128"/>
                    <a:ea typeface="メイリオ" panose="020B0604030504040204" pitchFamily="50" charset="-128"/>
                  </a:rPr>
                  <a:t> </a:t>
                </a:r>
                <a:r>
                  <a:rPr lang="en-US" sz="2400" b="0" dirty="0"/>
                  <a:t>=</a:t>
                </a:r>
                <a14:m>
                  <m:oMath xmlns:m="http://schemas.openxmlformats.org/officeDocument/2006/math">
                    <m:r>
                      <a:rPr lang="en-US" sz="2400" b="0" i="1" smtClean="0">
                        <a:latin typeface="Cambria Math" panose="02040503050406030204" pitchFamily="18" charset="0"/>
                      </a:rPr>
                      <m:t>𝑐𝐼</m:t>
                    </m:r>
                  </m:oMath>
                </a14:m>
                <a:r>
                  <a:rPr lang="en-US" sz="2400" dirty="0"/>
                  <a:t> (</a:t>
                </a:r>
                <a14:m>
                  <m:oMath xmlns:m="http://schemas.openxmlformats.org/officeDocument/2006/math">
                    <m:r>
                      <a:rPr lang="en-US" sz="2400" i="1">
                        <a:latin typeface="Cambria Math" panose="02040503050406030204" pitchFamily="18" charset="0"/>
                      </a:rPr>
                      <m:t>𝑐</m:t>
                    </m:r>
                  </m:oMath>
                </a14:m>
                <a:r>
                  <a:rPr lang="en-US" sz="2400" dirty="0"/>
                  <a:t>=0.5, 0.8, 0.9, 1, 1.1, 1.2, 1.5, 1.8, 1.9, 2)</a:t>
                </a:r>
              </a:p>
            </p:txBody>
          </p:sp>
        </mc:Choice>
        <mc:Fallback xmlns="">
          <p:sp>
            <p:nvSpPr>
              <p:cNvPr id="37" name="テキスト ボックス 36">
                <a:extLst>
                  <a:ext uri="{FF2B5EF4-FFF2-40B4-BE49-F238E27FC236}">
                    <a16:creationId xmlns:a16="http://schemas.microsoft.com/office/drawing/2014/main" id="{A368107E-7143-4E1E-A430-86F02C36EC59}"/>
                  </a:ext>
                </a:extLst>
              </p:cNvPr>
              <p:cNvSpPr txBox="1">
                <a:spLocks noRot="1" noChangeAspect="1" noMove="1" noResize="1" noEditPoints="1" noAdjustHandles="1" noChangeArrowheads="1" noChangeShapeType="1" noTextEdit="1"/>
              </p:cNvSpPr>
              <p:nvPr/>
            </p:nvSpPr>
            <p:spPr>
              <a:xfrm>
                <a:off x="307313" y="3111206"/>
                <a:ext cx="6999464" cy="461665"/>
              </a:xfrm>
              <a:prstGeom prst="rect">
                <a:avLst/>
              </a:prstGeom>
              <a:blipFill>
                <a:blip r:embed="rId4"/>
                <a:stretch>
                  <a:fillRect l="-1305" t="-14474" b="-31579"/>
                </a:stretch>
              </a:blipFill>
            </p:spPr>
            <p:txBody>
              <a:bodyPr/>
              <a:lstStyle/>
              <a:p>
                <a:r>
                  <a:rPr lang="en-US">
                    <a:noFill/>
                  </a:rPr>
                  <a:t> </a:t>
                </a:r>
              </a:p>
            </p:txBody>
          </p:sp>
        </mc:Fallback>
      </mc:AlternateContent>
      <p:sp>
        <p:nvSpPr>
          <p:cNvPr id="49" name="テキスト ボックス 48">
            <a:extLst>
              <a:ext uri="{FF2B5EF4-FFF2-40B4-BE49-F238E27FC236}">
                <a16:creationId xmlns:a16="http://schemas.microsoft.com/office/drawing/2014/main" id="{CABEC5BC-4003-442E-9E98-8EB0811A19A4}"/>
              </a:ext>
            </a:extLst>
          </p:cNvPr>
          <p:cNvSpPr txBox="1"/>
          <p:nvPr/>
        </p:nvSpPr>
        <p:spPr>
          <a:xfrm>
            <a:off x="307313" y="4539111"/>
            <a:ext cx="6635504" cy="369332"/>
          </a:xfrm>
          <a:prstGeom prst="rect">
            <a:avLst/>
          </a:prstGeom>
          <a:noFill/>
        </p:spPr>
        <p:txBody>
          <a:bodyPr wrap="square" lIns="0" tIns="0" rIns="0" bIns="0" rtlCol="0">
            <a:spAutoFit/>
          </a:bodyPr>
          <a:lstStyle/>
          <a:p>
            <a:r>
              <a:rPr lang="en-US" altLang="ja-JP" sz="2400" dirty="0">
                <a:solidFill>
                  <a:srgbClr val="00B050"/>
                </a:solidFill>
              </a:rPr>
              <a:t>N</a:t>
            </a:r>
            <a:r>
              <a:rPr lang="en-US" altLang="zh-CN" sz="2400" dirty="0">
                <a:solidFill>
                  <a:srgbClr val="00B050"/>
                </a:solidFill>
              </a:rPr>
              <a:t>ewton</a:t>
            </a:r>
            <a:r>
              <a:rPr lang="ja-JP" altLang="en-US" sz="2400" dirty="0">
                <a:solidFill>
                  <a:srgbClr val="00B050"/>
                </a:solidFill>
              </a:rPr>
              <a:t>法</a:t>
            </a:r>
            <a:r>
              <a:rPr lang="ja-JP" altLang="en-US" sz="2400" dirty="0"/>
              <a:t>の初期値が解に近いと反復回数は減少</a:t>
            </a:r>
            <a:endParaRPr lang="en-US" sz="2400" dirty="0"/>
          </a:p>
        </p:txBody>
      </p:sp>
      <p:sp>
        <p:nvSpPr>
          <p:cNvPr id="51" name="テキスト ボックス 50">
            <a:extLst>
              <a:ext uri="{FF2B5EF4-FFF2-40B4-BE49-F238E27FC236}">
                <a16:creationId xmlns:a16="http://schemas.microsoft.com/office/drawing/2014/main" id="{368D734D-4968-44E8-8B52-765F541CB3AC}"/>
              </a:ext>
            </a:extLst>
          </p:cNvPr>
          <p:cNvSpPr txBox="1"/>
          <p:nvPr/>
        </p:nvSpPr>
        <p:spPr>
          <a:xfrm>
            <a:off x="374644" y="1021404"/>
            <a:ext cx="7202034" cy="932563"/>
          </a:xfrm>
          <a:prstGeom prst="rect">
            <a:avLst/>
          </a:prstGeom>
          <a:noFill/>
        </p:spPr>
        <p:txBody>
          <a:bodyPr wrap="square" lIns="0" tIns="0" rIns="0" bIns="0" rtlCol="0">
            <a:spAutoFit/>
          </a:bodyPr>
          <a:lstStyle/>
          <a:p>
            <a:pPr>
              <a:lnSpc>
                <a:spcPct val="130000"/>
              </a:lnSpc>
            </a:pPr>
            <a:r>
              <a:rPr lang="en-US" altLang="ja-JP" sz="2400" dirty="0">
                <a:solidFill>
                  <a:srgbClr val="00B050"/>
                </a:solidFill>
              </a:rPr>
              <a:t>N</a:t>
            </a:r>
            <a:r>
              <a:rPr lang="en-US" altLang="zh-CN" sz="2400" dirty="0">
                <a:solidFill>
                  <a:srgbClr val="00B050"/>
                </a:solidFill>
              </a:rPr>
              <a:t>ewton</a:t>
            </a:r>
            <a:r>
              <a:rPr lang="ja-JP" altLang="en-US" sz="2400" dirty="0">
                <a:solidFill>
                  <a:srgbClr val="00B050"/>
                </a:solidFill>
              </a:rPr>
              <a:t>法</a:t>
            </a:r>
            <a:r>
              <a:rPr lang="ja-JP" altLang="en-US" sz="2400" dirty="0"/>
              <a:t>の初期値と解の距離を小さくし、</a:t>
            </a:r>
            <a:endParaRPr lang="en-US" altLang="ja-JP" sz="2400" dirty="0"/>
          </a:p>
          <a:p>
            <a:pPr>
              <a:lnSpc>
                <a:spcPct val="130000"/>
              </a:lnSpc>
            </a:pPr>
            <a:r>
              <a:rPr lang="ja-JP" altLang="en-US" sz="2400" dirty="0"/>
              <a:t>反復回数の変化を観察</a:t>
            </a:r>
            <a:endParaRPr lang="en-US" sz="2400" dirty="0"/>
          </a:p>
        </p:txBody>
      </p:sp>
      <mc:AlternateContent xmlns:mc="http://schemas.openxmlformats.org/markup-compatibility/2006" xmlns:a14="http://schemas.microsoft.com/office/drawing/2010/main">
        <mc:Choice Requires="a14">
          <p:graphicFrame>
            <p:nvGraphicFramePr>
              <p:cNvPr id="38" name="表 38">
                <a:extLst>
                  <a:ext uri="{FF2B5EF4-FFF2-40B4-BE49-F238E27FC236}">
                    <a16:creationId xmlns:a16="http://schemas.microsoft.com/office/drawing/2014/main" id="{DEF620BC-12AD-43C9-83C0-52C6D45AD109}"/>
                  </a:ext>
                </a:extLst>
              </p:cNvPr>
              <p:cNvGraphicFramePr>
                <a:graphicFrameLocks noGrp="1"/>
              </p:cNvGraphicFramePr>
              <p:nvPr>
                <p:extLst>
                  <p:ext uri="{D42A27DB-BD31-4B8C-83A1-F6EECF244321}">
                    <p14:modId xmlns:p14="http://schemas.microsoft.com/office/powerpoint/2010/main" val="2057030504"/>
                  </p:ext>
                </p:extLst>
              </p:nvPr>
            </p:nvGraphicFramePr>
            <p:xfrm>
              <a:off x="362139" y="5256891"/>
              <a:ext cx="11228352" cy="1112520"/>
            </p:xfrm>
            <a:graphic>
              <a:graphicData uri="http://schemas.openxmlformats.org/drawingml/2006/table">
                <a:tbl>
                  <a:tblPr firstRow="1" bandRow="1">
                    <a:tableStyleId>{5C22544A-7EE6-4342-B048-85BDC9FD1C3A}</a:tableStyleId>
                  </a:tblPr>
                  <a:tblGrid>
                    <a:gridCol w="2062789">
                      <a:extLst>
                        <a:ext uri="{9D8B030D-6E8A-4147-A177-3AD203B41FA5}">
                          <a16:colId xmlns:a16="http://schemas.microsoft.com/office/drawing/2014/main" val="1624300361"/>
                        </a:ext>
                      </a:extLst>
                    </a:gridCol>
                    <a:gridCol w="753874">
                      <a:extLst>
                        <a:ext uri="{9D8B030D-6E8A-4147-A177-3AD203B41FA5}">
                          <a16:colId xmlns:a16="http://schemas.microsoft.com/office/drawing/2014/main" val="2491710227"/>
                        </a:ext>
                      </a:extLst>
                    </a:gridCol>
                    <a:gridCol w="1088692">
                      <a:extLst>
                        <a:ext uri="{9D8B030D-6E8A-4147-A177-3AD203B41FA5}">
                          <a16:colId xmlns:a16="http://schemas.microsoft.com/office/drawing/2014/main" val="2638989053"/>
                        </a:ext>
                      </a:extLst>
                    </a:gridCol>
                    <a:gridCol w="985985">
                      <a:extLst>
                        <a:ext uri="{9D8B030D-6E8A-4147-A177-3AD203B41FA5}">
                          <a16:colId xmlns:a16="http://schemas.microsoft.com/office/drawing/2014/main" val="3241739729"/>
                        </a:ext>
                      </a:extLst>
                    </a:gridCol>
                    <a:gridCol w="1016798">
                      <a:extLst>
                        <a:ext uri="{9D8B030D-6E8A-4147-A177-3AD203B41FA5}">
                          <a16:colId xmlns:a16="http://schemas.microsoft.com/office/drawing/2014/main" val="1845602896"/>
                        </a:ext>
                      </a:extLst>
                    </a:gridCol>
                    <a:gridCol w="985985">
                      <a:extLst>
                        <a:ext uri="{9D8B030D-6E8A-4147-A177-3AD203B41FA5}">
                          <a16:colId xmlns:a16="http://schemas.microsoft.com/office/drawing/2014/main" val="2223171342"/>
                        </a:ext>
                      </a:extLst>
                    </a:gridCol>
                    <a:gridCol w="862737">
                      <a:extLst>
                        <a:ext uri="{9D8B030D-6E8A-4147-A177-3AD203B41FA5}">
                          <a16:colId xmlns:a16="http://schemas.microsoft.com/office/drawing/2014/main" val="195941715"/>
                        </a:ext>
                      </a:extLst>
                    </a:gridCol>
                    <a:gridCol w="900057">
                      <a:extLst>
                        <a:ext uri="{9D8B030D-6E8A-4147-A177-3AD203B41FA5}">
                          <a16:colId xmlns:a16="http://schemas.microsoft.com/office/drawing/2014/main" val="285703637"/>
                        </a:ext>
                      </a:extLst>
                    </a:gridCol>
                    <a:gridCol w="879911">
                      <a:extLst>
                        <a:ext uri="{9D8B030D-6E8A-4147-A177-3AD203B41FA5}">
                          <a16:colId xmlns:a16="http://schemas.microsoft.com/office/drawing/2014/main" val="3812825335"/>
                        </a:ext>
                      </a:extLst>
                    </a:gridCol>
                    <a:gridCol w="901153">
                      <a:extLst>
                        <a:ext uri="{9D8B030D-6E8A-4147-A177-3AD203B41FA5}">
                          <a16:colId xmlns:a16="http://schemas.microsoft.com/office/drawing/2014/main" val="1917968942"/>
                        </a:ext>
                      </a:extLst>
                    </a:gridCol>
                    <a:gridCol w="790371">
                      <a:extLst>
                        <a:ext uri="{9D8B030D-6E8A-4147-A177-3AD203B41FA5}">
                          <a16:colId xmlns:a16="http://schemas.microsoft.com/office/drawing/2014/main" val="1943050782"/>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rPr>
                                  <m:t>𝒄</m:t>
                                </m:r>
                              </m:oMath>
                            </m:oMathPara>
                          </a14:m>
                          <a:endParaRPr lang="en-US" dirty="0">
                            <a:solidFill>
                              <a:schemeClr val="tx1"/>
                            </a:solidFill>
                          </a:endParaRPr>
                        </a:p>
                      </a:txBody>
                      <a:tcPr/>
                    </a:tc>
                    <a:tc>
                      <a:txBody>
                        <a:bodyPr/>
                        <a:lstStyle/>
                        <a:p>
                          <a:pPr algn="ctr"/>
                          <a:r>
                            <a:rPr lang="en-US" sz="1800" b="1" dirty="0">
                              <a:solidFill>
                                <a:schemeClr val="tx1"/>
                              </a:solidFill>
                            </a:rPr>
                            <a:t>0.5</a:t>
                          </a:r>
                          <a:endParaRPr lang="en-US" b="1" dirty="0">
                            <a:solidFill>
                              <a:schemeClr val="tx1"/>
                            </a:solidFill>
                          </a:endParaRPr>
                        </a:p>
                      </a:txBody>
                      <a:tcPr/>
                    </a:tc>
                    <a:tc>
                      <a:txBody>
                        <a:bodyPr/>
                        <a:lstStyle/>
                        <a:p>
                          <a:pPr algn="ctr"/>
                          <a:r>
                            <a:rPr lang="en-US" sz="1800" b="1" dirty="0">
                              <a:solidFill>
                                <a:schemeClr val="tx1"/>
                              </a:solidFill>
                            </a:rPr>
                            <a:t>0.8</a:t>
                          </a:r>
                          <a:endParaRPr lang="en-US" b="1" dirty="0">
                            <a:solidFill>
                              <a:schemeClr val="tx1"/>
                            </a:solidFill>
                          </a:endParaRPr>
                        </a:p>
                      </a:txBody>
                      <a:tcPr/>
                    </a:tc>
                    <a:tc>
                      <a:txBody>
                        <a:bodyPr/>
                        <a:lstStyle/>
                        <a:p>
                          <a:pPr algn="ctr"/>
                          <a:r>
                            <a:rPr lang="en-US" sz="1800" b="1" dirty="0">
                              <a:solidFill>
                                <a:schemeClr val="tx1"/>
                              </a:solidFill>
                            </a:rPr>
                            <a:t>0.9</a:t>
                          </a:r>
                          <a:endParaRPr lang="en-US" b="1" dirty="0">
                            <a:solidFill>
                              <a:schemeClr val="tx1"/>
                            </a:solidFill>
                          </a:endParaRPr>
                        </a:p>
                      </a:txBody>
                      <a:tcPr/>
                    </a:tc>
                    <a:tc>
                      <a:txBody>
                        <a:bodyPr/>
                        <a:lstStyle/>
                        <a:p>
                          <a:pPr algn="ctr"/>
                          <a:r>
                            <a:rPr lang="en-US" sz="1800" b="1" dirty="0">
                              <a:solidFill>
                                <a:schemeClr val="tx1"/>
                              </a:solidFill>
                            </a:rPr>
                            <a:t>1</a:t>
                          </a:r>
                          <a:endParaRPr lang="en-US" b="1" dirty="0">
                            <a:solidFill>
                              <a:schemeClr val="tx1"/>
                            </a:solidFill>
                          </a:endParaRPr>
                        </a:p>
                      </a:txBody>
                      <a:tcPr/>
                    </a:tc>
                    <a:tc>
                      <a:txBody>
                        <a:bodyPr/>
                        <a:lstStyle/>
                        <a:p>
                          <a:pPr algn="ctr"/>
                          <a:r>
                            <a:rPr lang="en-US" sz="1800" b="1" dirty="0">
                              <a:solidFill>
                                <a:schemeClr val="tx1"/>
                              </a:solidFill>
                            </a:rPr>
                            <a:t>1.1</a:t>
                          </a:r>
                          <a:endParaRPr lang="en-US" b="1" dirty="0">
                            <a:solidFill>
                              <a:schemeClr val="tx1"/>
                            </a:solidFill>
                          </a:endParaRPr>
                        </a:p>
                      </a:txBody>
                      <a:tcPr/>
                    </a:tc>
                    <a:tc>
                      <a:txBody>
                        <a:bodyPr/>
                        <a:lstStyle/>
                        <a:p>
                          <a:pPr algn="ctr"/>
                          <a:r>
                            <a:rPr lang="en-US" sz="1800" b="1" dirty="0">
                              <a:solidFill>
                                <a:schemeClr val="tx1"/>
                              </a:solidFill>
                            </a:rPr>
                            <a:t>1.2</a:t>
                          </a:r>
                          <a:endParaRPr lang="en-US" b="1" dirty="0">
                            <a:solidFill>
                              <a:schemeClr val="tx1"/>
                            </a:solidFill>
                          </a:endParaRPr>
                        </a:p>
                      </a:txBody>
                      <a:tcPr/>
                    </a:tc>
                    <a:tc>
                      <a:txBody>
                        <a:bodyPr/>
                        <a:lstStyle/>
                        <a:p>
                          <a:pPr algn="ctr"/>
                          <a:r>
                            <a:rPr lang="en-US" sz="1800" b="1" dirty="0">
                              <a:solidFill>
                                <a:schemeClr val="tx1"/>
                              </a:solidFill>
                            </a:rPr>
                            <a:t>1.5</a:t>
                          </a:r>
                          <a:endParaRPr lang="en-US" b="1" dirty="0">
                            <a:solidFill>
                              <a:schemeClr val="tx1"/>
                            </a:solidFill>
                          </a:endParaRPr>
                        </a:p>
                      </a:txBody>
                      <a:tcPr/>
                    </a:tc>
                    <a:tc>
                      <a:txBody>
                        <a:bodyPr/>
                        <a:lstStyle/>
                        <a:p>
                          <a:pPr algn="ctr"/>
                          <a:r>
                            <a:rPr lang="en-US" sz="1800" b="1" dirty="0">
                              <a:solidFill>
                                <a:schemeClr val="tx1"/>
                              </a:solidFill>
                            </a:rPr>
                            <a:t>1.8</a:t>
                          </a:r>
                          <a:endParaRPr lang="en-US" b="1" dirty="0">
                            <a:solidFill>
                              <a:schemeClr val="tx1"/>
                            </a:solidFill>
                          </a:endParaRPr>
                        </a:p>
                      </a:txBody>
                      <a:tcPr/>
                    </a:tc>
                    <a:tc>
                      <a:txBody>
                        <a:bodyPr/>
                        <a:lstStyle/>
                        <a:p>
                          <a:pPr algn="ctr"/>
                          <a:r>
                            <a:rPr lang="en-US" sz="1800" b="1" dirty="0">
                              <a:solidFill>
                                <a:schemeClr val="tx1"/>
                              </a:solidFill>
                            </a:rPr>
                            <a:t>1.9</a:t>
                          </a:r>
                          <a:endParaRPr lang="en-US" b="1" dirty="0">
                            <a:solidFill>
                              <a:schemeClr val="tx1"/>
                            </a:solidFill>
                          </a:endParaRPr>
                        </a:p>
                      </a:txBody>
                      <a:tcPr/>
                    </a:tc>
                    <a:tc>
                      <a:txBody>
                        <a:bodyPr/>
                        <a:lstStyle/>
                        <a:p>
                          <a:pPr algn="ctr"/>
                          <a:r>
                            <a:rPr lang="en-US" sz="1800" b="1" dirty="0">
                              <a:solidFill>
                                <a:schemeClr val="tx1"/>
                              </a:solidFill>
                            </a:rPr>
                            <a:t>2</a:t>
                          </a:r>
                          <a:endParaRPr lang="en-US" b="1" dirty="0">
                            <a:solidFill>
                              <a:schemeClr val="tx1"/>
                            </a:solidFill>
                          </a:endParaRPr>
                        </a:p>
                      </a:txBody>
                      <a:tcPr/>
                    </a:tc>
                    <a:extLst>
                      <a:ext uri="{0D108BD9-81ED-4DB2-BD59-A6C34878D82A}">
                        <a16:rowId xmlns:a16="http://schemas.microsoft.com/office/drawing/2014/main" val="642303706"/>
                      </a:ext>
                    </a:extLst>
                  </a:tr>
                  <a:tr h="370840">
                    <a:tc>
                      <a:txBody>
                        <a:bodyPr/>
                        <a:lstStyle/>
                        <a:p>
                          <a:pPr algn="ctr"/>
                          <a:r>
                            <a:rPr lang="ja-JP" altLang="en-US" dirty="0">
                              <a:solidFill>
                                <a:schemeClr val="tx1"/>
                              </a:solidFill>
                            </a:rPr>
                            <a:t>初期値と解の距離</a:t>
                          </a:r>
                          <a:endParaRPr lang="en-US" dirty="0">
                            <a:solidFill>
                              <a:schemeClr val="tx1"/>
                            </a:solidFill>
                          </a:endParaRPr>
                        </a:p>
                      </a:txBody>
                      <a:tcPr/>
                    </a:tc>
                    <a:tc>
                      <a:txBody>
                        <a:bodyPr/>
                        <a:lstStyle/>
                        <a:p>
                          <a:pPr algn="ctr"/>
                          <a:r>
                            <a:rPr lang="en-US" b="1" dirty="0">
                              <a:solidFill>
                                <a:schemeClr val="tx1"/>
                              </a:solidFill>
                            </a:rPr>
                            <a:t>2.20</a:t>
                          </a:r>
                        </a:p>
                      </a:txBody>
                      <a:tcPr/>
                    </a:tc>
                    <a:tc>
                      <a:txBody>
                        <a:bodyPr/>
                        <a:lstStyle/>
                        <a:p>
                          <a:pPr algn="ctr"/>
                          <a:r>
                            <a:rPr lang="en-US" b="1" dirty="0">
                              <a:solidFill>
                                <a:schemeClr val="tx1"/>
                              </a:solidFill>
                            </a:rPr>
                            <a:t>1.78</a:t>
                          </a:r>
                        </a:p>
                      </a:txBody>
                      <a:tcPr/>
                    </a:tc>
                    <a:tc>
                      <a:txBody>
                        <a:bodyPr/>
                        <a:lstStyle/>
                        <a:p>
                          <a:pPr algn="ctr"/>
                          <a:r>
                            <a:rPr lang="en-US" b="1" dirty="0">
                              <a:solidFill>
                                <a:schemeClr val="tx1"/>
                              </a:solidFill>
                            </a:rPr>
                            <a:t>1.64</a:t>
                          </a:r>
                        </a:p>
                      </a:txBody>
                      <a:tcPr/>
                    </a:tc>
                    <a:tc>
                      <a:txBody>
                        <a:bodyPr/>
                        <a:lstStyle/>
                        <a:p>
                          <a:pPr algn="ctr"/>
                          <a:r>
                            <a:rPr lang="en-US" b="1" dirty="0">
                              <a:solidFill>
                                <a:schemeClr val="tx1"/>
                              </a:solidFill>
                            </a:rPr>
                            <a:t>1.50</a:t>
                          </a:r>
                        </a:p>
                      </a:txBody>
                      <a:tcPr/>
                    </a:tc>
                    <a:tc>
                      <a:txBody>
                        <a:bodyPr/>
                        <a:lstStyle/>
                        <a:p>
                          <a:pPr algn="ctr"/>
                          <a:r>
                            <a:rPr lang="en-US" b="1" dirty="0">
                              <a:solidFill>
                                <a:schemeClr val="tx1"/>
                              </a:solidFill>
                            </a:rPr>
                            <a:t> 1.36</a:t>
                          </a:r>
                        </a:p>
                      </a:txBody>
                      <a:tcPr/>
                    </a:tc>
                    <a:tc>
                      <a:txBody>
                        <a:bodyPr/>
                        <a:lstStyle/>
                        <a:p>
                          <a:pPr algn="ctr"/>
                          <a:r>
                            <a:rPr lang="en-US" b="1" dirty="0">
                              <a:solidFill>
                                <a:schemeClr val="tx1"/>
                              </a:solidFill>
                            </a:rPr>
                            <a:t>1.22</a:t>
                          </a:r>
                        </a:p>
                      </a:txBody>
                      <a:tcPr/>
                    </a:tc>
                    <a:tc>
                      <a:txBody>
                        <a:bodyPr/>
                        <a:lstStyle/>
                        <a:p>
                          <a:pPr algn="ctr"/>
                          <a:r>
                            <a:rPr lang="en-US" b="1" dirty="0">
                              <a:solidFill>
                                <a:schemeClr val="tx1"/>
                              </a:solidFill>
                            </a:rPr>
                            <a:t>0.81</a:t>
                          </a:r>
                        </a:p>
                      </a:txBody>
                      <a:tcPr/>
                    </a:tc>
                    <a:tc>
                      <a:txBody>
                        <a:bodyPr/>
                        <a:lstStyle/>
                        <a:p>
                          <a:pPr algn="ctr"/>
                          <a:r>
                            <a:rPr lang="en-US" b="1" dirty="0">
                              <a:solidFill>
                                <a:schemeClr val="tx1"/>
                              </a:solidFill>
                            </a:rPr>
                            <a:t>0.44</a:t>
                          </a:r>
                        </a:p>
                      </a:txBody>
                      <a:tcPr/>
                    </a:tc>
                    <a:tc>
                      <a:txBody>
                        <a:bodyPr/>
                        <a:lstStyle/>
                        <a:p>
                          <a:pPr algn="ctr"/>
                          <a:r>
                            <a:rPr lang="en-US" b="1" dirty="0">
                              <a:solidFill>
                                <a:schemeClr val="tx1"/>
                              </a:solidFill>
                            </a:rPr>
                            <a:t>0.35</a:t>
                          </a:r>
                        </a:p>
                      </a:txBody>
                      <a:tcPr/>
                    </a:tc>
                    <a:tc>
                      <a:txBody>
                        <a:bodyPr/>
                        <a:lstStyle/>
                        <a:p>
                          <a:pPr algn="ctr"/>
                          <a:r>
                            <a:rPr lang="en-US" b="1" dirty="0">
                              <a:solidFill>
                                <a:schemeClr val="tx1"/>
                              </a:solidFill>
                            </a:rPr>
                            <a:t> 0.30</a:t>
                          </a:r>
                        </a:p>
                      </a:txBody>
                      <a:tcPr/>
                    </a:tc>
                    <a:extLst>
                      <a:ext uri="{0D108BD9-81ED-4DB2-BD59-A6C34878D82A}">
                        <a16:rowId xmlns:a16="http://schemas.microsoft.com/office/drawing/2014/main" val="793300762"/>
                      </a:ext>
                    </a:extLst>
                  </a:tr>
                  <a:tr h="370840">
                    <a:tc>
                      <a:txBody>
                        <a:bodyPr/>
                        <a:lstStyle/>
                        <a:p>
                          <a:pPr algn="ctr"/>
                          <a:r>
                            <a:rPr lang="ja-JP" altLang="en-US" dirty="0">
                              <a:solidFill>
                                <a:srgbClr val="FF0000"/>
                              </a:solidFill>
                            </a:rPr>
                            <a:t>反復回数</a:t>
                          </a:r>
                          <a:endParaRPr lang="en-US" dirty="0">
                            <a:solidFill>
                              <a:srgbClr val="FF0000"/>
                            </a:solidFill>
                          </a:endParaRPr>
                        </a:p>
                      </a:txBody>
                      <a:tcPr/>
                    </a:tc>
                    <a:tc>
                      <a:txBody>
                        <a:bodyPr/>
                        <a:lstStyle/>
                        <a:p>
                          <a:pPr algn="ctr"/>
                          <a:r>
                            <a:rPr lang="en-US" b="1" dirty="0">
                              <a:solidFill>
                                <a:srgbClr val="FF0000"/>
                              </a:solidFill>
                            </a:rPr>
                            <a:t>16</a:t>
                          </a:r>
                        </a:p>
                      </a:txBody>
                      <a:tcPr/>
                    </a:tc>
                    <a:tc>
                      <a:txBody>
                        <a:bodyPr/>
                        <a:lstStyle/>
                        <a:p>
                          <a:pPr algn="ctr"/>
                          <a:r>
                            <a:rPr lang="en-US" b="1" dirty="0">
                              <a:solidFill>
                                <a:srgbClr val="FF0000"/>
                              </a:solidFill>
                            </a:rPr>
                            <a:t>11</a:t>
                          </a:r>
                        </a:p>
                      </a:txBody>
                      <a:tcPr/>
                    </a:tc>
                    <a:tc>
                      <a:txBody>
                        <a:bodyPr/>
                        <a:lstStyle/>
                        <a:p>
                          <a:pPr algn="ctr"/>
                          <a:r>
                            <a:rPr lang="en-US" b="1" dirty="0">
                              <a:solidFill>
                                <a:srgbClr val="FF0000"/>
                              </a:solidFill>
                            </a:rPr>
                            <a:t>10</a:t>
                          </a:r>
                        </a:p>
                      </a:txBody>
                      <a:tcPr/>
                    </a:tc>
                    <a:tc>
                      <a:txBody>
                        <a:bodyPr/>
                        <a:lstStyle/>
                        <a:p>
                          <a:pPr algn="ctr"/>
                          <a:r>
                            <a:rPr lang="en-US" b="1" dirty="0">
                              <a:solidFill>
                                <a:srgbClr val="FF0000"/>
                              </a:solidFill>
                            </a:rPr>
                            <a:t>9</a:t>
                          </a:r>
                        </a:p>
                      </a:txBody>
                      <a:tcPr/>
                    </a:tc>
                    <a:tc>
                      <a:txBody>
                        <a:bodyPr/>
                        <a:lstStyle/>
                        <a:p>
                          <a:pPr algn="ctr"/>
                          <a:r>
                            <a:rPr lang="en-US" b="1" dirty="0">
                              <a:solidFill>
                                <a:srgbClr val="FF0000"/>
                              </a:solidFill>
                            </a:rPr>
                            <a:t>8</a:t>
                          </a:r>
                        </a:p>
                      </a:txBody>
                      <a:tcPr/>
                    </a:tc>
                    <a:tc>
                      <a:txBody>
                        <a:bodyPr/>
                        <a:lstStyle/>
                        <a:p>
                          <a:pPr algn="ctr"/>
                          <a:r>
                            <a:rPr lang="en-US" b="1" dirty="0">
                              <a:solidFill>
                                <a:srgbClr val="FF0000"/>
                              </a:solidFill>
                            </a:rPr>
                            <a:t>8</a:t>
                          </a:r>
                        </a:p>
                      </a:txBody>
                      <a:tcPr/>
                    </a:tc>
                    <a:tc>
                      <a:txBody>
                        <a:bodyPr/>
                        <a:lstStyle/>
                        <a:p>
                          <a:pPr algn="ctr"/>
                          <a:r>
                            <a:rPr lang="en-US" b="1" dirty="0">
                              <a:solidFill>
                                <a:srgbClr val="FF0000"/>
                              </a:solidFill>
                            </a:rPr>
                            <a:t>6</a:t>
                          </a:r>
                        </a:p>
                      </a:txBody>
                      <a:tcPr/>
                    </a:tc>
                    <a:tc>
                      <a:txBody>
                        <a:bodyPr/>
                        <a:lstStyle/>
                        <a:p>
                          <a:pPr algn="ctr"/>
                          <a:r>
                            <a:rPr lang="en-US" b="1" dirty="0">
                              <a:solidFill>
                                <a:srgbClr val="FF0000"/>
                              </a:solidFill>
                            </a:rPr>
                            <a:t>5</a:t>
                          </a:r>
                        </a:p>
                      </a:txBody>
                      <a:tcPr/>
                    </a:tc>
                    <a:tc>
                      <a:txBody>
                        <a:bodyPr/>
                        <a:lstStyle/>
                        <a:p>
                          <a:pPr algn="ctr"/>
                          <a:r>
                            <a:rPr lang="en-US" b="1" dirty="0">
                              <a:solidFill>
                                <a:srgbClr val="FF0000"/>
                              </a:solidFill>
                            </a:rPr>
                            <a:t>5</a:t>
                          </a:r>
                        </a:p>
                      </a:txBody>
                      <a:tcPr/>
                    </a:tc>
                    <a:tc>
                      <a:txBody>
                        <a:bodyPr/>
                        <a:lstStyle/>
                        <a:p>
                          <a:pPr algn="ctr"/>
                          <a:r>
                            <a:rPr lang="en-US" b="1" dirty="0">
                              <a:solidFill>
                                <a:srgbClr val="FF0000"/>
                              </a:solidFill>
                            </a:rPr>
                            <a:t>4</a:t>
                          </a:r>
                        </a:p>
                      </a:txBody>
                      <a:tcPr/>
                    </a:tc>
                    <a:extLst>
                      <a:ext uri="{0D108BD9-81ED-4DB2-BD59-A6C34878D82A}">
                        <a16:rowId xmlns:a16="http://schemas.microsoft.com/office/drawing/2014/main" val="2776037589"/>
                      </a:ext>
                    </a:extLst>
                  </a:tr>
                </a:tbl>
              </a:graphicData>
            </a:graphic>
          </p:graphicFrame>
        </mc:Choice>
        <mc:Fallback xmlns="">
          <p:graphicFrame>
            <p:nvGraphicFramePr>
              <p:cNvPr id="38" name="表 38">
                <a:extLst>
                  <a:ext uri="{FF2B5EF4-FFF2-40B4-BE49-F238E27FC236}">
                    <a16:creationId xmlns:a16="http://schemas.microsoft.com/office/drawing/2014/main" id="{DEF620BC-12AD-43C9-83C0-52C6D45AD109}"/>
                  </a:ext>
                </a:extLst>
              </p:cNvPr>
              <p:cNvGraphicFramePr>
                <a:graphicFrameLocks noGrp="1"/>
              </p:cNvGraphicFramePr>
              <p:nvPr>
                <p:extLst>
                  <p:ext uri="{D42A27DB-BD31-4B8C-83A1-F6EECF244321}">
                    <p14:modId xmlns:p14="http://schemas.microsoft.com/office/powerpoint/2010/main" val="2057030504"/>
                  </p:ext>
                </p:extLst>
              </p:nvPr>
            </p:nvGraphicFramePr>
            <p:xfrm>
              <a:off x="362139" y="5256891"/>
              <a:ext cx="11228352" cy="1112520"/>
            </p:xfrm>
            <a:graphic>
              <a:graphicData uri="http://schemas.openxmlformats.org/drawingml/2006/table">
                <a:tbl>
                  <a:tblPr firstRow="1" bandRow="1">
                    <a:tableStyleId>{5C22544A-7EE6-4342-B048-85BDC9FD1C3A}</a:tableStyleId>
                  </a:tblPr>
                  <a:tblGrid>
                    <a:gridCol w="2062789">
                      <a:extLst>
                        <a:ext uri="{9D8B030D-6E8A-4147-A177-3AD203B41FA5}">
                          <a16:colId xmlns:a16="http://schemas.microsoft.com/office/drawing/2014/main" val="1624300361"/>
                        </a:ext>
                      </a:extLst>
                    </a:gridCol>
                    <a:gridCol w="753874">
                      <a:extLst>
                        <a:ext uri="{9D8B030D-6E8A-4147-A177-3AD203B41FA5}">
                          <a16:colId xmlns:a16="http://schemas.microsoft.com/office/drawing/2014/main" val="2491710227"/>
                        </a:ext>
                      </a:extLst>
                    </a:gridCol>
                    <a:gridCol w="1088692">
                      <a:extLst>
                        <a:ext uri="{9D8B030D-6E8A-4147-A177-3AD203B41FA5}">
                          <a16:colId xmlns:a16="http://schemas.microsoft.com/office/drawing/2014/main" val="2638989053"/>
                        </a:ext>
                      </a:extLst>
                    </a:gridCol>
                    <a:gridCol w="985985">
                      <a:extLst>
                        <a:ext uri="{9D8B030D-6E8A-4147-A177-3AD203B41FA5}">
                          <a16:colId xmlns:a16="http://schemas.microsoft.com/office/drawing/2014/main" val="3241739729"/>
                        </a:ext>
                      </a:extLst>
                    </a:gridCol>
                    <a:gridCol w="1016798">
                      <a:extLst>
                        <a:ext uri="{9D8B030D-6E8A-4147-A177-3AD203B41FA5}">
                          <a16:colId xmlns:a16="http://schemas.microsoft.com/office/drawing/2014/main" val="1845602896"/>
                        </a:ext>
                      </a:extLst>
                    </a:gridCol>
                    <a:gridCol w="985985">
                      <a:extLst>
                        <a:ext uri="{9D8B030D-6E8A-4147-A177-3AD203B41FA5}">
                          <a16:colId xmlns:a16="http://schemas.microsoft.com/office/drawing/2014/main" val="2223171342"/>
                        </a:ext>
                      </a:extLst>
                    </a:gridCol>
                    <a:gridCol w="862737">
                      <a:extLst>
                        <a:ext uri="{9D8B030D-6E8A-4147-A177-3AD203B41FA5}">
                          <a16:colId xmlns:a16="http://schemas.microsoft.com/office/drawing/2014/main" val="195941715"/>
                        </a:ext>
                      </a:extLst>
                    </a:gridCol>
                    <a:gridCol w="900057">
                      <a:extLst>
                        <a:ext uri="{9D8B030D-6E8A-4147-A177-3AD203B41FA5}">
                          <a16:colId xmlns:a16="http://schemas.microsoft.com/office/drawing/2014/main" val="285703637"/>
                        </a:ext>
                      </a:extLst>
                    </a:gridCol>
                    <a:gridCol w="879911">
                      <a:extLst>
                        <a:ext uri="{9D8B030D-6E8A-4147-A177-3AD203B41FA5}">
                          <a16:colId xmlns:a16="http://schemas.microsoft.com/office/drawing/2014/main" val="3812825335"/>
                        </a:ext>
                      </a:extLst>
                    </a:gridCol>
                    <a:gridCol w="901153">
                      <a:extLst>
                        <a:ext uri="{9D8B030D-6E8A-4147-A177-3AD203B41FA5}">
                          <a16:colId xmlns:a16="http://schemas.microsoft.com/office/drawing/2014/main" val="1917968942"/>
                        </a:ext>
                      </a:extLst>
                    </a:gridCol>
                    <a:gridCol w="790371">
                      <a:extLst>
                        <a:ext uri="{9D8B030D-6E8A-4147-A177-3AD203B41FA5}">
                          <a16:colId xmlns:a16="http://schemas.microsoft.com/office/drawing/2014/main" val="1943050782"/>
                        </a:ext>
                      </a:extLst>
                    </a:gridCol>
                  </a:tblGrid>
                  <a:tr h="370840">
                    <a:tc>
                      <a:txBody>
                        <a:bodyPr/>
                        <a:lstStyle/>
                        <a:p>
                          <a:endParaRPr lang="en-US"/>
                        </a:p>
                      </a:txBody>
                      <a:tcPr>
                        <a:blipFill>
                          <a:blip r:embed="rId5"/>
                          <a:stretch>
                            <a:fillRect l="-295" t="-8197" r="-444838" b="-227869"/>
                          </a:stretch>
                        </a:blipFill>
                      </a:tcPr>
                    </a:tc>
                    <a:tc>
                      <a:txBody>
                        <a:bodyPr/>
                        <a:lstStyle/>
                        <a:p>
                          <a:pPr algn="ctr"/>
                          <a:r>
                            <a:rPr lang="en-US" sz="1800" b="1" dirty="0">
                              <a:solidFill>
                                <a:schemeClr val="tx1"/>
                              </a:solidFill>
                            </a:rPr>
                            <a:t>0.5</a:t>
                          </a:r>
                          <a:endParaRPr lang="en-US" b="1" dirty="0">
                            <a:solidFill>
                              <a:schemeClr val="tx1"/>
                            </a:solidFill>
                          </a:endParaRPr>
                        </a:p>
                      </a:txBody>
                      <a:tcPr/>
                    </a:tc>
                    <a:tc>
                      <a:txBody>
                        <a:bodyPr/>
                        <a:lstStyle/>
                        <a:p>
                          <a:pPr algn="ctr"/>
                          <a:r>
                            <a:rPr lang="en-US" sz="1800" b="1" dirty="0">
                              <a:solidFill>
                                <a:schemeClr val="tx1"/>
                              </a:solidFill>
                            </a:rPr>
                            <a:t>0.8</a:t>
                          </a:r>
                          <a:endParaRPr lang="en-US" b="1" dirty="0">
                            <a:solidFill>
                              <a:schemeClr val="tx1"/>
                            </a:solidFill>
                          </a:endParaRPr>
                        </a:p>
                      </a:txBody>
                      <a:tcPr/>
                    </a:tc>
                    <a:tc>
                      <a:txBody>
                        <a:bodyPr/>
                        <a:lstStyle/>
                        <a:p>
                          <a:pPr algn="ctr"/>
                          <a:r>
                            <a:rPr lang="en-US" sz="1800" b="1" dirty="0">
                              <a:solidFill>
                                <a:schemeClr val="tx1"/>
                              </a:solidFill>
                            </a:rPr>
                            <a:t>0.9</a:t>
                          </a:r>
                          <a:endParaRPr lang="en-US" b="1" dirty="0">
                            <a:solidFill>
                              <a:schemeClr val="tx1"/>
                            </a:solidFill>
                          </a:endParaRPr>
                        </a:p>
                      </a:txBody>
                      <a:tcPr/>
                    </a:tc>
                    <a:tc>
                      <a:txBody>
                        <a:bodyPr/>
                        <a:lstStyle/>
                        <a:p>
                          <a:pPr algn="ctr"/>
                          <a:r>
                            <a:rPr lang="en-US" sz="1800" b="1" dirty="0">
                              <a:solidFill>
                                <a:schemeClr val="tx1"/>
                              </a:solidFill>
                            </a:rPr>
                            <a:t>1</a:t>
                          </a:r>
                          <a:endParaRPr lang="en-US" b="1" dirty="0">
                            <a:solidFill>
                              <a:schemeClr val="tx1"/>
                            </a:solidFill>
                          </a:endParaRPr>
                        </a:p>
                      </a:txBody>
                      <a:tcPr/>
                    </a:tc>
                    <a:tc>
                      <a:txBody>
                        <a:bodyPr/>
                        <a:lstStyle/>
                        <a:p>
                          <a:pPr algn="ctr"/>
                          <a:r>
                            <a:rPr lang="en-US" sz="1800" b="1" dirty="0">
                              <a:solidFill>
                                <a:schemeClr val="tx1"/>
                              </a:solidFill>
                            </a:rPr>
                            <a:t>1.1</a:t>
                          </a:r>
                          <a:endParaRPr lang="en-US" b="1" dirty="0">
                            <a:solidFill>
                              <a:schemeClr val="tx1"/>
                            </a:solidFill>
                          </a:endParaRPr>
                        </a:p>
                      </a:txBody>
                      <a:tcPr/>
                    </a:tc>
                    <a:tc>
                      <a:txBody>
                        <a:bodyPr/>
                        <a:lstStyle/>
                        <a:p>
                          <a:pPr algn="ctr"/>
                          <a:r>
                            <a:rPr lang="en-US" sz="1800" b="1" dirty="0">
                              <a:solidFill>
                                <a:schemeClr val="tx1"/>
                              </a:solidFill>
                            </a:rPr>
                            <a:t>1.2</a:t>
                          </a:r>
                          <a:endParaRPr lang="en-US" b="1" dirty="0">
                            <a:solidFill>
                              <a:schemeClr val="tx1"/>
                            </a:solidFill>
                          </a:endParaRPr>
                        </a:p>
                      </a:txBody>
                      <a:tcPr/>
                    </a:tc>
                    <a:tc>
                      <a:txBody>
                        <a:bodyPr/>
                        <a:lstStyle/>
                        <a:p>
                          <a:pPr algn="ctr"/>
                          <a:r>
                            <a:rPr lang="en-US" sz="1800" b="1" dirty="0">
                              <a:solidFill>
                                <a:schemeClr val="tx1"/>
                              </a:solidFill>
                            </a:rPr>
                            <a:t>1.5</a:t>
                          </a:r>
                          <a:endParaRPr lang="en-US" b="1" dirty="0">
                            <a:solidFill>
                              <a:schemeClr val="tx1"/>
                            </a:solidFill>
                          </a:endParaRPr>
                        </a:p>
                      </a:txBody>
                      <a:tcPr/>
                    </a:tc>
                    <a:tc>
                      <a:txBody>
                        <a:bodyPr/>
                        <a:lstStyle/>
                        <a:p>
                          <a:pPr algn="ctr"/>
                          <a:r>
                            <a:rPr lang="en-US" sz="1800" b="1" dirty="0">
                              <a:solidFill>
                                <a:schemeClr val="tx1"/>
                              </a:solidFill>
                            </a:rPr>
                            <a:t>1.8</a:t>
                          </a:r>
                          <a:endParaRPr lang="en-US" b="1" dirty="0">
                            <a:solidFill>
                              <a:schemeClr val="tx1"/>
                            </a:solidFill>
                          </a:endParaRPr>
                        </a:p>
                      </a:txBody>
                      <a:tcPr/>
                    </a:tc>
                    <a:tc>
                      <a:txBody>
                        <a:bodyPr/>
                        <a:lstStyle/>
                        <a:p>
                          <a:pPr algn="ctr"/>
                          <a:r>
                            <a:rPr lang="en-US" sz="1800" b="1" dirty="0">
                              <a:solidFill>
                                <a:schemeClr val="tx1"/>
                              </a:solidFill>
                            </a:rPr>
                            <a:t>1.9</a:t>
                          </a:r>
                          <a:endParaRPr lang="en-US" b="1" dirty="0">
                            <a:solidFill>
                              <a:schemeClr val="tx1"/>
                            </a:solidFill>
                          </a:endParaRPr>
                        </a:p>
                      </a:txBody>
                      <a:tcPr/>
                    </a:tc>
                    <a:tc>
                      <a:txBody>
                        <a:bodyPr/>
                        <a:lstStyle/>
                        <a:p>
                          <a:pPr algn="ctr"/>
                          <a:r>
                            <a:rPr lang="en-US" sz="1800" b="1" dirty="0">
                              <a:solidFill>
                                <a:schemeClr val="tx1"/>
                              </a:solidFill>
                            </a:rPr>
                            <a:t>2</a:t>
                          </a:r>
                          <a:endParaRPr lang="en-US" b="1" dirty="0">
                            <a:solidFill>
                              <a:schemeClr val="tx1"/>
                            </a:solidFill>
                          </a:endParaRPr>
                        </a:p>
                      </a:txBody>
                      <a:tcPr/>
                    </a:tc>
                    <a:extLst>
                      <a:ext uri="{0D108BD9-81ED-4DB2-BD59-A6C34878D82A}">
                        <a16:rowId xmlns:a16="http://schemas.microsoft.com/office/drawing/2014/main" val="642303706"/>
                      </a:ext>
                    </a:extLst>
                  </a:tr>
                  <a:tr h="370840">
                    <a:tc>
                      <a:txBody>
                        <a:bodyPr/>
                        <a:lstStyle/>
                        <a:p>
                          <a:pPr algn="ctr"/>
                          <a:r>
                            <a:rPr lang="ja-JP" altLang="en-US" dirty="0">
                              <a:solidFill>
                                <a:schemeClr val="tx1"/>
                              </a:solidFill>
                            </a:rPr>
                            <a:t>初期値と解の距離</a:t>
                          </a:r>
                          <a:endParaRPr lang="en-US" dirty="0">
                            <a:solidFill>
                              <a:schemeClr val="tx1"/>
                            </a:solidFill>
                          </a:endParaRPr>
                        </a:p>
                      </a:txBody>
                      <a:tcPr/>
                    </a:tc>
                    <a:tc>
                      <a:txBody>
                        <a:bodyPr/>
                        <a:lstStyle/>
                        <a:p>
                          <a:pPr algn="ctr"/>
                          <a:r>
                            <a:rPr lang="en-US" b="1" dirty="0">
                              <a:solidFill>
                                <a:schemeClr val="tx1"/>
                              </a:solidFill>
                            </a:rPr>
                            <a:t>2.20</a:t>
                          </a:r>
                        </a:p>
                      </a:txBody>
                      <a:tcPr/>
                    </a:tc>
                    <a:tc>
                      <a:txBody>
                        <a:bodyPr/>
                        <a:lstStyle/>
                        <a:p>
                          <a:pPr algn="ctr"/>
                          <a:r>
                            <a:rPr lang="en-US" b="1" dirty="0">
                              <a:solidFill>
                                <a:schemeClr val="tx1"/>
                              </a:solidFill>
                            </a:rPr>
                            <a:t>1.78</a:t>
                          </a:r>
                        </a:p>
                      </a:txBody>
                      <a:tcPr/>
                    </a:tc>
                    <a:tc>
                      <a:txBody>
                        <a:bodyPr/>
                        <a:lstStyle/>
                        <a:p>
                          <a:pPr algn="ctr"/>
                          <a:r>
                            <a:rPr lang="en-US" b="1" dirty="0">
                              <a:solidFill>
                                <a:schemeClr val="tx1"/>
                              </a:solidFill>
                            </a:rPr>
                            <a:t>1.64</a:t>
                          </a:r>
                        </a:p>
                      </a:txBody>
                      <a:tcPr/>
                    </a:tc>
                    <a:tc>
                      <a:txBody>
                        <a:bodyPr/>
                        <a:lstStyle/>
                        <a:p>
                          <a:pPr algn="ctr"/>
                          <a:r>
                            <a:rPr lang="en-US" b="1" dirty="0">
                              <a:solidFill>
                                <a:schemeClr val="tx1"/>
                              </a:solidFill>
                            </a:rPr>
                            <a:t>1.50</a:t>
                          </a:r>
                        </a:p>
                      </a:txBody>
                      <a:tcPr/>
                    </a:tc>
                    <a:tc>
                      <a:txBody>
                        <a:bodyPr/>
                        <a:lstStyle/>
                        <a:p>
                          <a:pPr algn="ctr"/>
                          <a:r>
                            <a:rPr lang="en-US" b="1" dirty="0">
                              <a:solidFill>
                                <a:schemeClr val="tx1"/>
                              </a:solidFill>
                            </a:rPr>
                            <a:t> 1.36</a:t>
                          </a:r>
                        </a:p>
                      </a:txBody>
                      <a:tcPr/>
                    </a:tc>
                    <a:tc>
                      <a:txBody>
                        <a:bodyPr/>
                        <a:lstStyle/>
                        <a:p>
                          <a:pPr algn="ctr"/>
                          <a:r>
                            <a:rPr lang="en-US" b="1" dirty="0">
                              <a:solidFill>
                                <a:schemeClr val="tx1"/>
                              </a:solidFill>
                            </a:rPr>
                            <a:t>1.22</a:t>
                          </a:r>
                        </a:p>
                      </a:txBody>
                      <a:tcPr/>
                    </a:tc>
                    <a:tc>
                      <a:txBody>
                        <a:bodyPr/>
                        <a:lstStyle/>
                        <a:p>
                          <a:pPr algn="ctr"/>
                          <a:r>
                            <a:rPr lang="en-US" b="1" dirty="0">
                              <a:solidFill>
                                <a:schemeClr val="tx1"/>
                              </a:solidFill>
                            </a:rPr>
                            <a:t>0.81</a:t>
                          </a:r>
                        </a:p>
                      </a:txBody>
                      <a:tcPr/>
                    </a:tc>
                    <a:tc>
                      <a:txBody>
                        <a:bodyPr/>
                        <a:lstStyle/>
                        <a:p>
                          <a:pPr algn="ctr"/>
                          <a:r>
                            <a:rPr lang="en-US" b="1" dirty="0">
                              <a:solidFill>
                                <a:schemeClr val="tx1"/>
                              </a:solidFill>
                            </a:rPr>
                            <a:t>0.44</a:t>
                          </a:r>
                        </a:p>
                      </a:txBody>
                      <a:tcPr/>
                    </a:tc>
                    <a:tc>
                      <a:txBody>
                        <a:bodyPr/>
                        <a:lstStyle/>
                        <a:p>
                          <a:pPr algn="ctr"/>
                          <a:r>
                            <a:rPr lang="en-US" b="1" dirty="0">
                              <a:solidFill>
                                <a:schemeClr val="tx1"/>
                              </a:solidFill>
                            </a:rPr>
                            <a:t>0.35</a:t>
                          </a:r>
                        </a:p>
                      </a:txBody>
                      <a:tcPr/>
                    </a:tc>
                    <a:tc>
                      <a:txBody>
                        <a:bodyPr/>
                        <a:lstStyle/>
                        <a:p>
                          <a:pPr algn="ctr"/>
                          <a:r>
                            <a:rPr lang="en-US" b="1" dirty="0">
                              <a:solidFill>
                                <a:schemeClr val="tx1"/>
                              </a:solidFill>
                            </a:rPr>
                            <a:t> 0.30</a:t>
                          </a:r>
                        </a:p>
                      </a:txBody>
                      <a:tcPr/>
                    </a:tc>
                    <a:extLst>
                      <a:ext uri="{0D108BD9-81ED-4DB2-BD59-A6C34878D82A}">
                        <a16:rowId xmlns:a16="http://schemas.microsoft.com/office/drawing/2014/main" val="793300762"/>
                      </a:ext>
                    </a:extLst>
                  </a:tr>
                  <a:tr h="370840">
                    <a:tc>
                      <a:txBody>
                        <a:bodyPr/>
                        <a:lstStyle/>
                        <a:p>
                          <a:pPr algn="ctr"/>
                          <a:r>
                            <a:rPr lang="ja-JP" altLang="en-US" dirty="0">
                              <a:solidFill>
                                <a:srgbClr val="FF0000"/>
                              </a:solidFill>
                            </a:rPr>
                            <a:t>反復回数</a:t>
                          </a:r>
                          <a:endParaRPr lang="en-US" dirty="0">
                            <a:solidFill>
                              <a:srgbClr val="FF0000"/>
                            </a:solidFill>
                          </a:endParaRPr>
                        </a:p>
                      </a:txBody>
                      <a:tcPr/>
                    </a:tc>
                    <a:tc>
                      <a:txBody>
                        <a:bodyPr/>
                        <a:lstStyle/>
                        <a:p>
                          <a:pPr algn="ctr"/>
                          <a:r>
                            <a:rPr lang="en-US" b="1" dirty="0">
                              <a:solidFill>
                                <a:srgbClr val="FF0000"/>
                              </a:solidFill>
                            </a:rPr>
                            <a:t>16</a:t>
                          </a:r>
                        </a:p>
                      </a:txBody>
                      <a:tcPr/>
                    </a:tc>
                    <a:tc>
                      <a:txBody>
                        <a:bodyPr/>
                        <a:lstStyle/>
                        <a:p>
                          <a:pPr algn="ctr"/>
                          <a:r>
                            <a:rPr lang="en-US" b="1" dirty="0">
                              <a:solidFill>
                                <a:srgbClr val="FF0000"/>
                              </a:solidFill>
                            </a:rPr>
                            <a:t>11</a:t>
                          </a:r>
                        </a:p>
                      </a:txBody>
                      <a:tcPr/>
                    </a:tc>
                    <a:tc>
                      <a:txBody>
                        <a:bodyPr/>
                        <a:lstStyle/>
                        <a:p>
                          <a:pPr algn="ctr"/>
                          <a:r>
                            <a:rPr lang="en-US" b="1" dirty="0">
                              <a:solidFill>
                                <a:srgbClr val="FF0000"/>
                              </a:solidFill>
                            </a:rPr>
                            <a:t>10</a:t>
                          </a:r>
                        </a:p>
                      </a:txBody>
                      <a:tcPr/>
                    </a:tc>
                    <a:tc>
                      <a:txBody>
                        <a:bodyPr/>
                        <a:lstStyle/>
                        <a:p>
                          <a:pPr algn="ctr"/>
                          <a:r>
                            <a:rPr lang="en-US" b="1" dirty="0">
                              <a:solidFill>
                                <a:srgbClr val="FF0000"/>
                              </a:solidFill>
                            </a:rPr>
                            <a:t>9</a:t>
                          </a:r>
                        </a:p>
                      </a:txBody>
                      <a:tcPr/>
                    </a:tc>
                    <a:tc>
                      <a:txBody>
                        <a:bodyPr/>
                        <a:lstStyle/>
                        <a:p>
                          <a:pPr algn="ctr"/>
                          <a:r>
                            <a:rPr lang="en-US" b="1" dirty="0">
                              <a:solidFill>
                                <a:srgbClr val="FF0000"/>
                              </a:solidFill>
                            </a:rPr>
                            <a:t>8</a:t>
                          </a:r>
                        </a:p>
                      </a:txBody>
                      <a:tcPr/>
                    </a:tc>
                    <a:tc>
                      <a:txBody>
                        <a:bodyPr/>
                        <a:lstStyle/>
                        <a:p>
                          <a:pPr algn="ctr"/>
                          <a:r>
                            <a:rPr lang="en-US" b="1" dirty="0">
                              <a:solidFill>
                                <a:srgbClr val="FF0000"/>
                              </a:solidFill>
                            </a:rPr>
                            <a:t>8</a:t>
                          </a:r>
                        </a:p>
                      </a:txBody>
                      <a:tcPr/>
                    </a:tc>
                    <a:tc>
                      <a:txBody>
                        <a:bodyPr/>
                        <a:lstStyle/>
                        <a:p>
                          <a:pPr algn="ctr"/>
                          <a:r>
                            <a:rPr lang="en-US" b="1" dirty="0">
                              <a:solidFill>
                                <a:srgbClr val="FF0000"/>
                              </a:solidFill>
                            </a:rPr>
                            <a:t>6</a:t>
                          </a:r>
                        </a:p>
                      </a:txBody>
                      <a:tcPr/>
                    </a:tc>
                    <a:tc>
                      <a:txBody>
                        <a:bodyPr/>
                        <a:lstStyle/>
                        <a:p>
                          <a:pPr algn="ctr"/>
                          <a:r>
                            <a:rPr lang="en-US" b="1" dirty="0">
                              <a:solidFill>
                                <a:srgbClr val="FF0000"/>
                              </a:solidFill>
                            </a:rPr>
                            <a:t>5</a:t>
                          </a:r>
                        </a:p>
                      </a:txBody>
                      <a:tcPr/>
                    </a:tc>
                    <a:tc>
                      <a:txBody>
                        <a:bodyPr/>
                        <a:lstStyle/>
                        <a:p>
                          <a:pPr algn="ctr"/>
                          <a:r>
                            <a:rPr lang="en-US" b="1" dirty="0">
                              <a:solidFill>
                                <a:srgbClr val="FF0000"/>
                              </a:solidFill>
                            </a:rPr>
                            <a:t>5</a:t>
                          </a:r>
                        </a:p>
                      </a:txBody>
                      <a:tcPr/>
                    </a:tc>
                    <a:tc>
                      <a:txBody>
                        <a:bodyPr/>
                        <a:lstStyle/>
                        <a:p>
                          <a:pPr algn="ctr"/>
                          <a:r>
                            <a:rPr lang="en-US" b="1" dirty="0">
                              <a:solidFill>
                                <a:srgbClr val="FF0000"/>
                              </a:solidFill>
                            </a:rPr>
                            <a:t>4</a:t>
                          </a:r>
                        </a:p>
                      </a:txBody>
                      <a:tcPr/>
                    </a:tc>
                    <a:extLst>
                      <a:ext uri="{0D108BD9-81ED-4DB2-BD59-A6C34878D82A}">
                        <a16:rowId xmlns:a16="http://schemas.microsoft.com/office/drawing/2014/main" val="2776037589"/>
                      </a:ext>
                    </a:extLst>
                  </a:tr>
                </a:tbl>
              </a:graphicData>
            </a:graphic>
          </p:graphicFrame>
        </mc:Fallback>
      </mc:AlternateContent>
      <p:grpSp>
        <p:nvGrpSpPr>
          <p:cNvPr id="3" name="组合 2">
            <a:extLst>
              <a:ext uri="{FF2B5EF4-FFF2-40B4-BE49-F238E27FC236}">
                <a16:creationId xmlns:a16="http://schemas.microsoft.com/office/drawing/2014/main" id="{A1E11E49-CA9A-4947-93C8-6D3A2BE54C72}"/>
              </a:ext>
            </a:extLst>
          </p:cNvPr>
          <p:cNvGrpSpPr/>
          <p:nvPr/>
        </p:nvGrpSpPr>
        <p:grpSpPr>
          <a:xfrm>
            <a:off x="1337606" y="3486837"/>
            <a:ext cx="5909201" cy="679987"/>
            <a:chOff x="1337606" y="3486837"/>
            <a:chExt cx="5909201" cy="679987"/>
          </a:xfrm>
        </p:grpSpPr>
        <mc:AlternateContent xmlns:mc="http://schemas.openxmlformats.org/markup-compatibility/2006" xmlns:a14="http://schemas.microsoft.com/office/drawing/2010/main">
          <mc:Choice Requires="a14">
            <p:sp>
              <p:nvSpPr>
                <p:cNvPr id="19" name="矢印: 右 18">
                  <a:extLst>
                    <a:ext uri="{FF2B5EF4-FFF2-40B4-BE49-F238E27FC236}">
                      <a16:creationId xmlns:a16="http://schemas.microsoft.com/office/drawing/2014/main" id="{7D05DDBE-48B3-4FA0-AFA3-D48D1CEE6110}"/>
                    </a:ext>
                  </a:extLst>
                </p:cNvPr>
                <p:cNvSpPr/>
                <p:nvPr/>
              </p:nvSpPr>
              <p:spPr>
                <a:xfrm>
                  <a:off x="2428482" y="3486837"/>
                  <a:ext cx="3734574" cy="67998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000" b="1" dirty="0">
                      <a:solidFill>
                        <a:schemeClr val="bg1"/>
                      </a:solidFill>
                    </a:rPr>
                    <a:t>初期値</a:t>
                  </a:r>
                  <a14:m>
                    <m:oMath xmlns:m="http://schemas.openxmlformats.org/officeDocument/2006/math">
                      <m:sSub>
                        <m:sSubPr>
                          <m:ctrlPr>
                            <a:rPr lang="en-US" altLang="ja-JP" sz="2000" b="1" i="1" smtClean="0">
                              <a:solidFill>
                                <a:schemeClr val="bg1"/>
                              </a:solidFill>
                              <a:latin typeface="Cambria Math" panose="02040503050406030204" pitchFamily="18" charset="0"/>
                            </a:rPr>
                          </m:ctrlPr>
                        </m:sSubPr>
                        <m:e>
                          <m:r>
                            <a:rPr lang="en-US" altLang="ja-JP" sz="2000" b="1" i="1" smtClean="0">
                              <a:solidFill>
                                <a:schemeClr val="bg1"/>
                              </a:solidFill>
                              <a:latin typeface="Cambria Math" panose="02040503050406030204" pitchFamily="18" charset="0"/>
                            </a:rPr>
                            <m:t>𝑿</m:t>
                          </m:r>
                        </m:e>
                        <m:sub>
                          <m:r>
                            <a:rPr lang="en-US" altLang="ja-JP" sz="2000" b="1" i="1" smtClean="0">
                              <a:solidFill>
                                <a:schemeClr val="bg1"/>
                              </a:solidFill>
                              <a:latin typeface="Cambria Math" panose="02040503050406030204" pitchFamily="18" charset="0"/>
                            </a:rPr>
                            <m:t>𝟎</m:t>
                          </m:r>
                        </m:sub>
                      </m:sSub>
                    </m:oMath>
                  </a14:m>
                  <a:r>
                    <a:rPr lang="ja-JP" altLang="en-US" sz="2000" b="1" dirty="0">
                      <a:solidFill>
                        <a:schemeClr val="bg1"/>
                      </a:solidFill>
                    </a:rPr>
                    <a:t>と解</a:t>
                  </a:r>
                  <a14:m>
                    <m:oMath xmlns:m="http://schemas.openxmlformats.org/officeDocument/2006/math">
                      <m:sSup>
                        <m:sSupPr>
                          <m:ctrlPr>
                            <a:rPr lang="en-US" altLang="zh-CN" sz="2000" b="1" i="1">
                              <a:solidFill>
                                <a:schemeClr val="bg1"/>
                              </a:solidFill>
                              <a:latin typeface="Cambria Math" panose="02040503050406030204" pitchFamily="18" charset="0"/>
                            </a:rPr>
                          </m:ctrlPr>
                        </m:sSupPr>
                        <m:e>
                          <m:r>
                            <a:rPr lang="en-US" altLang="zh-CN" sz="2000" b="1">
                              <a:solidFill>
                                <a:schemeClr val="bg1"/>
                              </a:solidFill>
                              <a:latin typeface="Cambria Math" panose="02040503050406030204" pitchFamily="18" charset="0"/>
                            </a:rPr>
                            <m:t>𝐴</m:t>
                          </m:r>
                        </m:e>
                        <m:sup>
                          <m:r>
                            <a:rPr lang="en-US" altLang="zh-CN" sz="2000" b="1">
                              <a:solidFill>
                                <a:schemeClr val="bg1"/>
                              </a:solidFill>
                              <a:latin typeface="Cambria Math" panose="02040503050406030204" pitchFamily="18" charset="0"/>
                            </a:rPr>
                            <m:t>1/4</m:t>
                          </m:r>
                        </m:sup>
                      </m:sSup>
                      <m:r>
                        <a:rPr lang="ja-JP" altLang="en-US" sz="2000" b="1">
                          <a:solidFill>
                            <a:schemeClr val="bg1"/>
                          </a:solidFill>
                          <a:latin typeface="Cambria Math" panose="02040503050406030204" pitchFamily="18" charset="0"/>
                        </a:rPr>
                        <m:t>の</m:t>
                      </m:r>
                    </m:oMath>
                  </a14:m>
                  <a:r>
                    <a:rPr lang="ja-JP" altLang="en-US" sz="2000" b="1" dirty="0">
                      <a:solidFill>
                        <a:schemeClr val="bg1"/>
                      </a:solidFill>
                    </a:rPr>
                    <a:t>距離</a:t>
                  </a:r>
                  <a:endParaRPr lang="en-US" sz="2000" b="1" dirty="0">
                    <a:solidFill>
                      <a:schemeClr val="bg1"/>
                    </a:solidFill>
                  </a:endParaRPr>
                </a:p>
              </p:txBody>
            </p:sp>
          </mc:Choice>
          <mc:Fallback xmlns="">
            <p:sp>
              <p:nvSpPr>
                <p:cNvPr id="19" name="矢印: 右 18">
                  <a:extLst>
                    <a:ext uri="{FF2B5EF4-FFF2-40B4-BE49-F238E27FC236}">
                      <a16:creationId xmlns:a16="http://schemas.microsoft.com/office/drawing/2014/main" id="{7D05DDBE-48B3-4FA0-AFA3-D48D1CEE6110}"/>
                    </a:ext>
                  </a:extLst>
                </p:cNvPr>
                <p:cNvSpPr>
                  <a:spLocks noRot="1" noChangeAspect="1" noMove="1" noResize="1" noEditPoints="1" noAdjustHandles="1" noChangeArrowheads="1" noChangeShapeType="1" noTextEdit="1"/>
                </p:cNvSpPr>
                <p:nvPr/>
              </p:nvSpPr>
              <p:spPr>
                <a:xfrm>
                  <a:off x="2428482" y="3486837"/>
                  <a:ext cx="3734574" cy="679987"/>
                </a:xfrm>
                <a:prstGeom prst="rightArrow">
                  <a:avLst/>
                </a:prstGeom>
                <a:blipFill>
                  <a:blip r:embed="rId6"/>
                  <a:stretch>
                    <a:fillRect/>
                  </a:stretch>
                </a:blipFill>
              </p:spPr>
              <p:txBody>
                <a:bodyPr/>
                <a:lstStyle/>
                <a:p>
                  <a:r>
                    <a:rPr lang="zh-CN" altLang="en-US">
                      <a:noFill/>
                    </a:rPr>
                    <a:t> </a:t>
                  </a:r>
                </a:p>
              </p:txBody>
            </p:sp>
          </mc:Fallback>
        </mc:AlternateContent>
        <p:sp>
          <p:nvSpPr>
            <p:cNvPr id="13" name="テキスト ボックス 12">
              <a:extLst>
                <a:ext uri="{FF2B5EF4-FFF2-40B4-BE49-F238E27FC236}">
                  <a16:creationId xmlns:a16="http://schemas.microsoft.com/office/drawing/2014/main" id="{18B15170-2DB7-4F18-A5E0-82187056B563}"/>
                </a:ext>
              </a:extLst>
            </p:cNvPr>
            <p:cNvSpPr txBox="1"/>
            <p:nvPr/>
          </p:nvSpPr>
          <p:spPr>
            <a:xfrm>
              <a:off x="1337606" y="3634813"/>
              <a:ext cx="1167434" cy="461665"/>
            </a:xfrm>
            <a:prstGeom prst="rect">
              <a:avLst/>
            </a:prstGeom>
            <a:noFill/>
          </p:spPr>
          <p:txBody>
            <a:bodyPr wrap="square">
              <a:spAutoFit/>
            </a:bodyPr>
            <a:lstStyle/>
            <a:p>
              <a:r>
                <a:rPr lang="ja-JP" altLang="en-US" sz="2400" dirty="0"/>
                <a:t>小さい</a:t>
              </a:r>
              <a:endParaRPr lang="en-US" sz="2400" dirty="0"/>
            </a:p>
          </p:txBody>
        </p:sp>
        <p:sp>
          <p:nvSpPr>
            <p:cNvPr id="14" name="テキスト ボックス 13">
              <a:extLst>
                <a:ext uri="{FF2B5EF4-FFF2-40B4-BE49-F238E27FC236}">
                  <a16:creationId xmlns:a16="http://schemas.microsoft.com/office/drawing/2014/main" id="{EEBAE8F2-57FA-4467-B2CD-36449831156C}"/>
                </a:ext>
              </a:extLst>
            </p:cNvPr>
            <p:cNvSpPr txBox="1"/>
            <p:nvPr/>
          </p:nvSpPr>
          <p:spPr>
            <a:xfrm>
              <a:off x="6096000" y="3625689"/>
              <a:ext cx="1150807" cy="461665"/>
            </a:xfrm>
            <a:prstGeom prst="rect">
              <a:avLst/>
            </a:prstGeom>
            <a:noFill/>
          </p:spPr>
          <p:txBody>
            <a:bodyPr wrap="square">
              <a:spAutoFit/>
            </a:bodyPr>
            <a:lstStyle/>
            <a:p>
              <a:r>
                <a:rPr lang="ja-JP" altLang="en-US" sz="2400" dirty="0"/>
                <a:t>大きい</a:t>
              </a:r>
              <a:endParaRPr lang="en-US" sz="2400" dirty="0"/>
            </a:p>
          </p:txBody>
        </p:sp>
      </p:grpSp>
      <p:cxnSp>
        <p:nvCxnSpPr>
          <p:cNvPr id="16" name="直線コネクタ 10">
            <a:extLst>
              <a:ext uri="{FF2B5EF4-FFF2-40B4-BE49-F238E27FC236}">
                <a16:creationId xmlns:a16="http://schemas.microsoft.com/office/drawing/2014/main" id="{BEEF06EE-85EA-456A-B79F-E1ECA73A1777}"/>
              </a:ext>
            </a:extLst>
          </p:cNvPr>
          <p:cNvCxnSpPr>
            <a:cxnSpLocks/>
          </p:cNvCxnSpPr>
          <p:nvPr/>
        </p:nvCxnSpPr>
        <p:spPr>
          <a:xfrm>
            <a:off x="336065" y="4190662"/>
            <a:ext cx="7109225"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 name="直接连接符 3">
            <a:extLst>
              <a:ext uri="{FF2B5EF4-FFF2-40B4-BE49-F238E27FC236}">
                <a16:creationId xmlns:a16="http://schemas.microsoft.com/office/drawing/2014/main" id="{5E6DFAD7-6606-4DE5-99D7-B7844236FAA4}"/>
              </a:ext>
            </a:extLst>
          </p:cNvPr>
          <p:cNvCxnSpPr>
            <a:cxnSpLocks/>
          </p:cNvCxnSpPr>
          <p:nvPr/>
        </p:nvCxnSpPr>
        <p:spPr>
          <a:xfrm>
            <a:off x="307313" y="4912048"/>
            <a:ext cx="643701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テキスト ボックス 21">
                <a:extLst>
                  <a:ext uri="{FF2B5EF4-FFF2-40B4-BE49-F238E27FC236}">
                    <a16:creationId xmlns:a16="http://schemas.microsoft.com/office/drawing/2014/main" id="{21921759-EE60-4FD3-8473-51ADBBB7E28A}"/>
                  </a:ext>
                </a:extLst>
              </p:cNvPr>
              <p:cNvSpPr txBox="1"/>
              <p:nvPr/>
            </p:nvSpPr>
            <p:spPr>
              <a:xfrm>
                <a:off x="7780352" y="986286"/>
                <a:ext cx="4092703" cy="461665"/>
              </a:xfrm>
              <a:prstGeom prst="rect">
                <a:avLst/>
              </a:prstGeom>
              <a:noFill/>
            </p:spPr>
            <p:txBody>
              <a:bodyPr wrap="square">
                <a:spAutoFit/>
              </a:bodyPr>
              <a:lstStyle/>
              <a:p>
                <a:r>
                  <a:rPr lang="ja-JP" altLang="en-US" sz="2400" dirty="0"/>
                  <a:t>停止条件</a:t>
                </a:r>
                <a:r>
                  <a:rPr lang="en-US" altLang="ja-JP" sz="2400" dirty="0"/>
                  <a:t>:</a:t>
                </a:r>
                <a:r>
                  <a:rPr lang="ja-JP" altLang="en-US" sz="2400" dirty="0"/>
                  <a:t>残差</a:t>
                </a:r>
                <a14:m>
                  <m:oMath xmlns:m="http://schemas.openxmlformats.org/officeDocument/2006/math">
                    <m:d>
                      <m:dPr>
                        <m:ctrlPr>
                          <a:rPr lang="en-US" altLang="ja-JP" sz="2400" b="0" i="1" dirty="0" smtClean="0">
                            <a:latin typeface="Cambria Math" panose="02040503050406030204" pitchFamily="18" charset="0"/>
                          </a:rPr>
                        </m:ctrlPr>
                      </m:dPr>
                      <m:e>
                        <m:r>
                          <m:rPr>
                            <m:sty m:val="p"/>
                          </m:rPr>
                          <a:rPr lang="en-US" altLang="ja-JP" sz="2400" b="0" i="0" dirty="0" smtClean="0">
                            <a:latin typeface="Cambria Math" panose="02040503050406030204" pitchFamily="18" charset="0"/>
                          </a:rPr>
                          <m:t>log</m:t>
                        </m:r>
                        <m:r>
                          <a:rPr lang="en-US" altLang="ja-JP" sz="2400" b="0" i="0" dirty="0" smtClean="0">
                            <a:latin typeface="Cambria Math" panose="02040503050406030204" pitchFamily="18" charset="0"/>
                          </a:rPr>
                          <m:t>10</m:t>
                        </m:r>
                      </m:e>
                    </m:d>
                    <m:r>
                      <a:rPr lang="en-US" altLang="ja-JP" sz="2400" i="1" smtClean="0">
                        <a:latin typeface="Cambria Math" panose="02040503050406030204" pitchFamily="18" charset="0"/>
                        <a:ea typeface="Cambria Math" panose="02040503050406030204" pitchFamily="18" charset="0"/>
                      </a:rPr>
                      <m:t>&lt;</m:t>
                    </m:r>
                    <m:r>
                      <a:rPr lang="en-US" altLang="ja-JP" sz="2400" b="0" i="0" smtClean="0">
                        <a:latin typeface="Cambria Math" panose="02040503050406030204" pitchFamily="18" charset="0"/>
                        <a:ea typeface="Cambria Math" panose="02040503050406030204" pitchFamily="18" charset="0"/>
                      </a:rPr>
                      <m:t>−12</m:t>
                    </m:r>
                  </m:oMath>
                </a14:m>
                <a:endParaRPr lang="en-US" sz="2400" dirty="0"/>
              </a:p>
            </p:txBody>
          </p:sp>
        </mc:Choice>
        <mc:Fallback xmlns="">
          <p:sp>
            <p:nvSpPr>
              <p:cNvPr id="22" name="テキスト ボックス 21">
                <a:extLst>
                  <a:ext uri="{FF2B5EF4-FFF2-40B4-BE49-F238E27FC236}">
                    <a16:creationId xmlns:a16="http://schemas.microsoft.com/office/drawing/2014/main" id="{21921759-EE60-4FD3-8473-51ADBBB7E28A}"/>
                  </a:ext>
                </a:extLst>
              </p:cNvPr>
              <p:cNvSpPr txBox="1">
                <a:spLocks noRot="1" noChangeAspect="1" noMove="1" noResize="1" noEditPoints="1" noAdjustHandles="1" noChangeArrowheads="1" noChangeShapeType="1" noTextEdit="1"/>
              </p:cNvSpPr>
              <p:nvPr/>
            </p:nvSpPr>
            <p:spPr>
              <a:xfrm>
                <a:off x="7780352" y="986286"/>
                <a:ext cx="4092703" cy="461665"/>
              </a:xfrm>
              <a:prstGeom prst="rect">
                <a:avLst/>
              </a:prstGeom>
              <a:blipFill>
                <a:blip r:embed="rId8"/>
                <a:stretch>
                  <a:fillRect l="-2232" t="-14474" b="-3157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28363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49"/>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4"/>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38"/>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22"/>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7" grpId="0"/>
      <p:bldP spid="49" grpId="0"/>
      <p:bldP spid="51" grpId="0"/>
      <p:bldP spid="2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9B0E3999-2AE4-43CB-B6C2-5479001A50A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445290" y="1089367"/>
            <a:ext cx="5059151" cy="4159562"/>
          </a:xfrm>
          <a:prstGeom prst="rect">
            <a:avLst/>
          </a:prstGeom>
        </p:spPr>
      </p:pic>
      <mc:AlternateContent xmlns:mc="http://schemas.openxmlformats.org/markup-compatibility/2006" xmlns:a14="http://schemas.microsoft.com/office/drawing/2010/main">
        <mc:Choice Requires="a14">
          <p:sp>
            <p:nvSpPr>
              <p:cNvPr id="36" name="テキスト ボックス 35">
                <a:extLst>
                  <a:ext uri="{FF2B5EF4-FFF2-40B4-BE49-F238E27FC236}">
                    <a16:creationId xmlns:a16="http://schemas.microsoft.com/office/drawing/2014/main" id="{C7819A53-F2D3-425E-BC35-16C188F311AF}"/>
                  </a:ext>
                </a:extLst>
              </p:cNvPr>
              <p:cNvSpPr txBox="1"/>
              <p:nvPr/>
            </p:nvSpPr>
            <p:spPr>
              <a:xfrm>
                <a:off x="7780352" y="986286"/>
                <a:ext cx="4092703" cy="461665"/>
              </a:xfrm>
              <a:prstGeom prst="rect">
                <a:avLst/>
              </a:prstGeom>
              <a:noFill/>
            </p:spPr>
            <p:txBody>
              <a:bodyPr wrap="square">
                <a:spAutoFit/>
              </a:bodyPr>
              <a:lstStyle/>
              <a:p>
                <a:r>
                  <a:rPr lang="ja-JP" altLang="en-US" sz="2400" dirty="0"/>
                  <a:t>停止条件</a:t>
                </a:r>
                <a:r>
                  <a:rPr lang="en-US" altLang="ja-JP" sz="2400" dirty="0"/>
                  <a:t>:</a:t>
                </a:r>
                <a:r>
                  <a:rPr lang="ja-JP" altLang="en-US" sz="2400" dirty="0"/>
                  <a:t>残差</a:t>
                </a:r>
                <a14:m>
                  <m:oMath xmlns:m="http://schemas.openxmlformats.org/officeDocument/2006/math">
                    <m:d>
                      <m:dPr>
                        <m:ctrlPr>
                          <a:rPr lang="en-US" altLang="ja-JP" sz="2400" b="0" i="1" dirty="0" smtClean="0">
                            <a:latin typeface="Cambria Math" panose="02040503050406030204" pitchFamily="18" charset="0"/>
                          </a:rPr>
                        </m:ctrlPr>
                      </m:dPr>
                      <m:e>
                        <m:r>
                          <m:rPr>
                            <m:sty m:val="p"/>
                          </m:rPr>
                          <a:rPr lang="en-US" altLang="ja-JP" sz="2400" b="0" i="0" dirty="0" smtClean="0">
                            <a:latin typeface="Cambria Math" panose="02040503050406030204" pitchFamily="18" charset="0"/>
                          </a:rPr>
                          <m:t>log</m:t>
                        </m:r>
                        <m:r>
                          <a:rPr lang="en-US" altLang="ja-JP" sz="2400" b="0" i="0" dirty="0" smtClean="0">
                            <a:latin typeface="Cambria Math" panose="02040503050406030204" pitchFamily="18" charset="0"/>
                          </a:rPr>
                          <m:t>10</m:t>
                        </m:r>
                      </m:e>
                    </m:d>
                    <m:r>
                      <a:rPr lang="en-US" altLang="ja-JP" sz="2400" i="1" smtClean="0">
                        <a:latin typeface="Cambria Math" panose="02040503050406030204" pitchFamily="18" charset="0"/>
                        <a:ea typeface="Cambria Math" panose="02040503050406030204" pitchFamily="18" charset="0"/>
                      </a:rPr>
                      <m:t>&lt;</m:t>
                    </m:r>
                    <m:r>
                      <a:rPr lang="en-US" altLang="ja-JP" sz="2400" b="0" i="0" smtClean="0">
                        <a:latin typeface="Cambria Math" panose="02040503050406030204" pitchFamily="18" charset="0"/>
                        <a:ea typeface="Cambria Math" panose="02040503050406030204" pitchFamily="18" charset="0"/>
                      </a:rPr>
                      <m:t>−12</m:t>
                    </m:r>
                  </m:oMath>
                </a14:m>
                <a:endParaRPr lang="en-US" sz="2400" dirty="0"/>
              </a:p>
            </p:txBody>
          </p:sp>
        </mc:Choice>
        <mc:Fallback xmlns="">
          <p:sp>
            <p:nvSpPr>
              <p:cNvPr id="36" name="テキスト ボックス 35">
                <a:extLst>
                  <a:ext uri="{FF2B5EF4-FFF2-40B4-BE49-F238E27FC236}">
                    <a16:creationId xmlns:a16="http://schemas.microsoft.com/office/drawing/2014/main" id="{C7819A53-F2D3-425E-BC35-16C188F311AF}"/>
                  </a:ext>
                </a:extLst>
              </p:cNvPr>
              <p:cNvSpPr txBox="1">
                <a:spLocks noRot="1" noChangeAspect="1" noMove="1" noResize="1" noEditPoints="1" noAdjustHandles="1" noChangeArrowheads="1" noChangeShapeType="1" noTextEdit="1"/>
              </p:cNvSpPr>
              <p:nvPr/>
            </p:nvSpPr>
            <p:spPr>
              <a:xfrm>
                <a:off x="7780352" y="986286"/>
                <a:ext cx="4092703" cy="461665"/>
              </a:xfrm>
              <a:prstGeom prst="rect">
                <a:avLst/>
              </a:prstGeom>
              <a:blipFill>
                <a:blip r:embed="rId5"/>
                <a:stretch>
                  <a:fillRect l="-2232" t="-14474" b="-3157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9F42BBD5-094D-42EC-B13F-4D16230DB332}"/>
                  </a:ext>
                </a:extLst>
              </p:cNvPr>
              <p:cNvSpPr txBox="1"/>
              <p:nvPr/>
            </p:nvSpPr>
            <p:spPr>
              <a:xfrm>
                <a:off x="336065" y="6451073"/>
                <a:ext cx="2339900" cy="461665"/>
              </a:xfrm>
              <a:prstGeom prst="rect">
                <a:avLst/>
              </a:prstGeom>
              <a:noFill/>
            </p:spPr>
            <p:txBody>
              <a:bodyPr wrap="square">
                <a:spAutoFit/>
              </a:bodyPr>
              <a:lstStyle/>
              <a:p>
                <a:pPr algn="ctr"/>
                <a14:m>
                  <m:oMath xmlns:m="http://schemas.openxmlformats.org/officeDocument/2006/math">
                    <m:r>
                      <a:rPr lang="en-US" altLang="zh-CN" sz="2400" b="1" i="1" smtClean="0">
                        <a:solidFill>
                          <a:srgbClr val="FF0000"/>
                        </a:solidFill>
                        <a:latin typeface="Cambria Math" panose="02040503050406030204" pitchFamily="18" charset="0"/>
                        <a:ea typeface="Cambria Math" panose="02040503050406030204" pitchFamily="18" charset="0"/>
                      </a:rPr>
                      <m:t>×</m:t>
                    </m:r>
                  </m:oMath>
                </a14:m>
                <a:r>
                  <a:rPr lang="en-US" altLang="zh-CN" sz="2400" dirty="0">
                    <a:solidFill>
                      <a:schemeClr val="tx1"/>
                    </a:solidFill>
                  </a:rPr>
                  <a:t>:</a:t>
                </a:r>
                <a:r>
                  <a:rPr lang="ja-JP" altLang="en-US" sz="2400" dirty="0">
                    <a:solidFill>
                      <a:schemeClr val="tx1"/>
                    </a:solidFill>
                  </a:rPr>
                  <a:t>解に収束せず</a:t>
                </a:r>
                <a:endParaRPr lang="zh-CN" altLang="en-US" sz="2400" dirty="0"/>
              </a:p>
            </p:txBody>
          </p:sp>
        </mc:Choice>
        <mc:Fallback xmlns="">
          <p:sp>
            <p:nvSpPr>
              <p:cNvPr id="19" name="文本框 18">
                <a:extLst>
                  <a:ext uri="{FF2B5EF4-FFF2-40B4-BE49-F238E27FC236}">
                    <a16:creationId xmlns:a16="http://schemas.microsoft.com/office/drawing/2014/main" id="{9F42BBD5-094D-42EC-B13F-4D16230DB332}"/>
                  </a:ext>
                </a:extLst>
              </p:cNvPr>
              <p:cNvSpPr txBox="1">
                <a:spLocks noRot="1" noChangeAspect="1" noMove="1" noResize="1" noEditPoints="1" noAdjustHandles="1" noChangeArrowheads="1" noChangeShapeType="1" noTextEdit="1"/>
              </p:cNvSpPr>
              <p:nvPr/>
            </p:nvSpPr>
            <p:spPr>
              <a:xfrm>
                <a:off x="336065" y="6451073"/>
                <a:ext cx="2339900" cy="461665"/>
              </a:xfrm>
              <a:prstGeom prst="rect">
                <a:avLst/>
              </a:prstGeom>
              <a:blipFill>
                <a:blip r:embed="rId6"/>
                <a:stretch>
                  <a:fillRect t="-14474" r="-3385" b="-3157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テキスト ボックス 6">
                <a:extLst>
                  <a:ext uri="{FF2B5EF4-FFF2-40B4-BE49-F238E27FC236}">
                    <a16:creationId xmlns:a16="http://schemas.microsoft.com/office/drawing/2014/main" id="{1D1F996D-F992-4B80-8612-F39F65B36E2C}"/>
                  </a:ext>
                </a:extLst>
              </p:cNvPr>
              <p:cNvSpPr txBox="1"/>
              <p:nvPr/>
            </p:nvSpPr>
            <p:spPr>
              <a:xfrm>
                <a:off x="374644" y="2012857"/>
                <a:ext cx="5721356" cy="854465"/>
              </a:xfrm>
              <a:prstGeom prst="rect">
                <a:avLst/>
              </a:prstGeom>
              <a:noFill/>
            </p:spPr>
            <p:txBody>
              <a:bodyPr wrap="square" lIns="0" tIns="0" rIns="0" bIns="0" rtlCol="0">
                <a:spAutoFit/>
              </a:bodyPr>
              <a:lstStyle/>
              <a:p>
                <a:pPr>
                  <a:lnSpc>
                    <a:spcPct val="130000"/>
                  </a:lnSpc>
                </a:pPr>
                <a:r>
                  <a:rPr lang="ja-JP" altLang="en-US" sz="2400" dirty="0"/>
                  <a:t>・</a:t>
                </a:r>
                <a14:m>
                  <m:oMath xmlns:m="http://schemas.openxmlformats.org/officeDocument/2006/math">
                    <m:r>
                      <a:rPr lang="en-US" sz="2400" i="1" smtClean="0">
                        <a:latin typeface="Cambria Math" panose="02040503050406030204" pitchFamily="18" charset="0"/>
                      </a:rPr>
                      <m:t>𝐴</m:t>
                    </m:r>
                  </m:oMath>
                </a14:m>
                <a:r>
                  <a:rPr lang="en-US" sz="2400" b="0" dirty="0"/>
                  <a:t>=</a:t>
                </a:r>
                <a14:m>
                  <m:oMath xmlns:m="http://schemas.openxmlformats.org/officeDocument/2006/math">
                    <m:d>
                      <m:dPr>
                        <m:begChr m:val="["/>
                        <m:endChr m:val="]"/>
                        <m:ctrlPr>
                          <a:rPr lang="en-US" sz="2400" i="1" smtClean="0">
                            <a:latin typeface="Cambria Math" panose="02040503050406030204" pitchFamily="18" charset="0"/>
                          </a:rPr>
                        </m:ctrlPr>
                      </m:dPr>
                      <m:e>
                        <m:m>
                          <m:mPr>
                            <m:mcs>
                              <m:mc>
                                <m:mcPr>
                                  <m:count m:val="2"/>
                                  <m:mcJc m:val="center"/>
                                </m:mcPr>
                              </m:mc>
                            </m:mcs>
                            <m:ctrlPr>
                              <a:rPr lang="en-US" sz="2400" i="1" smtClean="0">
                                <a:latin typeface="Cambria Math" panose="02040503050406030204" pitchFamily="18" charset="0"/>
                              </a:rPr>
                            </m:ctrlPr>
                          </m:mPr>
                          <m:mr>
                            <m:e>
                              <m:r>
                                <m:rPr>
                                  <m:brk m:alnAt="7"/>
                                </m:rPr>
                                <a:rPr lang="en-US" sz="2400" b="0" i="1" smtClean="0">
                                  <a:latin typeface="Cambria Math" panose="02040503050406030204" pitchFamily="18" charset="0"/>
                                </a:rPr>
                                <m:t>2</m:t>
                              </m:r>
                              <m:r>
                                <a:rPr lang="en-US" sz="2400" b="0" i="1" smtClean="0">
                                  <a:latin typeface="Cambria Math" panose="02040503050406030204" pitchFamily="18" charset="0"/>
                                </a:rPr>
                                <m:t>0</m:t>
                              </m:r>
                            </m:e>
                            <m:e>
                              <m:r>
                                <a:rPr lang="en-US" sz="2400" b="0" i="1" smtClean="0">
                                  <a:latin typeface="Cambria Math" panose="02040503050406030204" pitchFamily="18" charset="0"/>
                                </a:rPr>
                                <m:t>9</m:t>
                              </m:r>
                            </m:e>
                          </m:mr>
                          <m:mr>
                            <m:e>
                              <m:r>
                                <a:rPr lang="en-US" sz="2400" b="0" i="1" smtClean="0">
                                  <a:latin typeface="Cambria Math" panose="02040503050406030204" pitchFamily="18" charset="0"/>
                                </a:rPr>
                                <m:t>0</m:t>
                              </m:r>
                            </m:e>
                            <m:e>
                              <m:r>
                                <a:rPr lang="en-US" sz="2400" b="0" i="1" smtClean="0">
                                  <a:latin typeface="Cambria Math" panose="02040503050406030204" pitchFamily="18" charset="0"/>
                                </a:rPr>
                                <m:t>15</m:t>
                              </m:r>
                            </m:e>
                          </m:mr>
                        </m:m>
                      </m:e>
                    </m:d>
                  </m:oMath>
                </a14:m>
                <a:r>
                  <a:rPr lang="en-US" sz="2400" dirty="0"/>
                  <a:t>, </a:t>
                </a:r>
                <a:r>
                  <a:rPr lang="ja-JP" altLang="en-US" sz="2400" dirty="0"/>
                  <a:t>　</a:t>
                </a:r>
                <a14:m>
                  <m:oMath xmlns:m="http://schemas.openxmlformats.org/officeDocument/2006/math">
                    <m:sSup>
                      <m:sSupPr>
                        <m:ctrlPr>
                          <a:rPr lang="en-US" altLang="zh-CN" sz="2400" b="0" i="1" smtClean="0">
                            <a:latin typeface="Cambria Math" panose="02040503050406030204" pitchFamily="18" charset="0"/>
                          </a:rPr>
                        </m:ctrlPr>
                      </m:sSupPr>
                      <m:e>
                        <m:r>
                          <a:rPr lang="en-US" altLang="zh-CN" sz="2400" i="1">
                            <a:latin typeface="Cambria Math" panose="02040503050406030204" pitchFamily="18" charset="0"/>
                          </a:rPr>
                          <m:t>𝐴</m:t>
                        </m:r>
                      </m:e>
                      <m:sup>
                        <m:r>
                          <a:rPr lang="en-US" altLang="zh-CN" sz="2400" b="0" i="1" smtClean="0">
                            <a:latin typeface="Cambria Math" panose="02040503050406030204" pitchFamily="18" charset="0"/>
                          </a:rPr>
                          <m:t>1/4</m:t>
                        </m:r>
                      </m:sup>
                    </m:sSup>
                    <m:r>
                      <a:rPr lang="en-US" altLang="zh-CN" sz="2400" b="0" i="1" smtClean="0">
                        <a:latin typeface="Cambria Math" panose="02040503050406030204" pitchFamily="18" charset="0"/>
                      </a:rPr>
                      <m:t>=</m:t>
                    </m:r>
                    <m:d>
                      <m:dPr>
                        <m:begChr m:val="["/>
                        <m:endChr m:val="]"/>
                        <m:ctrlPr>
                          <a:rPr lang="en-US" altLang="zh-CN" sz="2400" i="1" smtClean="0">
                            <a:latin typeface="Cambria Math" panose="02040503050406030204" pitchFamily="18" charset="0"/>
                          </a:rPr>
                        </m:ctrlPr>
                      </m:dPr>
                      <m:e>
                        <m:m>
                          <m:mPr>
                            <m:mcs>
                              <m:mc>
                                <m:mcPr>
                                  <m:count m:val="2"/>
                                  <m:mcJc m:val="center"/>
                                </m:mcPr>
                              </m:mc>
                            </m:mcs>
                            <m:ctrlPr>
                              <a:rPr lang="en-US" altLang="zh-CN" sz="2400" i="1">
                                <a:latin typeface="Cambria Math" panose="02040503050406030204" pitchFamily="18" charset="0"/>
                              </a:rPr>
                            </m:ctrlPr>
                          </m:mPr>
                          <m:mr>
                            <m:e>
                              <m:r>
                                <m:rPr>
                                  <m:brk m:alnAt="7"/>
                                </m:rPr>
                                <a:rPr lang="en-US" altLang="zh-CN" sz="2400" i="1">
                                  <a:latin typeface="Cambria Math" panose="02040503050406030204" pitchFamily="18" charset="0"/>
                                </a:rPr>
                                <m:t>2</m:t>
                              </m:r>
                              <m:r>
                                <a:rPr lang="en-US" altLang="zh-CN" sz="2400" b="0" i="1" smtClean="0">
                                  <a:latin typeface="Cambria Math" panose="02040503050406030204" pitchFamily="18" charset="0"/>
                                </a:rPr>
                                <m:t>.11</m:t>
                              </m:r>
                            </m:e>
                            <m:e>
                              <m:r>
                                <a:rPr lang="en-US" altLang="zh-CN" sz="2400" b="0" i="1" smtClean="0">
                                  <a:latin typeface="Cambria Math" panose="02040503050406030204" pitchFamily="18" charset="0"/>
                                </a:rPr>
                                <m:t>0.26</m:t>
                              </m:r>
                            </m:e>
                          </m:mr>
                          <m:mr>
                            <m:e>
                              <m:r>
                                <a:rPr lang="en-US" altLang="zh-CN" sz="2400" i="1">
                                  <a:latin typeface="Cambria Math" panose="02040503050406030204" pitchFamily="18" charset="0"/>
                                </a:rPr>
                                <m:t>0</m:t>
                              </m:r>
                            </m:e>
                            <m:e>
                              <m:r>
                                <a:rPr lang="en-US" altLang="zh-CN" sz="2400" b="0" i="1" smtClean="0">
                                  <a:latin typeface="Cambria Math" panose="02040503050406030204" pitchFamily="18" charset="0"/>
                                </a:rPr>
                                <m:t>1.96</m:t>
                              </m:r>
                            </m:e>
                          </m:mr>
                        </m:m>
                      </m:e>
                    </m:d>
                  </m:oMath>
                </a14:m>
                <a:endParaRPr lang="en-US" altLang="zh-CN" sz="2400" dirty="0"/>
              </a:p>
            </p:txBody>
          </p:sp>
        </mc:Choice>
        <mc:Fallback xmlns="">
          <p:sp>
            <p:nvSpPr>
              <p:cNvPr id="17" name="テキスト ボックス 6">
                <a:extLst>
                  <a:ext uri="{FF2B5EF4-FFF2-40B4-BE49-F238E27FC236}">
                    <a16:creationId xmlns:a16="http://schemas.microsoft.com/office/drawing/2014/main" id="{1D1F996D-F992-4B80-8612-F39F65B36E2C}"/>
                  </a:ext>
                </a:extLst>
              </p:cNvPr>
              <p:cNvSpPr txBox="1">
                <a:spLocks noRot="1" noChangeAspect="1" noMove="1" noResize="1" noEditPoints="1" noAdjustHandles="1" noChangeArrowheads="1" noChangeShapeType="1" noTextEdit="1"/>
              </p:cNvSpPr>
              <p:nvPr/>
            </p:nvSpPr>
            <p:spPr>
              <a:xfrm>
                <a:off x="374644" y="2012857"/>
                <a:ext cx="5721356" cy="854465"/>
              </a:xfrm>
              <a:prstGeom prst="rect">
                <a:avLst/>
              </a:prstGeom>
              <a:blipFill>
                <a:blip r:embed="rId7"/>
                <a:stretch>
                  <a:fillRect l="-3195" b="-857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テキスト ボックス 36">
                <a:extLst>
                  <a:ext uri="{FF2B5EF4-FFF2-40B4-BE49-F238E27FC236}">
                    <a16:creationId xmlns:a16="http://schemas.microsoft.com/office/drawing/2014/main" id="{0C69C632-98CC-4825-9556-5A7D003A0474}"/>
                  </a:ext>
                </a:extLst>
              </p:cNvPr>
              <p:cNvSpPr txBox="1"/>
              <p:nvPr/>
            </p:nvSpPr>
            <p:spPr>
              <a:xfrm>
                <a:off x="307313" y="3111206"/>
                <a:ext cx="6999464" cy="461665"/>
              </a:xfrm>
              <a:prstGeom prst="rect">
                <a:avLst/>
              </a:prstGeom>
              <a:noFill/>
            </p:spPr>
            <p:txBody>
              <a:bodyPr wrap="square">
                <a:spAutoFit/>
              </a:bodyPr>
              <a:lstStyle/>
              <a:p>
                <a:r>
                  <a:rPr kumimoji="1" lang="ja-JP" altLang="en-US" sz="2400" dirty="0">
                    <a:solidFill>
                      <a:schemeClr val="tx1"/>
                    </a:solidFill>
                    <a:ea typeface="メイリオ" panose="020B0604030504040204" pitchFamily="50" charset="-128"/>
                  </a:rPr>
                  <a:t>・</a:t>
                </a:r>
                <a14:m>
                  <m:oMath xmlns:m="http://schemas.openxmlformats.org/officeDocument/2006/math">
                    <m:sSub>
                      <m:sSubPr>
                        <m:ctrlPr>
                          <a:rPr kumimoji="1" lang="en-US" altLang="ja-JP" sz="2400" i="1" smtClean="0">
                            <a:solidFill>
                              <a:schemeClr val="tx1"/>
                            </a:solidFill>
                            <a:latin typeface="Cambria Math" panose="02040503050406030204" pitchFamily="18" charset="0"/>
                            <a:ea typeface="メイリオ" panose="020B0604030504040204" pitchFamily="50" charset="-128"/>
                          </a:rPr>
                        </m:ctrlPr>
                      </m:sSubPr>
                      <m:e>
                        <m:r>
                          <a:rPr kumimoji="1" lang="en-US" altLang="ja-JP" sz="2400" i="1">
                            <a:solidFill>
                              <a:schemeClr val="tx1"/>
                            </a:solidFill>
                            <a:latin typeface="Cambria Math" panose="02040503050406030204" pitchFamily="18" charset="0"/>
                            <a:ea typeface="メイリオ" panose="020B0604030504040204" pitchFamily="50" charset="-128"/>
                          </a:rPr>
                          <m:t>𝑋</m:t>
                        </m:r>
                      </m:e>
                      <m:sub>
                        <m:r>
                          <a:rPr kumimoji="1" lang="en-US" altLang="ja-JP" sz="2400">
                            <a:solidFill>
                              <a:schemeClr val="tx1"/>
                            </a:solidFill>
                            <a:latin typeface="Cambria Math" panose="02040503050406030204" pitchFamily="18" charset="0"/>
                            <a:ea typeface="メイリオ" panose="020B0604030504040204" pitchFamily="50" charset="-128"/>
                          </a:rPr>
                          <m:t>0</m:t>
                        </m:r>
                      </m:sub>
                    </m:sSub>
                  </m:oMath>
                </a14:m>
                <a:r>
                  <a:rPr kumimoji="1" lang="ja-JP" altLang="en-US" sz="2400" dirty="0">
                    <a:solidFill>
                      <a:schemeClr val="tx1"/>
                    </a:solidFill>
                    <a:latin typeface="メイリオ" panose="020B0604030504040204" pitchFamily="50" charset="-128"/>
                    <a:ea typeface="メイリオ" panose="020B0604030504040204" pitchFamily="50" charset="-128"/>
                  </a:rPr>
                  <a:t> </a:t>
                </a:r>
                <a:r>
                  <a:rPr lang="en-US" sz="2400" b="0" dirty="0"/>
                  <a:t>=</a:t>
                </a:r>
                <a14:m>
                  <m:oMath xmlns:m="http://schemas.openxmlformats.org/officeDocument/2006/math">
                    <m:r>
                      <a:rPr lang="en-US" sz="2400" b="0" i="1" smtClean="0">
                        <a:latin typeface="Cambria Math" panose="02040503050406030204" pitchFamily="18" charset="0"/>
                      </a:rPr>
                      <m:t>𝑐𝐼</m:t>
                    </m:r>
                  </m:oMath>
                </a14:m>
                <a:r>
                  <a:rPr lang="en-US" sz="2400" dirty="0"/>
                  <a:t>(</a:t>
                </a:r>
                <a14:m>
                  <m:oMath xmlns:m="http://schemas.openxmlformats.org/officeDocument/2006/math">
                    <m:r>
                      <a:rPr lang="en-US" sz="2400" i="1">
                        <a:latin typeface="Cambria Math" panose="02040503050406030204" pitchFamily="18" charset="0"/>
                      </a:rPr>
                      <m:t>𝑐</m:t>
                    </m:r>
                  </m:oMath>
                </a14:m>
                <a:r>
                  <a:rPr lang="en-US" sz="2400" dirty="0"/>
                  <a:t>=0.5, 0.8, 0.9, 1, 1.1, 1.2, 1.5, 1.8, 1.9, 2)</a:t>
                </a:r>
              </a:p>
            </p:txBody>
          </p:sp>
        </mc:Choice>
        <mc:Fallback xmlns="">
          <p:sp>
            <p:nvSpPr>
              <p:cNvPr id="18" name="テキスト ボックス 36">
                <a:extLst>
                  <a:ext uri="{FF2B5EF4-FFF2-40B4-BE49-F238E27FC236}">
                    <a16:creationId xmlns:a16="http://schemas.microsoft.com/office/drawing/2014/main" id="{0C69C632-98CC-4825-9556-5A7D003A0474}"/>
                  </a:ext>
                </a:extLst>
              </p:cNvPr>
              <p:cNvSpPr txBox="1">
                <a:spLocks noRot="1" noChangeAspect="1" noMove="1" noResize="1" noEditPoints="1" noAdjustHandles="1" noChangeArrowheads="1" noChangeShapeType="1" noTextEdit="1"/>
              </p:cNvSpPr>
              <p:nvPr/>
            </p:nvSpPr>
            <p:spPr>
              <a:xfrm>
                <a:off x="307313" y="3111206"/>
                <a:ext cx="6999464" cy="461665"/>
              </a:xfrm>
              <a:prstGeom prst="rect">
                <a:avLst/>
              </a:prstGeom>
              <a:blipFill>
                <a:blip r:embed="rId8"/>
                <a:stretch>
                  <a:fillRect l="-1305" t="-14474" b="-31579"/>
                </a:stretch>
              </a:blipFill>
            </p:spPr>
            <p:txBody>
              <a:bodyPr/>
              <a:lstStyle/>
              <a:p>
                <a:r>
                  <a:rPr lang="zh-CN" altLang="en-US">
                    <a:noFill/>
                  </a:rPr>
                  <a:t> </a:t>
                </a:r>
              </a:p>
            </p:txBody>
          </p:sp>
        </mc:Fallback>
      </mc:AlternateContent>
      <p:sp>
        <p:nvSpPr>
          <p:cNvPr id="27" name="テキスト ボックス 50">
            <a:extLst>
              <a:ext uri="{FF2B5EF4-FFF2-40B4-BE49-F238E27FC236}">
                <a16:creationId xmlns:a16="http://schemas.microsoft.com/office/drawing/2014/main" id="{D8D3E643-B082-4D60-AA74-F05120D2C705}"/>
              </a:ext>
            </a:extLst>
          </p:cNvPr>
          <p:cNvSpPr txBox="1"/>
          <p:nvPr/>
        </p:nvSpPr>
        <p:spPr>
          <a:xfrm>
            <a:off x="374643" y="1021173"/>
            <a:ext cx="5120197" cy="932563"/>
          </a:xfrm>
          <a:prstGeom prst="rect">
            <a:avLst/>
          </a:prstGeom>
          <a:noFill/>
        </p:spPr>
        <p:txBody>
          <a:bodyPr wrap="square" lIns="0" tIns="0" rIns="0" bIns="0" rtlCol="0">
            <a:spAutoFit/>
          </a:bodyPr>
          <a:lstStyle/>
          <a:p>
            <a:pPr>
              <a:lnSpc>
                <a:spcPct val="130000"/>
              </a:lnSpc>
            </a:pPr>
            <a:r>
              <a:rPr lang="en-US" altLang="ja-JP" sz="2400" dirty="0">
                <a:solidFill>
                  <a:srgbClr val="FF0000"/>
                </a:solidFill>
              </a:rPr>
              <a:t>IN</a:t>
            </a:r>
            <a:r>
              <a:rPr lang="ja-JP" altLang="en-US" sz="2400" dirty="0">
                <a:solidFill>
                  <a:srgbClr val="FF0000"/>
                </a:solidFill>
              </a:rPr>
              <a:t>法</a:t>
            </a:r>
            <a:r>
              <a:rPr lang="ja-JP" altLang="en-US" sz="2400" dirty="0"/>
              <a:t>の初期値と解の距離を小さくし、反復回数の変化を観察</a:t>
            </a:r>
            <a:endParaRPr lang="en-US" sz="2400" dirty="0"/>
          </a:p>
        </p:txBody>
      </p:sp>
      <p:cxnSp>
        <p:nvCxnSpPr>
          <p:cNvPr id="37" name="直線コネクタ 10">
            <a:extLst>
              <a:ext uri="{FF2B5EF4-FFF2-40B4-BE49-F238E27FC236}">
                <a16:creationId xmlns:a16="http://schemas.microsoft.com/office/drawing/2014/main" id="{351DEFBD-7722-46D3-9E2D-67DF249E5FF6}"/>
              </a:ext>
            </a:extLst>
          </p:cNvPr>
          <p:cNvCxnSpPr>
            <a:cxnSpLocks/>
          </p:cNvCxnSpPr>
          <p:nvPr/>
        </p:nvCxnSpPr>
        <p:spPr>
          <a:xfrm flipH="1">
            <a:off x="7438165" y="888358"/>
            <a:ext cx="7125" cy="328929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8" name="直線コネクタ 10">
            <a:extLst>
              <a:ext uri="{FF2B5EF4-FFF2-40B4-BE49-F238E27FC236}">
                <a16:creationId xmlns:a16="http://schemas.microsoft.com/office/drawing/2014/main" id="{75CE972C-9385-41A3-87E7-CC2EA3FC559C}"/>
              </a:ext>
            </a:extLst>
          </p:cNvPr>
          <p:cNvCxnSpPr>
            <a:cxnSpLocks/>
          </p:cNvCxnSpPr>
          <p:nvPr/>
        </p:nvCxnSpPr>
        <p:spPr>
          <a:xfrm>
            <a:off x="336065" y="4185610"/>
            <a:ext cx="7109225"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0" name="タイトル 1">
            <a:extLst>
              <a:ext uri="{FF2B5EF4-FFF2-40B4-BE49-F238E27FC236}">
                <a16:creationId xmlns:a16="http://schemas.microsoft.com/office/drawing/2014/main" id="{BD54F784-6485-4FBE-9274-43402679B250}"/>
              </a:ext>
            </a:extLst>
          </p:cNvPr>
          <p:cNvSpPr>
            <a:spLocks noGrp="1"/>
          </p:cNvSpPr>
          <p:nvPr>
            <p:ph type="title"/>
          </p:nvPr>
        </p:nvSpPr>
        <p:spPr>
          <a:xfrm>
            <a:off x="256244" y="176094"/>
            <a:ext cx="12070474" cy="717316"/>
          </a:xfrm>
        </p:spPr>
        <p:txBody>
          <a:bodyPr>
            <a:normAutofit/>
          </a:bodyPr>
          <a:lstStyle/>
          <a:p>
            <a:r>
              <a:rPr lang="ja-JP" altLang="en-US" sz="3200" dirty="0">
                <a:latin typeface="メイリオ" panose="020B0604030504040204" pitchFamily="50" charset="-128"/>
                <a:ea typeface="メイリオ" panose="020B0604030504040204" pitchFamily="50" charset="-128"/>
              </a:rPr>
              <a:t>調査</a:t>
            </a:r>
            <a:r>
              <a:rPr lang="en-US" altLang="ja-JP" sz="3200" dirty="0">
                <a:latin typeface="メイリオ" panose="020B0604030504040204" pitchFamily="50" charset="-128"/>
                <a:ea typeface="メイリオ" panose="020B0604030504040204" pitchFamily="50" charset="-128"/>
              </a:rPr>
              <a:t>2</a:t>
            </a:r>
            <a:r>
              <a:rPr lang="zh-CN" altLang="en-US" sz="3200" dirty="0">
                <a:latin typeface="メイリオ" panose="020B0604030504040204" pitchFamily="50" charset="-128"/>
                <a:ea typeface="メイリオ" panose="020B0604030504040204" pitchFamily="50" charset="-128"/>
              </a:rPr>
              <a:t>：</a:t>
            </a:r>
            <a:r>
              <a:rPr lang="en-US" altLang="zh-CN" sz="3200" dirty="0">
                <a:solidFill>
                  <a:srgbClr val="FF0000"/>
                </a:solidFill>
                <a:latin typeface="メイリオ" panose="020B0604030504040204" pitchFamily="50" charset="-128"/>
                <a:ea typeface="メイリオ" panose="020B0604030504040204" pitchFamily="50" charset="-128"/>
              </a:rPr>
              <a:t>I</a:t>
            </a:r>
            <a:r>
              <a:rPr lang="en-US" altLang="ja-JP" sz="3200" dirty="0">
                <a:solidFill>
                  <a:srgbClr val="FF0000"/>
                </a:solidFill>
                <a:latin typeface="メイリオ" panose="020B0604030504040204" pitchFamily="50" charset="-128"/>
                <a:ea typeface="メイリオ" panose="020B0604030504040204" pitchFamily="50" charset="-128"/>
              </a:rPr>
              <a:t>N</a:t>
            </a:r>
            <a:r>
              <a:rPr lang="ja-JP" altLang="en-US" sz="3200" dirty="0">
                <a:solidFill>
                  <a:srgbClr val="FF0000"/>
                </a:solidFill>
                <a:latin typeface="メイリオ" panose="020B0604030504040204" pitchFamily="50" charset="-128"/>
                <a:ea typeface="メイリオ" panose="020B0604030504040204" pitchFamily="50" charset="-128"/>
              </a:rPr>
              <a:t>法</a:t>
            </a:r>
            <a:r>
              <a:rPr lang="ja-JP" altLang="en-US" sz="3200" dirty="0">
                <a:latin typeface="メイリオ" panose="020B0604030504040204" pitchFamily="50" charset="-128"/>
                <a:ea typeface="メイリオ" panose="020B0604030504040204" pitchFamily="50" charset="-128"/>
              </a:rPr>
              <a:t>の収束の初期値依存性</a:t>
            </a:r>
            <a:endParaRPr lang="en-US" sz="3200" dirty="0">
              <a:latin typeface="メイリオ" panose="020B0604030504040204" pitchFamily="50" charset="-128"/>
              <a:ea typeface="メイリオ" panose="020B0604030504040204" pitchFamily="50" charset="-128"/>
            </a:endParaRPr>
          </a:p>
        </p:txBody>
      </p:sp>
      <p:sp>
        <p:nvSpPr>
          <p:cNvPr id="31" name="テキスト ボックス 48">
            <a:extLst>
              <a:ext uri="{FF2B5EF4-FFF2-40B4-BE49-F238E27FC236}">
                <a16:creationId xmlns:a16="http://schemas.microsoft.com/office/drawing/2014/main" id="{AA96F8A5-4588-42AA-9DC6-81C0CF1C3748}"/>
              </a:ext>
            </a:extLst>
          </p:cNvPr>
          <p:cNvSpPr txBox="1"/>
          <p:nvPr/>
        </p:nvSpPr>
        <p:spPr>
          <a:xfrm>
            <a:off x="307313" y="4539111"/>
            <a:ext cx="6999464" cy="369332"/>
          </a:xfrm>
          <a:prstGeom prst="rect">
            <a:avLst/>
          </a:prstGeom>
          <a:noFill/>
        </p:spPr>
        <p:txBody>
          <a:bodyPr wrap="square" lIns="0" tIns="0" rIns="0" bIns="0" rtlCol="0">
            <a:spAutoFit/>
          </a:bodyPr>
          <a:lstStyle/>
          <a:p>
            <a:r>
              <a:rPr kumimoji="1" lang="en-US" altLang="zh-CN" sz="2400" dirty="0">
                <a:solidFill>
                  <a:srgbClr val="FF0000"/>
                </a:solidFill>
                <a:latin typeface="+mj-ea"/>
              </a:rPr>
              <a:t>IN</a:t>
            </a:r>
            <a:r>
              <a:rPr kumimoji="1" lang="ja-JP" altLang="en-US" sz="2400" dirty="0">
                <a:ea typeface="メイリオ" panose="020B0604030504040204" pitchFamily="50" charset="-128"/>
              </a:rPr>
              <a:t>法は初期値が単位行列のときのみ収束した</a:t>
            </a:r>
            <a:endParaRPr lang="en-US" sz="2400" dirty="0"/>
          </a:p>
        </p:txBody>
      </p:sp>
      <p:cxnSp>
        <p:nvCxnSpPr>
          <p:cNvPr id="32" name="直接连接符 31">
            <a:extLst>
              <a:ext uri="{FF2B5EF4-FFF2-40B4-BE49-F238E27FC236}">
                <a16:creationId xmlns:a16="http://schemas.microsoft.com/office/drawing/2014/main" id="{E746657B-0D0E-4351-8C93-AD1B6983A2AE}"/>
              </a:ext>
            </a:extLst>
          </p:cNvPr>
          <p:cNvCxnSpPr>
            <a:cxnSpLocks/>
          </p:cNvCxnSpPr>
          <p:nvPr/>
        </p:nvCxnSpPr>
        <p:spPr>
          <a:xfrm flipV="1">
            <a:off x="307313" y="4908443"/>
            <a:ext cx="6235072" cy="360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39" name="表 38">
                <a:extLst>
                  <a:ext uri="{FF2B5EF4-FFF2-40B4-BE49-F238E27FC236}">
                    <a16:creationId xmlns:a16="http://schemas.microsoft.com/office/drawing/2014/main" id="{EB74CAE5-34A7-41BB-9521-9B5F09113D1D}"/>
                  </a:ext>
                </a:extLst>
              </p:cNvPr>
              <p:cNvGraphicFramePr>
                <a:graphicFrameLocks noGrp="1"/>
              </p:cNvGraphicFramePr>
              <p:nvPr>
                <p:extLst>
                  <p:ext uri="{D42A27DB-BD31-4B8C-83A1-F6EECF244321}">
                    <p14:modId xmlns:p14="http://schemas.microsoft.com/office/powerpoint/2010/main" val="2152031452"/>
                  </p:ext>
                </p:extLst>
              </p:nvPr>
            </p:nvGraphicFramePr>
            <p:xfrm>
              <a:off x="362139" y="5256891"/>
              <a:ext cx="11228352" cy="1112520"/>
            </p:xfrm>
            <a:graphic>
              <a:graphicData uri="http://schemas.openxmlformats.org/drawingml/2006/table">
                <a:tbl>
                  <a:tblPr firstRow="1" bandRow="1">
                    <a:tableStyleId>{5C22544A-7EE6-4342-B048-85BDC9FD1C3A}</a:tableStyleId>
                  </a:tblPr>
                  <a:tblGrid>
                    <a:gridCol w="2062789">
                      <a:extLst>
                        <a:ext uri="{9D8B030D-6E8A-4147-A177-3AD203B41FA5}">
                          <a16:colId xmlns:a16="http://schemas.microsoft.com/office/drawing/2014/main" val="1624300361"/>
                        </a:ext>
                      </a:extLst>
                    </a:gridCol>
                    <a:gridCol w="753874">
                      <a:extLst>
                        <a:ext uri="{9D8B030D-6E8A-4147-A177-3AD203B41FA5}">
                          <a16:colId xmlns:a16="http://schemas.microsoft.com/office/drawing/2014/main" val="2491710227"/>
                        </a:ext>
                      </a:extLst>
                    </a:gridCol>
                    <a:gridCol w="1088692">
                      <a:extLst>
                        <a:ext uri="{9D8B030D-6E8A-4147-A177-3AD203B41FA5}">
                          <a16:colId xmlns:a16="http://schemas.microsoft.com/office/drawing/2014/main" val="2638989053"/>
                        </a:ext>
                      </a:extLst>
                    </a:gridCol>
                    <a:gridCol w="985985">
                      <a:extLst>
                        <a:ext uri="{9D8B030D-6E8A-4147-A177-3AD203B41FA5}">
                          <a16:colId xmlns:a16="http://schemas.microsoft.com/office/drawing/2014/main" val="3241739729"/>
                        </a:ext>
                      </a:extLst>
                    </a:gridCol>
                    <a:gridCol w="1016798">
                      <a:extLst>
                        <a:ext uri="{9D8B030D-6E8A-4147-A177-3AD203B41FA5}">
                          <a16:colId xmlns:a16="http://schemas.microsoft.com/office/drawing/2014/main" val="1845602896"/>
                        </a:ext>
                      </a:extLst>
                    </a:gridCol>
                    <a:gridCol w="985985">
                      <a:extLst>
                        <a:ext uri="{9D8B030D-6E8A-4147-A177-3AD203B41FA5}">
                          <a16:colId xmlns:a16="http://schemas.microsoft.com/office/drawing/2014/main" val="2223171342"/>
                        </a:ext>
                      </a:extLst>
                    </a:gridCol>
                    <a:gridCol w="862737">
                      <a:extLst>
                        <a:ext uri="{9D8B030D-6E8A-4147-A177-3AD203B41FA5}">
                          <a16:colId xmlns:a16="http://schemas.microsoft.com/office/drawing/2014/main" val="195941715"/>
                        </a:ext>
                      </a:extLst>
                    </a:gridCol>
                    <a:gridCol w="900057">
                      <a:extLst>
                        <a:ext uri="{9D8B030D-6E8A-4147-A177-3AD203B41FA5}">
                          <a16:colId xmlns:a16="http://schemas.microsoft.com/office/drawing/2014/main" val="285703637"/>
                        </a:ext>
                      </a:extLst>
                    </a:gridCol>
                    <a:gridCol w="879911">
                      <a:extLst>
                        <a:ext uri="{9D8B030D-6E8A-4147-A177-3AD203B41FA5}">
                          <a16:colId xmlns:a16="http://schemas.microsoft.com/office/drawing/2014/main" val="3812825335"/>
                        </a:ext>
                      </a:extLst>
                    </a:gridCol>
                    <a:gridCol w="901153">
                      <a:extLst>
                        <a:ext uri="{9D8B030D-6E8A-4147-A177-3AD203B41FA5}">
                          <a16:colId xmlns:a16="http://schemas.microsoft.com/office/drawing/2014/main" val="1917968942"/>
                        </a:ext>
                      </a:extLst>
                    </a:gridCol>
                    <a:gridCol w="790371">
                      <a:extLst>
                        <a:ext uri="{9D8B030D-6E8A-4147-A177-3AD203B41FA5}">
                          <a16:colId xmlns:a16="http://schemas.microsoft.com/office/drawing/2014/main" val="1943050782"/>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rPr>
                                  <m:t>𝒄</m:t>
                                </m:r>
                              </m:oMath>
                            </m:oMathPara>
                          </a14:m>
                          <a:endParaRPr lang="en-US" dirty="0">
                            <a:solidFill>
                              <a:schemeClr val="tx1"/>
                            </a:solidFill>
                          </a:endParaRPr>
                        </a:p>
                      </a:txBody>
                      <a:tcPr/>
                    </a:tc>
                    <a:tc>
                      <a:txBody>
                        <a:bodyPr/>
                        <a:lstStyle/>
                        <a:p>
                          <a:pPr algn="ctr"/>
                          <a:r>
                            <a:rPr lang="en-US" sz="1800" b="1" dirty="0">
                              <a:solidFill>
                                <a:schemeClr val="tx1"/>
                              </a:solidFill>
                            </a:rPr>
                            <a:t>0.5</a:t>
                          </a:r>
                          <a:endParaRPr lang="en-US" b="1" dirty="0">
                            <a:solidFill>
                              <a:schemeClr val="tx1"/>
                            </a:solidFill>
                          </a:endParaRPr>
                        </a:p>
                      </a:txBody>
                      <a:tcPr/>
                    </a:tc>
                    <a:tc>
                      <a:txBody>
                        <a:bodyPr/>
                        <a:lstStyle/>
                        <a:p>
                          <a:pPr algn="ctr"/>
                          <a:r>
                            <a:rPr lang="en-US" sz="1800" b="1" dirty="0">
                              <a:solidFill>
                                <a:schemeClr val="tx1"/>
                              </a:solidFill>
                            </a:rPr>
                            <a:t>0.8</a:t>
                          </a:r>
                          <a:endParaRPr lang="en-US" b="1" dirty="0">
                            <a:solidFill>
                              <a:schemeClr val="tx1"/>
                            </a:solidFill>
                          </a:endParaRPr>
                        </a:p>
                      </a:txBody>
                      <a:tcPr/>
                    </a:tc>
                    <a:tc>
                      <a:txBody>
                        <a:bodyPr/>
                        <a:lstStyle/>
                        <a:p>
                          <a:pPr algn="ctr"/>
                          <a:r>
                            <a:rPr lang="en-US" sz="1800" b="1" dirty="0">
                              <a:solidFill>
                                <a:schemeClr val="tx1"/>
                              </a:solidFill>
                            </a:rPr>
                            <a:t>0.9</a:t>
                          </a:r>
                          <a:endParaRPr lang="en-US" b="1" dirty="0">
                            <a:solidFill>
                              <a:schemeClr val="tx1"/>
                            </a:solidFill>
                          </a:endParaRPr>
                        </a:p>
                      </a:txBody>
                      <a:tcPr/>
                    </a:tc>
                    <a:tc>
                      <a:txBody>
                        <a:bodyPr/>
                        <a:lstStyle/>
                        <a:p>
                          <a:pPr algn="ctr"/>
                          <a:r>
                            <a:rPr lang="en-US" sz="1800" b="1" dirty="0">
                              <a:solidFill>
                                <a:schemeClr val="tx1"/>
                              </a:solidFill>
                            </a:rPr>
                            <a:t>1</a:t>
                          </a:r>
                          <a:endParaRPr lang="en-US" b="1" dirty="0">
                            <a:solidFill>
                              <a:schemeClr val="tx1"/>
                            </a:solidFill>
                          </a:endParaRPr>
                        </a:p>
                      </a:txBody>
                      <a:tcPr/>
                    </a:tc>
                    <a:tc>
                      <a:txBody>
                        <a:bodyPr/>
                        <a:lstStyle/>
                        <a:p>
                          <a:pPr algn="ctr"/>
                          <a:r>
                            <a:rPr lang="en-US" sz="1800" b="1" dirty="0">
                              <a:solidFill>
                                <a:schemeClr val="tx1"/>
                              </a:solidFill>
                            </a:rPr>
                            <a:t>1.1</a:t>
                          </a:r>
                          <a:endParaRPr lang="en-US" b="1" dirty="0">
                            <a:solidFill>
                              <a:schemeClr val="tx1"/>
                            </a:solidFill>
                          </a:endParaRPr>
                        </a:p>
                      </a:txBody>
                      <a:tcPr/>
                    </a:tc>
                    <a:tc>
                      <a:txBody>
                        <a:bodyPr/>
                        <a:lstStyle/>
                        <a:p>
                          <a:pPr algn="ctr"/>
                          <a:r>
                            <a:rPr lang="en-US" sz="1800" b="1" dirty="0">
                              <a:solidFill>
                                <a:schemeClr val="tx1"/>
                              </a:solidFill>
                            </a:rPr>
                            <a:t>1.2</a:t>
                          </a:r>
                          <a:endParaRPr lang="en-US" b="1" dirty="0">
                            <a:solidFill>
                              <a:schemeClr val="tx1"/>
                            </a:solidFill>
                          </a:endParaRPr>
                        </a:p>
                      </a:txBody>
                      <a:tcPr/>
                    </a:tc>
                    <a:tc>
                      <a:txBody>
                        <a:bodyPr/>
                        <a:lstStyle/>
                        <a:p>
                          <a:pPr algn="ctr"/>
                          <a:r>
                            <a:rPr lang="en-US" sz="1800" b="1" dirty="0">
                              <a:solidFill>
                                <a:schemeClr val="tx1"/>
                              </a:solidFill>
                            </a:rPr>
                            <a:t>1.5</a:t>
                          </a:r>
                          <a:endParaRPr lang="en-US" b="1" dirty="0">
                            <a:solidFill>
                              <a:schemeClr val="tx1"/>
                            </a:solidFill>
                          </a:endParaRPr>
                        </a:p>
                      </a:txBody>
                      <a:tcPr/>
                    </a:tc>
                    <a:tc>
                      <a:txBody>
                        <a:bodyPr/>
                        <a:lstStyle/>
                        <a:p>
                          <a:pPr algn="ctr"/>
                          <a:r>
                            <a:rPr lang="en-US" sz="1800" b="1" dirty="0">
                              <a:solidFill>
                                <a:schemeClr val="tx1"/>
                              </a:solidFill>
                            </a:rPr>
                            <a:t>1.8</a:t>
                          </a:r>
                          <a:endParaRPr lang="en-US" b="1" dirty="0">
                            <a:solidFill>
                              <a:schemeClr val="tx1"/>
                            </a:solidFill>
                          </a:endParaRPr>
                        </a:p>
                      </a:txBody>
                      <a:tcPr/>
                    </a:tc>
                    <a:tc>
                      <a:txBody>
                        <a:bodyPr/>
                        <a:lstStyle/>
                        <a:p>
                          <a:pPr algn="ctr"/>
                          <a:r>
                            <a:rPr lang="en-US" sz="1800" b="1" dirty="0">
                              <a:solidFill>
                                <a:schemeClr val="tx1"/>
                              </a:solidFill>
                            </a:rPr>
                            <a:t>1.9</a:t>
                          </a:r>
                          <a:endParaRPr lang="en-US" b="1" dirty="0">
                            <a:solidFill>
                              <a:schemeClr val="tx1"/>
                            </a:solidFill>
                          </a:endParaRPr>
                        </a:p>
                      </a:txBody>
                      <a:tcPr/>
                    </a:tc>
                    <a:tc>
                      <a:txBody>
                        <a:bodyPr/>
                        <a:lstStyle/>
                        <a:p>
                          <a:pPr algn="ctr"/>
                          <a:r>
                            <a:rPr lang="en-US" sz="1800" b="1" dirty="0">
                              <a:solidFill>
                                <a:schemeClr val="tx1"/>
                              </a:solidFill>
                            </a:rPr>
                            <a:t>2</a:t>
                          </a:r>
                          <a:endParaRPr lang="en-US" b="1" dirty="0">
                            <a:solidFill>
                              <a:schemeClr val="tx1"/>
                            </a:solidFill>
                          </a:endParaRPr>
                        </a:p>
                      </a:txBody>
                      <a:tcPr/>
                    </a:tc>
                    <a:extLst>
                      <a:ext uri="{0D108BD9-81ED-4DB2-BD59-A6C34878D82A}">
                        <a16:rowId xmlns:a16="http://schemas.microsoft.com/office/drawing/2014/main" val="642303706"/>
                      </a:ext>
                    </a:extLst>
                  </a:tr>
                  <a:tr h="370840">
                    <a:tc>
                      <a:txBody>
                        <a:bodyPr/>
                        <a:lstStyle/>
                        <a:p>
                          <a:pPr algn="ctr"/>
                          <a:r>
                            <a:rPr lang="ja-JP" altLang="en-US" dirty="0">
                              <a:solidFill>
                                <a:schemeClr val="tx1"/>
                              </a:solidFill>
                            </a:rPr>
                            <a:t>初期値と解の距離</a:t>
                          </a:r>
                          <a:endParaRPr lang="en-US" dirty="0">
                            <a:solidFill>
                              <a:schemeClr val="tx1"/>
                            </a:solidFill>
                          </a:endParaRPr>
                        </a:p>
                      </a:txBody>
                      <a:tcPr/>
                    </a:tc>
                    <a:tc>
                      <a:txBody>
                        <a:bodyPr/>
                        <a:lstStyle/>
                        <a:p>
                          <a:pPr algn="ctr"/>
                          <a:r>
                            <a:rPr lang="en-US" b="1" dirty="0">
                              <a:solidFill>
                                <a:schemeClr val="tx1"/>
                              </a:solidFill>
                            </a:rPr>
                            <a:t>2.20</a:t>
                          </a:r>
                        </a:p>
                      </a:txBody>
                      <a:tcPr/>
                    </a:tc>
                    <a:tc>
                      <a:txBody>
                        <a:bodyPr/>
                        <a:lstStyle/>
                        <a:p>
                          <a:pPr algn="ctr"/>
                          <a:r>
                            <a:rPr lang="en-US" b="1" dirty="0">
                              <a:solidFill>
                                <a:schemeClr val="tx1"/>
                              </a:solidFill>
                            </a:rPr>
                            <a:t>1.78</a:t>
                          </a:r>
                        </a:p>
                      </a:txBody>
                      <a:tcPr/>
                    </a:tc>
                    <a:tc>
                      <a:txBody>
                        <a:bodyPr/>
                        <a:lstStyle/>
                        <a:p>
                          <a:pPr algn="ctr"/>
                          <a:r>
                            <a:rPr lang="en-US" b="1" dirty="0">
                              <a:solidFill>
                                <a:schemeClr val="tx1"/>
                              </a:solidFill>
                            </a:rPr>
                            <a:t>1.64</a:t>
                          </a:r>
                        </a:p>
                      </a:txBody>
                      <a:tcPr/>
                    </a:tc>
                    <a:tc>
                      <a:txBody>
                        <a:bodyPr/>
                        <a:lstStyle/>
                        <a:p>
                          <a:pPr algn="ctr"/>
                          <a:r>
                            <a:rPr lang="en-US" b="1" dirty="0">
                              <a:solidFill>
                                <a:schemeClr val="tx1"/>
                              </a:solidFill>
                            </a:rPr>
                            <a:t>1.50</a:t>
                          </a:r>
                        </a:p>
                      </a:txBody>
                      <a:tcPr/>
                    </a:tc>
                    <a:tc>
                      <a:txBody>
                        <a:bodyPr/>
                        <a:lstStyle/>
                        <a:p>
                          <a:pPr algn="ctr"/>
                          <a:r>
                            <a:rPr lang="en-US" b="1" dirty="0">
                              <a:solidFill>
                                <a:schemeClr val="tx1"/>
                              </a:solidFill>
                            </a:rPr>
                            <a:t> 1.36</a:t>
                          </a:r>
                        </a:p>
                      </a:txBody>
                      <a:tcPr/>
                    </a:tc>
                    <a:tc>
                      <a:txBody>
                        <a:bodyPr/>
                        <a:lstStyle/>
                        <a:p>
                          <a:pPr algn="ctr"/>
                          <a:r>
                            <a:rPr lang="en-US" b="1" dirty="0">
                              <a:solidFill>
                                <a:schemeClr val="tx1"/>
                              </a:solidFill>
                            </a:rPr>
                            <a:t>1.22</a:t>
                          </a:r>
                        </a:p>
                      </a:txBody>
                      <a:tcPr/>
                    </a:tc>
                    <a:tc>
                      <a:txBody>
                        <a:bodyPr/>
                        <a:lstStyle/>
                        <a:p>
                          <a:pPr algn="ctr"/>
                          <a:r>
                            <a:rPr lang="en-US" b="1" dirty="0">
                              <a:solidFill>
                                <a:schemeClr val="tx1"/>
                              </a:solidFill>
                            </a:rPr>
                            <a:t>0.81</a:t>
                          </a:r>
                        </a:p>
                      </a:txBody>
                      <a:tcPr/>
                    </a:tc>
                    <a:tc>
                      <a:txBody>
                        <a:bodyPr/>
                        <a:lstStyle/>
                        <a:p>
                          <a:pPr algn="ctr"/>
                          <a:r>
                            <a:rPr lang="en-US" b="1" dirty="0">
                              <a:solidFill>
                                <a:schemeClr val="tx1"/>
                              </a:solidFill>
                            </a:rPr>
                            <a:t>0.44</a:t>
                          </a:r>
                        </a:p>
                      </a:txBody>
                      <a:tcPr/>
                    </a:tc>
                    <a:tc>
                      <a:txBody>
                        <a:bodyPr/>
                        <a:lstStyle/>
                        <a:p>
                          <a:pPr algn="ctr"/>
                          <a:r>
                            <a:rPr lang="en-US" b="1" dirty="0">
                              <a:solidFill>
                                <a:schemeClr val="tx1"/>
                              </a:solidFill>
                            </a:rPr>
                            <a:t>0.35</a:t>
                          </a:r>
                        </a:p>
                      </a:txBody>
                      <a:tcPr/>
                    </a:tc>
                    <a:tc>
                      <a:txBody>
                        <a:bodyPr/>
                        <a:lstStyle/>
                        <a:p>
                          <a:pPr algn="ctr"/>
                          <a:r>
                            <a:rPr lang="en-US" b="1" dirty="0">
                              <a:solidFill>
                                <a:schemeClr val="tx1"/>
                              </a:solidFill>
                            </a:rPr>
                            <a:t> 0.30</a:t>
                          </a:r>
                        </a:p>
                      </a:txBody>
                      <a:tcPr/>
                    </a:tc>
                    <a:extLst>
                      <a:ext uri="{0D108BD9-81ED-4DB2-BD59-A6C34878D82A}">
                        <a16:rowId xmlns:a16="http://schemas.microsoft.com/office/drawing/2014/main" val="793300762"/>
                      </a:ext>
                    </a:extLst>
                  </a:tr>
                  <a:tr h="370840">
                    <a:tc>
                      <a:txBody>
                        <a:bodyPr/>
                        <a:lstStyle/>
                        <a:p>
                          <a:pPr algn="ctr"/>
                          <a:r>
                            <a:rPr lang="ja-JP" altLang="en-US" dirty="0">
                              <a:solidFill>
                                <a:srgbClr val="FF0000"/>
                              </a:solidFill>
                            </a:rPr>
                            <a:t>反復回数</a:t>
                          </a:r>
                          <a:endParaRPr lang="en-US" dirty="0">
                            <a:solidFill>
                              <a:srgbClr val="FF0000"/>
                            </a:solidFill>
                          </a:endParaRPr>
                        </a:p>
                      </a:txBody>
                      <a:tcPr/>
                    </a:tc>
                    <a:tc>
                      <a:txBody>
                        <a:bodyPr/>
                        <a:lstStyle/>
                        <a:p>
                          <a:pPr algn="ctr"/>
                          <a14:m>
                            <m:oMathPara xmlns:m="http://schemas.openxmlformats.org/officeDocument/2006/math">
                              <m:oMathParaPr>
                                <m:jc m:val="centerGroup"/>
                              </m:oMathParaPr>
                              <m:oMath xmlns:m="http://schemas.openxmlformats.org/officeDocument/2006/math">
                                <m:r>
                                  <a:rPr lang="en-US" altLang="zh-CN" sz="1800" b="1" i="1" smtClean="0">
                                    <a:solidFill>
                                      <a:srgbClr val="FF0000"/>
                                    </a:solidFill>
                                    <a:latin typeface="Cambria Math" panose="02040503050406030204" pitchFamily="18" charset="0"/>
                                    <a:ea typeface="Cambria Math" panose="02040503050406030204" pitchFamily="18" charset="0"/>
                                  </a:rPr>
                                  <m:t>×</m:t>
                                </m:r>
                              </m:oMath>
                            </m:oMathPara>
                          </a14:m>
                          <a:endParaRPr lang="en-US" b="1" dirty="0">
                            <a:solidFill>
                              <a:srgbClr val="FF0000"/>
                            </a:solidFill>
                          </a:endParaRPr>
                        </a:p>
                      </a:txBody>
                      <a:tcPr/>
                    </a:tc>
                    <a:tc>
                      <a:txBody>
                        <a:bodyPr/>
                        <a:lstStyle/>
                        <a:p>
                          <a:pPr algn="ctr"/>
                          <a14:m>
                            <m:oMathPara xmlns:m="http://schemas.openxmlformats.org/officeDocument/2006/math">
                              <m:oMathParaPr>
                                <m:jc m:val="centerGroup"/>
                              </m:oMathParaPr>
                              <m:oMath xmlns:m="http://schemas.openxmlformats.org/officeDocument/2006/math">
                                <m:r>
                                  <a:rPr lang="en-US" altLang="zh-CN" sz="1800" b="1" i="1" smtClean="0">
                                    <a:solidFill>
                                      <a:srgbClr val="FF0000"/>
                                    </a:solidFill>
                                    <a:latin typeface="Cambria Math" panose="02040503050406030204" pitchFamily="18" charset="0"/>
                                    <a:ea typeface="Cambria Math" panose="02040503050406030204" pitchFamily="18" charset="0"/>
                                  </a:rPr>
                                  <m:t>×</m:t>
                                </m:r>
                              </m:oMath>
                            </m:oMathPara>
                          </a14:m>
                          <a:endParaRPr lang="en-US" b="1" dirty="0">
                            <a:solidFill>
                              <a:srgbClr val="FF0000"/>
                            </a:solidFill>
                          </a:endParaRPr>
                        </a:p>
                      </a:txBody>
                      <a:tcPr/>
                    </a:tc>
                    <a:tc>
                      <a:txBody>
                        <a:bodyPr/>
                        <a:lstStyle/>
                        <a:p>
                          <a:pPr algn="ctr"/>
                          <a14:m>
                            <m:oMathPara xmlns:m="http://schemas.openxmlformats.org/officeDocument/2006/math">
                              <m:oMathParaPr>
                                <m:jc m:val="centerGroup"/>
                              </m:oMathParaPr>
                              <m:oMath xmlns:m="http://schemas.openxmlformats.org/officeDocument/2006/math">
                                <m:r>
                                  <a:rPr lang="en-US" altLang="zh-CN" sz="1800" b="1" i="1" smtClean="0">
                                    <a:solidFill>
                                      <a:srgbClr val="FF0000"/>
                                    </a:solidFill>
                                    <a:latin typeface="Cambria Math" panose="02040503050406030204" pitchFamily="18" charset="0"/>
                                    <a:ea typeface="Cambria Math" panose="02040503050406030204" pitchFamily="18" charset="0"/>
                                  </a:rPr>
                                  <m:t>×</m:t>
                                </m:r>
                              </m:oMath>
                            </m:oMathPara>
                          </a14:m>
                          <a:endParaRPr lang="en-US" b="1" dirty="0">
                            <a:solidFill>
                              <a:srgbClr val="FF0000"/>
                            </a:solidFill>
                          </a:endParaRPr>
                        </a:p>
                      </a:txBody>
                      <a:tcPr/>
                    </a:tc>
                    <a:tc>
                      <a:txBody>
                        <a:bodyPr/>
                        <a:lstStyle/>
                        <a:p>
                          <a:pPr algn="ctr"/>
                          <a:r>
                            <a:rPr lang="en-US" b="1" dirty="0">
                              <a:solidFill>
                                <a:schemeClr val="tx1"/>
                              </a:solidFill>
                            </a:rPr>
                            <a:t>10</a:t>
                          </a:r>
                        </a:p>
                      </a:txBody>
                      <a:tcPr/>
                    </a:tc>
                    <a:tc>
                      <a:txBody>
                        <a:bodyPr/>
                        <a:lstStyle/>
                        <a:p>
                          <a:pPr algn="ctr"/>
                          <a14:m>
                            <m:oMathPara xmlns:m="http://schemas.openxmlformats.org/officeDocument/2006/math">
                              <m:oMathParaPr>
                                <m:jc m:val="centerGroup"/>
                              </m:oMathParaPr>
                              <m:oMath xmlns:m="http://schemas.openxmlformats.org/officeDocument/2006/math">
                                <m:r>
                                  <a:rPr lang="en-US" altLang="zh-CN" sz="1800" b="1" i="1" smtClean="0">
                                    <a:solidFill>
                                      <a:srgbClr val="FF0000"/>
                                    </a:solidFill>
                                    <a:latin typeface="Cambria Math" panose="02040503050406030204" pitchFamily="18" charset="0"/>
                                    <a:ea typeface="Cambria Math" panose="02040503050406030204" pitchFamily="18" charset="0"/>
                                  </a:rPr>
                                  <m:t>×</m:t>
                                </m:r>
                              </m:oMath>
                            </m:oMathPara>
                          </a14:m>
                          <a:endParaRPr lang="en-US" b="1" dirty="0">
                            <a:solidFill>
                              <a:srgbClr val="FF0000"/>
                            </a:solidFill>
                          </a:endParaRPr>
                        </a:p>
                      </a:txBody>
                      <a:tcPr/>
                    </a:tc>
                    <a:tc>
                      <a:txBody>
                        <a:bodyPr/>
                        <a:lstStyle/>
                        <a:p>
                          <a:pPr algn="ctr"/>
                          <a14:m>
                            <m:oMathPara xmlns:m="http://schemas.openxmlformats.org/officeDocument/2006/math">
                              <m:oMathParaPr>
                                <m:jc m:val="centerGroup"/>
                              </m:oMathParaPr>
                              <m:oMath xmlns:m="http://schemas.openxmlformats.org/officeDocument/2006/math">
                                <m:r>
                                  <a:rPr lang="en-US" altLang="zh-CN" sz="1800" b="1" i="1" smtClean="0">
                                    <a:solidFill>
                                      <a:srgbClr val="FF0000"/>
                                    </a:solidFill>
                                    <a:latin typeface="Cambria Math" panose="02040503050406030204" pitchFamily="18" charset="0"/>
                                    <a:ea typeface="Cambria Math" panose="02040503050406030204" pitchFamily="18" charset="0"/>
                                  </a:rPr>
                                  <m:t>×</m:t>
                                </m:r>
                              </m:oMath>
                            </m:oMathPara>
                          </a14:m>
                          <a:endParaRPr lang="en-US" b="1" dirty="0">
                            <a:solidFill>
                              <a:srgbClr val="FF0000"/>
                            </a:solidFill>
                          </a:endParaRPr>
                        </a:p>
                      </a:txBody>
                      <a:tcPr/>
                    </a:tc>
                    <a:tc>
                      <a:txBody>
                        <a:bodyPr/>
                        <a:lstStyle/>
                        <a:p>
                          <a:pPr algn="ctr"/>
                          <a14:m>
                            <m:oMathPara xmlns:m="http://schemas.openxmlformats.org/officeDocument/2006/math">
                              <m:oMathParaPr>
                                <m:jc m:val="centerGroup"/>
                              </m:oMathParaPr>
                              <m:oMath xmlns:m="http://schemas.openxmlformats.org/officeDocument/2006/math">
                                <m:r>
                                  <a:rPr lang="en-US" altLang="zh-CN" sz="1800" b="1" i="1" smtClean="0">
                                    <a:solidFill>
                                      <a:srgbClr val="FF0000"/>
                                    </a:solidFill>
                                    <a:latin typeface="Cambria Math" panose="02040503050406030204" pitchFamily="18" charset="0"/>
                                    <a:ea typeface="Cambria Math" panose="02040503050406030204" pitchFamily="18" charset="0"/>
                                  </a:rPr>
                                  <m:t>×</m:t>
                                </m:r>
                              </m:oMath>
                            </m:oMathPara>
                          </a14:m>
                          <a:endParaRPr lang="en-US" b="1" dirty="0">
                            <a:solidFill>
                              <a:srgbClr val="FF0000"/>
                            </a:solidFill>
                          </a:endParaRPr>
                        </a:p>
                      </a:txBody>
                      <a:tcPr/>
                    </a:tc>
                    <a:tc>
                      <a:txBody>
                        <a:bodyPr/>
                        <a:lstStyle/>
                        <a:p>
                          <a:pPr algn="ctr"/>
                          <a14:m>
                            <m:oMathPara xmlns:m="http://schemas.openxmlformats.org/officeDocument/2006/math">
                              <m:oMathParaPr>
                                <m:jc m:val="centerGroup"/>
                              </m:oMathParaPr>
                              <m:oMath xmlns:m="http://schemas.openxmlformats.org/officeDocument/2006/math">
                                <m:r>
                                  <a:rPr lang="en-US" altLang="zh-CN" sz="1800" b="1" i="1" smtClean="0">
                                    <a:solidFill>
                                      <a:srgbClr val="FF0000"/>
                                    </a:solidFill>
                                    <a:latin typeface="Cambria Math" panose="02040503050406030204" pitchFamily="18" charset="0"/>
                                    <a:ea typeface="Cambria Math" panose="02040503050406030204" pitchFamily="18" charset="0"/>
                                  </a:rPr>
                                  <m:t>×</m:t>
                                </m:r>
                              </m:oMath>
                            </m:oMathPara>
                          </a14:m>
                          <a:endParaRPr lang="en-US" b="1" dirty="0">
                            <a:solidFill>
                              <a:srgbClr val="FF0000"/>
                            </a:solidFill>
                          </a:endParaRPr>
                        </a:p>
                      </a:txBody>
                      <a:tcPr/>
                    </a:tc>
                    <a:tc>
                      <a:txBody>
                        <a:bodyPr/>
                        <a:lstStyle/>
                        <a:p>
                          <a:pPr algn="ctr"/>
                          <a14:m>
                            <m:oMathPara xmlns:m="http://schemas.openxmlformats.org/officeDocument/2006/math">
                              <m:oMathParaPr>
                                <m:jc m:val="centerGroup"/>
                              </m:oMathParaPr>
                              <m:oMath xmlns:m="http://schemas.openxmlformats.org/officeDocument/2006/math">
                                <m:r>
                                  <a:rPr lang="en-US" altLang="zh-CN" sz="1800" b="1" i="1" smtClean="0">
                                    <a:solidFill>
                                      <a:srgbClr val="FF0000"/>
                                    </a:solidFill>
                                    <a:latin typeface="Cambria Math" panose="02040503050406030204" pitchFamily="18" charset="0"/>
                                    <a:ea typeface="Cambria Math" panose="02040503050406030204" pitchFamily="18" charset="0"/>
                                  </a:rPr>
                                  <m:t>×</m:t>
                                </m:r>
                              </m:oMath>
                            </m:oMathPara>
                          </a14:m>
                          <a:endParaRPr lang="en-US" b="1" dirty="0">
                            <a:solidFill>
                              <a:srgbClr val="FF0000"/>
                            </a:solidFill>
                          </a:endParaRPr>
                        </a:p>
                      </a:txBody>
                      <a:tcPr/>
                    </a:tc>
                    <a:tc>
                      <a:txBody>
                        <a:bodyPr/>
                        <a:lstStyle/>
                        <a:p>
                          <a:pPr algn="ctr"/>
                          <a14:m>
                            <m:oMathPara xmlns:m="http://schemas.openxmlformats.org/officeDocument/2006/math">
                              <m:oMathParaPr>
                                <m:jc m:val="centerGroup"/>
                              </m:oMathParaPr>
                              <m:oMath xmlns:m="http://schemas.openxmlformats.org/officeDocument/2006/math">
                                <m:r>
                                  <a:rPr lang="en-US" altLang="zh-CN" sz="1800" b="1" i="1" smtClean="0">
                                    <a:solidFill>
                                      <a:srgbClr val="FF0000"/>
                                    </a:solidFill>
                                    <a:latin typeface="Cambria Math" panose="02040503050406030204" pitchFamily="18" charset="0"/>
                                    <a:ea typeface="Cambria Math" panose="02040503050406030204" pitchFamily="18" charset="0"/>
                                  </a:rPr>
                                  <m:t>×</m:t>
                                </m:r>
                              </m:oMath>
                            </m:oMathPara>
                          </a14:m>
                          <a:endParaRPr lang="en-US" b="1" dirty="0">
                            <a:solidFill>
                              <a:srgbClr val="FF0000"/>
                            </a:solidFill>
                          </a:endParaRPr>
                        </a:p>
                      </a:txBody>
                      <a:tcPr/>
                    </a:tc>
                    <a:extLst>
                      <a:ext uri="{0D108BD9-81ED-4DB2-BD59-A6C34878D82A}">
                        <a16:rowId xmlns:a16="http://schemas.microsoft.com/office/drawing/2014/main" val="2776037589"/>
                      </a:ext>
                    </a:extLst>
                  </a:tr>
                </a:tbl>
              </a:graphicData>
            </a:graphic>
          </p:graphicFrame>
        </mc:Choice>
        <mc:Fallback xmlns="">
          <p:graphicFrame>
            <p:nvGraphicFramePr>
              <p:cNvPr id="39" name="表 38">
                <a:extLst>
                  <a:ext uri="{FF2B5EF4-FFF2-40B4-BE49-F238E27FC236}">
                    <a16:creationId xmlns:a16="http://schemas.microsoft.com/office/drawing/2014/main" id="{EB74CAE5-34A7-41BB-9521-9B5F09113D1D}"/>
                  </a:ext>
                </a:extLst>
              </p:cNvPr>
              <p:cNvGraphicFramePr>
                <a:graphicFrameLocks noGrp="1"/>
              </p:cNvGraphicFramePr>
              <p:nvPr>
                <p:extLst>
                  <p:ext uri="{D42A27DB-BD31-4B8C-83A1-F6EECF244321}">
                    <p14:modId xmlns:p14="http://schemas.microsoft.com/office/powerpoint/2010/main" val="2152031452"/>
                  </p:ext>
                </p:extLst>
              </p:nvPr>
            </p:nvGraphicFramePr>
            <p:xfrm>
              <a:off x="362139" y="5256891"/>
              <a:ext cx="11228352" cy="1112520"/>
            </p:xfrm>
            <a:graphic>
              <a:graphicData uri="http://schemas.openxmlformats.org/drawingml/2006/table">
                <a:tbl>
                  <a:tblPr firstRow="1" bandRow="1">
                    <a:tableStyleId>{5C22544A-7EE6-4342-B048-85BDC9FD1C3A}</a:tableStyleId>
                  </a:tblPr>
                  <a:tblGrid>
                    <a:gridCol w="2062789">
                      <a:extLst>
                        <a:ext uri="{9D8B030D-6E8A-4147-A177-3AD203B41FA5}">
                          <a16:colId xmlns:a16="http://schemas.microsoft.com/office/drawing/2014/main" val="1624300361"/>
                        </a:ext>
                      </a:extLst>
                    </a:gridCol>
                    <a:gridCol w="753874">
                      <a:extLst>
                        <a:ext uri="{9D8B030D-6E8A-4147-A177-3AD203B41FA5}">
                          <a16:colId xmlns:a16="http://schemas.microsoft.com/office/drawing/2014/main" val="2491710227"/>
                        </a:ext>
                      </a:extLst>
                    </a:gridCol>
                    <a:gridCol w="1088692">
                      <a:extLst>
                        <a:ext uri="{9D8B030D-6E8A-4147-A177-3AD203B41FA5}">
                          <a16:colId xmlns:a16="http://schemas.microsoft.com/office/drawing/2014/main" val="2638989053"/>
                        </a:ext>
                      </a:extLst>
                    </a:gridCol>
                    <a:gridCol w="985985">
                      <a:extLst>
                        <a:ext uri="{9D8B030D-6E8A-4147-A177-3AD203B41FA5}">
                          <a16:colId xmlns:a16="http://schemas.microsoft.com/office/drawing/2014/main" val="3241739729"/>
                        </a:ext>
                      </a:extLst>
                    </a:gridCol>
                    <a:gridCol w="1016798">
                      <a:extLst>
                        <a:ext uri="{9D8B030D-6E8A-4147-A177-3AD203B41FA5}">
                          <a16:colId xmlns:a16="http://schemas.microsoft.com/office/drawing/2014/main" val="1845602896"/>
                        </a:ext>
                      </a:extLst>
                    </a:gridCol>
                    <a:gridCol w="985985">
                      <a:extLst>
                        <a:ext uri="{9D8B030D-6E8A-4147-A177-3AD203B41FA5}">
                          <a16:colId xmlns:a16="http://schemas.microsoft.com/office/drawing/2014/main" val="2223171342"/>
                        </a:ext>
                      </a:extLst>
                    </a:gridCol>
                    <a:gridCol w="862737">
                      <a:extLst>
                        <a:ext uri="{9D8B030D-6E8A-4147-A177-3AD203B41FA5}">
                          <a16:colId xmlns:a16="http://schemas.microsoft.com/office/drawing/2014/main" val="195941715"/>
                        </a:ext>
                      </a:extLst>
                    </a:gridCol>
                    <a:gridCol w="900057">
                      <a:extLst>
                        <a:ext uri="{9D8B030D-6E8A-4147-A177-3AD203B41FA5}">
                          <a16:colId xmlns:a16="http://schemas.microsoft.com/office/drawing/2014/main" val="285703637"/>
                        </a:ext>
                      </a:extLst>
                    </a:gridCol>
                    <a:gridCol w="879911">
                      <a:extLst>
                        <a:ext uri="{9D8B030D-6E8A-4147-A177-3AD203B41FA5}">
                          <a16:colId xmlns:a16="http://schemas.microsoft.com/office/drawing/2014/main" val="3812825335"/>
                        </a:ext>
                      </a:extLst>
                    </a:gridCol>
                    <a:gridCol w="901153">
                      <a:extLst>
                        <a:ext uri="{9D8B030D-6E8A-4147-A177-3AD203B41FA5}">
                          <a16:colId xmlns:a16="http://schemas.microsoft.com/office/drawing/2014/main" val="1917968942"/>
                        </a:ext>
                      </a:extLst>
                    </a:gridCol>
                    <a:gridCol w="790371">
                      <a:extLst>
                        <a:ext uri="{9D8B030D-6E8A-4147-A177-3AD203B41FA5}">
                          <a16:colId xmlns:a16="http://schemas.microsoft.com/office/drawing/2014/main" val="1943050782"/>
                        </a:ext>
                      </a:extLst>
                    </a:gridCol>
                  </a:tblGrid>
                  <a:tr h="370840">
                    <a:tc>
                      <a:txBody>
                        <a:bodyPr/>
                        <a:lstStyle/>
                        <a:p>
                          <a:endParaRPr lang="en-US"/>
                        </a:p>
                      </a:txBody>
                      <a:tcPr>
                        <a:blipFill>
                          <a:blip r:embed="rId9"/>
                          <a:stretch>
                            <a:fillRect l="-295" t="-8197" r="-444838" b="-227869"/>
                          </a:stretch>
                        </a:blipFill>
                      </a:tcPr>
                    </a:tc>
                    <a:tc>
                      <a:txBody>
                        <a:bodyPr/>
                        <a:lstStyle/>
                        <a:p>
                          <a:pPr algn="ctr"/>
                          <a:r>
                            <a:rPr lang="en-US" sz="1800" b="1" dirty="0">
                              <a:solidFill>
                                <a:schemeClr val="tx1"/>
                              </a:solidFill>
                            </a:rPr>
                            <a:t>0.5</a:t>
                          </a:r>
                          <a:endParaRPr lang="en-US" b="1" dirty="0">
                            <a:solidFill>
                              <a:schemeClr val="tx1"/>
                            </a:solidFill>
                          </a:endParaRPr>
                        </a:p>
                      </a:txBody>
                      <a:tcPr/>
                    </a:tc>
                    <a:tc>
                      <a:txBody>
                        <a:bodyPr/>
                        <a:lstStyle/>
                        <a:p>
                          <a:pPr algn="ctr"/>
                          <a:r>
                            <a:rPr lang="en-US" sz="1800" b="1" dirty="0">
                              <a:solidFill>
                                <a:schemeClr val="tx1"/>
                              </a:solidFill>
                            </a:rPr>
                            <a:t>0.8</a:t>
                          </a:r>
                          <a:endParaRPr lang="en-US" b="1" dirty="0">
                            <a:solidFill>
                              <a:schemeClr val="tx1"/>
                            </a:solidFill>
                          </a:endParaRPr>
                        </a:p>
                      </a:txBody>
                      <a:tcPr/>
                    </a:tc>
                    <a:tc>
                      <a:txBody>
                        <a:bodyPr/>
                        <a:lstStyle/>
                        <a:p>
                          <a:pPr algn="ctr"/>
                          <a:r>
                            <a:rPr lang="en-US" sz="1800" b="1" dirty="0">
                              <a:solidFill>
                                <a:schemeClr val="tx1"/>
                              </a:solidFill>
                            </a:rPr>
                            <a:t>0.9</a:t>
                          </a:r>
                          <a:endParaRPr lang="en-US" b="1" dirty="0">
                            <a:solidFill>
                              <a:schemeClr val="tx1"/>
                            </a:solidFill>
                          </a:endParaRPr>
                        </a:p>
                      </a:txBody>
                      <a:tcPr/>
                    </a:tc>
                    <a:tc>
                      <a:txBody>
                        <a:bodyPr/>
                        <a:lstStyle/>
                        <a:p>
                          <a:pPr algn="ctr"/>
                          <a:r>
                            <a:rPr lang="en-US" sz="1800" b="1" dirty="0">
                              <a:solidFill>
                                <a:schemeClr val="tx1"/>
                              </a:solidFill>
                            </a:rPr>
                            <a:t>1</a:t>
                          </a:r>
                          <a:endParaRPr lang="en-US" b="1" dirty="0">
                            <a:solidFill>
                              <a:schemeClr val="tx1"/>
                            </a:solidFill>
                          </a:endParaRPr>
                        </a:p>
                      </a:txBody>
                      <a:tcPr/>
                    </a:tc>
                    <a:tc>
                      <a:txBody>
                        <a:bodyPr/>
                        <a:lstStyle/>
                        <a:p>
                          <a:pPr algn="ctr"/>
                          <a:r>
                            <a:rPr lang="en-US" sz="1800" b="1" dirty="0">
                              <a:solidFill>
                                <a:schemeClr val="tx1"/>
                              </a:solidFill>
                            </a:rPr>
                            <a:t>1.1</a:t>
                          </a:r>
                          <a:endParaRPr lang="en-US" b="1" dirty="0">
                            <a:solidFill>
                              <a:schemeClr val="tx1"/>
                            </a:solidFill>
                          </a:endParaRPr>
                        </a:p>
                      </a:txBody>
                      <a:tcPr/>
                    </a:tc>
                    <a:tc>
                      <a:txBody>
                        <a:bodyPr/>
                        <a:lstStyle/>
                        <a:p>
                          <a:pPr algn="ctr"/>
                          <a:r>
                            <a:rPr lang="en-US" sz="1800" b="1" dirty="0">
                              <a:solidFill>
                                <a:schemeClr val="tx1"/>
                              </a:solidFill>
                            </a:rPr>
                            <a:t>1.2</a:t>
                          </a:r>
                          <a:endParaRPr lang="en-US" b="1" dirty="0">
                            <a:solidFill>
                              <a:schemeClr val="tx1"/>
                            </a:solidFill>
                          </a:endParaRPr>
                        </a:p>
                      </a:txBody>
                      <a:tcPr/>
                    </a:tc>
                    <a:tc>
                      <a:txBody>
                        <a:bodyPr/>
                        <a:lstStyle/>
                        <a:p>
                          <a:pPr algn="ctr"/>
                          <a:r>
                            <a:rPr lang="en-US" sz="1800" b="1" dirty="0">
                              <a:solidFill>
                                <a:schemeClr val="tx1"/>
                              </a:solidFill>
                            </a:rPr>
                            <a:t>1.5</a:t>
                          </a:r>
                          <a:endParaRPr lang="en-US" b="1" dirty="0">
                            <a:solidFill>
                              <a:schemeClr val="tx1"/>
                            </a:solidFill>
                          </a:endParaRPr>
                        </a:p>
                      </a:txBody>
                      <a:tcPr/>
                    </a:tc>
                    <a:tc>
                      <a:txBody>
                        <a:bodyPr/>
                        <a:lstStyle/>
                        <a:p>
                          <a:pPr algn="ctr"/>
                          <a:r>
                            <a:rPr lang="en-US" sz="1800" b="1" dirty="0">
                              <a:solidFill>
                                <a:schemeClr val="tx1"/>
                              </a:solidFill>
                            </a:rPr>
                            <a:t>1.8</a:t>
                          </a:r>
                          <a:endParaRPr lang="en-US" b="1" dirty="0">
                            <a:solidFill>
                              <a:schemeClr val="tx1"/>
                            </a:solidFill>
                          </a:endParaRPr>
                        </a:p>
                      </a:txBody>
                      <a:tcPr/>
                    </a:tc>
                    <a:tc>
                      <a:txBody>
                        <a:bodyPr/>
                        <a:lstStyle/>
                        <a:p>
                          <a:pPr algn="ctr"/>
                          <a:r>
                            <a:rPr lang="en-US" sz="1800" b="1" dirty="0">
                              <a:solidFill>
                                <a:schemeClr val="tx1"/>
                              </a:solidFill>
                            </a:rPr>
                            <a:t>1.9</a:t>
                          </a:r>
                          <a:endParaRPr lang="en-US" b="1" dirty="0">
                            <a:solidFill>
                              <a:schemeClr val="tx1"/>
                            </a:solidFill>
                          </a:endParaRPr>
                        </a:p>
                      </a:txBody>
                      <a:tcPr/>
                    </a:tc>
                    <a:tc>
                      <a:txBody>
                        <a:bodyPr/>
                        <a:lstStyle/>
                        <a:p>
                          <a:pPr algn="ctr"/>
                          <a:r>
                            <a:rPr lang="en-US" sz="1800" b="1" dirty="0">
                              <a:solidFill>
                                <a:schemeClr val="tx1"/>
                              </a:solidFill>
                            </a:rPr>
                            <a:t>2</a:t>
                          </a:r>
                          <a:endParaRPr lang="en-US" b="1" dirty="0">
                            <a:solidFill>
                              <a:schemeClr val="tx1"/>
                            </a:solidFill>
                          </a:endParaRPr>
                        </a:p>
                      </a:txBody>
                      <a:tcPr/>
                    </a:tc>
                    <a:extLst>
                      <a:ext uri="{0D108BD9-81ED-4DB2-BD59-A6C34878D82A}">
                        <a16:rowId xmlns:a16="http://schemas.microsoft.com/office/drawing/2014/main" val="642303706"/>
                      </a:ext>
                    </a:extLst>
                  </a:tr>
                  <a:tr h="370840">
                    <a:tc>
                      <a:txBody>
                        <a:bodyPr/>
                        <a:lstStyle/>
                        <a:p>
                          <a:pPr algn="ctr"/>
                          <a:r>
                            <a:rPr lang="ja-JP" altLang="en-US" dirty="0">
                              <a:solidFill>
                                <a:schemeClr val="tx1"/>
                              </a:solidFill>
                            </a:rPr>
                            <a:t>初期値と解の距離</a:t>
                          </a:r>
                          <a:endParaRPr lang="en-US" dirty="0">
                            <a:solidFill>
                              <a:schemeClr val="tx1"/>
                            </a:solidFill>
                          </a:endParaRPr>
                        </a:p>
                      </a:txBody>
                      <a:tcPr/>
                    </a:tc>
                    <a:tc>
                      <a:txBody>
                        <a:bodyPr/>
                        <a:lstStyle/>
                        <a:p>
                          <a:pPr algn="ctr"/>
                          <a:r>
                            <a:rPr lang="en-US" b="1" dirty="0">
                              <a:solidFill>
                                <a:schemeClr val="tx1"/>
                              </a:solidFill>
                            </a:rPr>
                            <a:t>2.20</a:t>
                          </a:r>
                        </a:p>
                      </a:txBody>
                      <a:tcPr/>
                    </a:tc>
                    <a:tc>
                      <a:txBody>
                        <a:bodyPr/>
                        <a:lstStyle/>
                        <a:p>
                          <a:pPr algn="ctr"/>
                          <a:r>
                            <a:rPr lang="en-US" b="1" dirty="0">
                              <a:solidFill>
                                <a:schemeClr val="tx1"/>
                              </a:solidFill>
                            </a:rPr>
                            <a:t>1.78</a:t>
                          </a:r>
                        </a:p>
                      </a:txBody>
                      <a:tcPr/>
                    </a:tc>
                    <a:tc>
                      <a:txBody>
                        <a:bodyPr/>
                        <a:lstStyle/>
                        <a:p>
                          <a:pPr algn="ctr"/>
                          <a:r>
                            <a:rPr lang="en-US" b="1" dirty="0">
                              <a:solidFill>
                                <a:schemeClr val="tx1"/>
                              </a:solidFill>
                            </a:rPr>
                            <a:t>1.64</a:t>
                          </a:r>
                        </a:p>
                      </a:txBody>
                      <a:tcPr/>
                    </a:tc>
                    <a:tc>
                      <a:txBody>
                        <a:bodyPr/>
                        <a:lstStyle/>
                        <a:p>
                          <a:pPr algn="ctr"/>
                          <a:r>
                            <a:rPr lang="en-US" b="1" dirty="0">
                              <a:solidFill>
                                <a:schemeClr val="tx1"/>
                              </a:solidFill>
                            </a:rPr>
                            <a:t>1.50</a:t>
                          </a:r>
                        </a:p>
                      </a:txBody>
                      <a:tcPr/>
                    </a:tc>
                    <a:tc>
                      <a:txBody>
                        <a:bodyPr/>
                        <a:lstStyle/>
                        <a:p>
                          <a:pPr algn="ctr"/>
                          <a:r>
                            <a:rPr lang="en-US" b="1" dirty="0">
                              <a:solidFill>
                                <a:schemeClr val="tx1"/>
                              </a:solidFill>
                            </a:rPr>
                            <a:t> 1.36</a:t>
                          </a:r>
                        </a:p>
                      </a:txBody>
                      <a:tcPr/>
                    </a:tc>
                    <a:tc>
                      <a:txBody>
                        <a:bodyPr/>
                        <a:lstStyle/>
                        <a:p>
                          <a:pPr algn="ctr"/>
                          <a:r>
                            <a:rPr lang="en-US" b="1" dirty="0">
                              <a:solidFill>
                                <a:schemeClr val="tx1"/>
                              </a:solidFill>
                            </a:rPr>
                            <a:t>1.22</a:t>
                          </a:r>
                        </a:p>
                      </a:txBody>
                      <a:tcPr/>
                    </a:tc>
                    <a:tc>
                      <a:txBody>
                        <a:bodyPr/>
                        <a:lstStyle/>
                        <a:p>
                          <a:pPr algn="ctr"/>
                          <a:r>
                            <a:rPr lang="en-US" b="1" dirty="0">
                              <a:solidFill>
                                <a:schemeClr val="tx1"/>
                              </a:solidFill>
                            </a:rPr>
                            <a:t>0.81</a:t>
                          </a:r>
                        </a:p>
                      </a:txBody>
                      <a:tcPr/>
                    </a:tc>
                    <a:tc>
                      <a:txBody>
                        <a:bodyPr/>
                        <a:lstStyle/>
                        <a:p>
                          <a:pPr algn="ctr"/>
                          <a:r>
                            <a:rPr lang="en-US" b="1" dirty="0">
                              <a:solidFill>
                                <a:schemeClr val="tx1"/>
                              </a:solidFill>
                            </a:rPr>
                            <a:t>0.44</a:t>
                          </a:r>
                        </a:p>
                      </a:txBody>
                      <a:tcPr/>
                    </a:tc>
                    <a:tc>
                      <a:txBody>
                        <a:bodyPr/>
                        <a:lstStyle/>
                        <a:p>
                          <a:pPr algn="ctr"/>
                          <a:r>
                            <a:rPr lang="en-US" b="1" dirty="0">
                              <a:solidFill>
                                <a:schemeClr val="tx1"/>
                              </a:solidFill>
                            </a:rPr>
                            <a:t>0.35</a:t>
                          </a:r>
                        </a:p>
                      </a:txBody>
                      <a:tcPr/>
                    </a:tc>
                    <a:tc>
                      <a:txBody>
                        <a:bodyPr/>
                        <a:lstStyle/>
                        <a:p>
                          <a:pPr algn="ctr"/>
                          <a:r>
                            <a:rPr lang="en-US" b="1" dirty="0">
                              <a:solidFill>
                                <a:schemeClr val="tx1"/>
                              </a:solidFill>
                            </a:rPr>
                            <a:t> 0.30</a:t>
                          </a:r>
                        </a:p>
                      </a:txBody>
                      <a:tcPr/>
                    </a:tc>
                    <a:extLst>
                      <a:ext uri="{0D108BD9-81ED-4DB2-BD59-A6C34878D82A}">
                        <a16:rowId xmlns:a16="http://schemas.microsoft.com/office/drawing/2014/main" val="793300762"/>
                      </a:ext>
                    </a:extLst>
                  </a:tr>
                  <a:tr h="370840">
                    <a:tc>
                      <a:txBody>
                        <a:bodyPr/>
                        <a:lstStyle/>
                        <a:p>
                          <a:pPr algn="ctr"/>
                          <a:r>
                            <a:rPr lang="ja-JP" altLang="en-US" dirty="0">
                              <a:solidFill>
                                <a:srgbClr val="FF0000"/>
                              </a:solidFill>
                            </a:rPr>
                            <a:t>反復回数</a:t>
                          </a:r>
                          <a:endParaRPr lang="en-US" dirty="0">
                            <a:solidFill>
                              <a:srgbClr val="FF0000"/>
                            </a:solidFill>
                          </a:endParaRPr>
                        </a:p>
                      </a:txBody>
                      <a:tcPr/>
                    </a:tc>
                    <a:tc>
                      <a:txBody>
                        <a:bodyPr/>
                        <a:lstStyle/>
                        <a:p>
                          <a:endParaRPr lang="en-US"/>
                        </a:p>
                      </a:txBody>
                      <a:tcPr>
                        <a:blipFill>
                          <a:blip r:embed="rId9"/>
                          <a:stretch>
                            <a:fillRect l="-276423" t="-208197" r="-1126016" b="-27869"/>
                          </a:stretch>
                        </a:blipFill>
                      </a:tcPr>
                    </a:tc>
                    <a:tc>
                      <a:txBody>
                        <a:bodyPr/>
                        <a:lstStyle/>
                        <a:p>
                          <a:endParaRPr lang="en-US"/>
                        </a:p>
                      </a:txBody>
                      <a:tcPr>
                        <a:blipFill>
                          <a:blip r:embed="rId9"/>
                          <a:stretch>
                            <a:fillRect l="-258659" t="-208197" r="-673743" b="-27869"/>
                          </a:stretch>
                        </a:blipFill>
                      </a:tcPr>
                    </a:tc>
                    <a:tc>
                      <a:txBody>
                        <a:bodyPr/>
                        <a:lstStyle/>
                        <a:p>
                          <a:endParaRPr lang="en-US"/>
                        </a:p>
                      </a:txBody>
                      <a:tcPr>
                        <a:blipFill>
                          <a:blip r:embed="rId9"/>
                          <a:stretch>
                            <a:fillRect l="-396296" t="-208197" r="-644444" b="-27869"/>
                          </a:stretch>
                        </a:blipFill>
                      </a:tcPr>
                    </a:tc>
                    <a:tc>
                      <a:txBody>
                        <a:bodyPr/>
                        <a:lstStyle/>
                        <a:p>
                          <a:pPr algn="ctr"/>
                          <a:r>
                            <a:rPr lang="en-US" b="1" dirty="0">
                              <a:solidFill>
                                <a:schemeClr val="tx1"/>
                              </a:solidFill>
                            </a:rPr>
                            <a:t>10</a:t>
                          </a:r>
                        </a:p>
                      </a:txBody>
                      <a:tcPr/>
                    </a:tc>
                    <a:tc>
                      <a:txBody>
                        <a:bodyPr/>
                        <a:lstStyle/>
                        <a:p>
                          <a:endParaRPr lang="en-US"/>
                        </a:p>
                      </a:txBody>
                      <a:tcPr>
                        <a:blipFill>
                          <a:blip r:embed="rId9"/>
                          <a:stretch>
                            <a:fillRect l="-599383" t="-208197" r="-441358" b="-27869"/>
                          </a:stretch>
                        </a:blipFill>
                      </a:tcPr>
                    </a:tc>
                    <a:tc>
                      <a:txBody>
                        <a:bodyPr/>
                        <a:lstStyle/>
                        <a:p>
                          <a:endParaRPr lang="en-US"/>
                        </a:p>
                      </a:txBody>
                      <a:tcPr>
                        <a:blipFill>
                          <a:blip r:embed="rId9"/>
                          <a:stretch>
                            <a:fillRect l="-803546" t="-208197" r="-407092" b="-27869"/>
                          </a:stretch>
                        </a:blipFill>
                      </a:tcPr>
                    </a:tc>
                    <a:tc>
                      <a:txBody>
                        <a:bodyPr/>
                        <a:lstStyle/>
                        <a:p>
                          <a:endParaRPr lang="en-US"/>
                        </a:p>
                      </a:txBody>
                      <a:tcPr>
                        <a:blipFill>
                          <a:blip r:embed="rId9"/>
                          <a:stretch>
                            <a:fillRect l="-860811" t="-208197" r="-287838" b="-27869"/>
                          </a:stretch>
                        </a:blipFill>
                      </a:tcPr>
                    </a:tc>
                    <a:tc>
                      <a:txBody>
                        <a:bodyPr/>
                        <a:lstStyle/>
                        <a:p>
                          <a:endParaRPr lang="en-US"/>
                        </a:p>
                      </a:txBody>
                      <a:tcPr>
                        <a:blipFill>
                          <a:blip r:embed="rId9"/>
                          <a:stretch>
                            <a:fillRect l="-987500" t="-208197" r="-195833" b="-27869"/>
                          </a:stretch>
                        </a:blipFill>
                      </a:tcPr>
                    </a:tc>
                    <a:tc>
                      <a:txBody>
                        <a:bodyPr/>
                        <a:lstStyle/>
                        <a:p>
                          <a:endParaRPr lang="en-US"/>
                        </a:p>
                      </a:txBody>
                      <a:tcPr>
                        <a:blipFill>
                          <a:blip r:embed="rId9"/>
                          <a:stretch>
                            <a:fillRect l="-1058108" t="-208197" r="-90541" b="-27869"/>
                          </a:stretch>
                        </a:blipFill>
                      </a:tcPr>
                    </a:tc>
                    <a:tc>
                      <a:txBody>
                        <a:bodyPr/>
                        <a:lstStyle/>
                        <a:p>
                          <a:endParaRPr lang="en-US"/>
                        </a:p>
                      </a:txBody>
                      <a:tcPr>
                        <a:blipFill>
                          <a:blip r:embed="rId9"/>
                          <a:stretch>
                            <a:fillRect l="-1318462" t="-208197" r="-3077" b="-27869"/>
                          </a:stretch>
                        </a:blipFill>
                      </a:tcPr>
                    </a:tc>
                    <a:extLst>
                      <a:ext uri="{0D108BD9-81ED-4DB2-BD59-A6C34878D82A}">
                        <a16:rowId xmlns:a16="http://schemas.microsoft.com/office/drawing/2014/main" val="2776037589"/>
                      </a:ext>
                    </a:extLst>
                  </a:tr>
                </a:tbl>
              </a:graphicData>
            </a:graphic>
          </p:graphicFrame>
        </mc:Fallback>
      </mc:AlternateContent>
      <p:grpSp>
        <p:nvGrpSpPr>
          <p:cNvPr id="2" name="グループ化 1">
            <a:extLst>
              <a:ext uri="{FF2B5EF4-FFF2-40B4-BE49-F238E27FC236}">
                <a16:creationId xmlns:a16="http://schemas.microsoft.com/office/drawing/2014/main" id="{291592B0-0120-4BF7-B2F4-7953BBA6CA10}"/>
              </a:ext>
            </a:extLst>
          </p:cNvPr>
          <p:cNvGrpSpPr/>
          <p:nvPr/>
        </p:nvGrpSpPr>
        <p:grpSpPr>
          <a:xfrm>
            <a:off x="1337606" y="3486837"/>
            <a:ext cx="5909201" cy="679987"/>
            <a:chOff x="1337606" y="3486837"/>
            <a:chExt cx="5909201" cy="679987"/>
          </a:xfrm>
        </p:grpSpPr>
        <mc:AlternateContent xmlns:mc="http://schemas.openxmlformats.org/markup-compatibility/2006" xmlns:a14="http://schemas.microsoft.com/office/drawing/2010/main">
          <mc:Choice Requires="a14">
            <p:sp>
              <p:nvSpPr>
                <p:cNvPr id="22" name="矢印: 右 21">
                  <a:extLst>
                    <a:ext uri="{FF2B5EF4-FFF2-40B4-BE49-F238E27FC236}">
                      <a16:creationId xmlns:a16="http://schemas.microsoft.com/office/drawing/2014/main" id="{72560DD3-AC42-4017-8B71-742F91A97D05}"/>
                    </a:ext>
                  </a:extLst>
                </p:cNvPr>
                <p:cNvSpPr/>
                <p:nvPr/>
              </p:nvSpPr>
              <p:spPr>
                <a:xfrm>
                  <a:off x="2428482" y="3486837"/>
                  <a:ext cx="3734574" cy="67998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000" b="1" dirty="0">
                      <a:solidFill>
                        <a:schemeClr val="bg1"/>
                      </a:solidFill>
                    </a:rPr>
                    <a:t>初期値</a:t>
                  </a:r>
                  <a14:m>
                    <m:oMath xmlns:m="http://schemas.openxmlformats.org/officeDocument/2006/math">
                      <m:sSub>
                        <m:sSubPr>
                          <m:ctrlPr>
                            <a:rPr lang="en-US" altLang="ja-JP" sz="2000" b="1" i="1" smtClean="0">
                              <a:solidFill>
                                <a:schemeClr val="bg1"/>
                              </a:solidFill>
                              <a:latin typeface="Cambria Math" panose="02040503050406030204" pitchFamily="18" charset="0"/>
                            </a:rPr>
                          </m:ctrlPr>
                        </m:sSubPr>
                        <m:e>
                          <m:r>
                            <a:rPr lang="en-US" altLang="ja-JP" sz="2000" b="1" i="1" smtClean="0">
                              <a:solidFill>
                                <a:schemeClr val="bg1"/>
                              </a:solidFill>
                              <a:latin typeface="Cambria Math" panose="02040503050406030204" pitchFamily="18" charset="0"/>
                            </a:rPr>
                            <m:t>𝑿</m:t>
                          </m:r>
                        </m:e>
                        <m:sub>
                          <m:r>
                            <a:rPr lang="en-US" altLang="ja-JP" sz="2000" b="1" i="1" smtClean="0">
                              <a:solidFill>
                                <a:schemeClr val="bg1"/>
                              </a:solidFill>
                              <a:latin typeface="Cambria Math" panose="02040503050406030204" pitchFamily="18" charset="0"/>
                            </a:rPr>
                            <m:t>𝟎</m:t>
                          </m:r>
                        </m:sub>
                      </m:sSub>
                    </m:oMath>
                  </a14:m>
                  <a:r>
                    <a:rPr lang="ja-JP" altLang="en-US" sz="2000" b="1" dirty="0">
                      <a:solidFill>
                        <a:schemeClr val="bg1"/>
                      </a:solidFill>
                    </a:rPr>
                    <a:t>と解</a:t>
                  </a:r>
                  <a14:m>
                    <m:oMath xmlns:m="http://schemas.openxmlformats.org/officeDocument/2006/math">
                      <m:sSup>
                        <m:sSupPr>
                          <m:ctrlPr>
                            <a:rPr lang="en-US" altLang="zh-CN" sz="2000" b="1" i="1">
                              <a:solidFill>
                                <a:schemeClr val="bg1"/>
                              </a:solidFill>
                              <a:latin typeface="Cambria Math" panose="02040503050406030204" pitchFamily="18" charset="0"/>
                            </a:rPr>
                          </m:ctrlPr>
                        </m:sSupPr>
                        <m:e>
                          <m:r>
                            <a:rPr lang="en-US" altLang="zh-CN" sz="2000" b="1">
                              <a:solidFill>
                                <a:schemeClr val="bg1"/>
                              </a:solidFill>
                              <a:latin typeface="Cambria Math" panose="02040503050406030204" pitchFamily="18" charset="0"/>
                            </a:rPr>
                            <m:t>𝐴</m:t>
                          </m:r>
                        </m:e>
                        <m:sup>
                          <m:r>
                            <a:rPr lang="en-US" altLang="zh-CN" sz="2000" b="1">
                              <a:solidFill>
                                <a:schemeClr val="bg1"/>
                              </a:solidFill>
                              <a:latin typeface="Cambria Math" panose="02040503050406030204" pitchFamily="18" charset="0"/>
                            </a:rPr>
                            <m:t>1/4</m:t>
                          </m:r>
                        </m:sup>
                      </m:sSup>
                      <m:r>
                        <a:rPr lang="ja-JP" altLang="en-US" sz="2000" b="1">
                          <a:solidFill>
                            <a:schemeClr val="bg1"/>
                          </a:solidFill>
                          <a:latin typeface="Cambria Math" panose="02040503050406030204" pitchFamily="18" charset="0"/>
                        </a:rPr>
                        <m:t>の</m:t>
                      </m:r>
                    </m:oMath>
                  </a14:m>
                  <a:r>
                    <a:rPr lang="ja-JP" altLang="en-US" sz="2000" b="1" dirty="0">
                      <a:solidFill>
                        <a:schemeClr val="bg1"/>
                      </a:solidFill>
                    </a:rPr>
                    <a:t>距離</a:t>
                  </a:r>
                  <a:endParaRPr lang="en-US" sz="2000" b="1" dirty="0">
                    <a:solidFill>
                      <a:schemeClr val="bg1"/>
                    </a:solidFill>
                  </a:endParaRPr>
                </a:p>
              </p:txBody>
            </p:sp>
          </mc:Choice>
          <mc:Fallback xmlns="">
            <p:sp>
              <p:nvSpPr>
                <p:cNvPr id="22" name="矢印: 右 21">
                  <a:extLst>
                    <a:ext uri="{FF2B5EF4-FFF2-40B4-BE49-F238E27FC236}">
                      <a16:creationId xmlns:a16="http://schemas.microsoft.com/office/drawing/2014/main" id="{72560DD3-AC42-4017-8B71-742F91A97D05}"/>
                    </a:ext>
                  </a:extLst>
                </p:cNvPr>
                <p:cNvSpPr>
                  <a:spLocks noRot="1" noChangeAspect="1" noMove="1" noResize="1" noEditPoints="1" noAdjustHandles="1" noChangeArrowheads="1" noChangeShapeType="1" noTextEdit="1"/>
                </p:cNvSpPr>
                <p:nvPr/>
              </p:nvSpPr>
              <p:spPr>
                <a:xfrm>
                  <a:off x="2428482" y="3486837"/>
                  <a:ext cx="3734574" cy="679987"/>
                </a:xfrm>
                <a:prstGeom prst="rightArrow">
                  <a:avLst/>
                </a:prstGeom>
                <a:blipFill>
                  <a:blip r:embed="rId10"/>
                  <a:stretch>
                    <a:fillRect/>
                  </a:stretch>
                </a:blipFill>
              </p:spPr>
              <p:txBody>
                <a:bodyPr/>
                <a:lstStyle/>
                <a:p>
                  <a:r>
                    <a:rPr lang="en-US">
                      <a:noFill/>
                    </a:rPr>
                    <a:t> </a:t>
                  </a:r>
                </a:p>
              </p:txBody>
            </p:sp>
          </mc:Fallback>
        </mc:AlternateContent>
        <p:sp>
          <p:nvSpPr>
            <p:cNvPr id="26" name="テキスト ボックス 25">
              <a:extLst>
                <a:ext uri="{FF2B5EF4-FFF2-40B4-BE49-F238E27FC236}">
                  <a16:creationId xmlns:a16="http://schemas.microsoft.com/office/drawing/2014/main" id="{C8A44FFF-48A7-4D07-9CCC-CF60124F3497}"/>
                </a:ext>
              </a:extLst>
            </p:cNvPr>
            <p:cNvSpPr txBox="1"/>
            <p:nvPr/>
          </p:nvSpPr>
          <p:spPr>
            <a:xfrm>
              <a:off x="1337606" y="3634813"/>
              <a:ext cx="1167434" cy="461665"/>
            </a:xfrm>
            <a:prstGeom prst="rect">
              <a:avLst/>
            </a:prstGeom>
            <a:noFill/>
          </p:spPr>
          <p:txBody>
            <a:bodyPr wrap="square">
              <a:spAutoFit/>
            </a:bodyPr>
            <a:lstStyle/>
            <a:p>
              <a:r>
                <a:rPr lang="ja-JP" altLang="en-US" sz="2400" dirty="0"/>
                <a:t>小さい</a:t>
              </a:r>
              <a:endParaRPr lang="en-US" sz="2400" dirty="0"/>
            </a:p>
          </p:txBody>
        </p:sp>
        <p:sp>
          <p:nvSpPr>
            <p:cNvPr id="28" name="テキスト ボックス 27">
              <a:extLst>
                <a:ext uri="{FF2B5EF4-FFF2-40B4-BE49-F238E27FC236}">
                  <a16:creationId xmlns:a16="http://schemas.microsoft.com/office/drawing/2014/main" id="{33DCCD99-8E08-44B0-815C-2556569A10B2}"/>
                </a:ext>
              </a:extLst>
            </p:cNvPr>
            <p:cNvSpPr txBox="1"/>
            <p:nvPr/>
          </p:nvSpPr>
          <p:spPr>
            <a:xfrm>
              <a:off x="6096000" y="3625689"/>
              <a:ext cx="1150807" cy="461665"/>
            </a:xfrm>
            <a:prstGeom prst="rect">
              <a:avLst/>
            </a:prstGeom>
            <a:noFill/>
          </p:spPr>
          <p:txBody>
            <a:bodyPr wrap="square">
              <a:spAutoFit/>
            </a:bodyPr>
            <a:lstStyle/>
            <a:p>
              <a:r>
                <a:rPr lang="ja-JP" altLang="en-US" sz="2400" dirty="0"/>
                <a:t>大きい</a:t>
              </a:r>
              <a:endParaRPr lang="en-US" sz="2400" dirty="0"/>
            </a:p>
          </p:txBody>
        </p:sp>
      </p:grpSp>
    </p:spTree>
    <p:extLst>
      <p:ext uri="{BB962C8B-B14F-4D97-AF65-F5344CB8AC3E}">
        <p14:creationId xmlns:p14="http://schemas.microsoft.com/office/powerpoint/2010/main" val="168306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31"/>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32"/>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39"/>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19"/>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36"/>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19" grpId="0"/>
      <p:bldP spid="17" grpId="0"/>
      <p:bldP spid="18" grpId="0"/>
      <p:bldP spid="27" grpId="0"/>
      <p:bldP spid="3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6D091B-B1D0-473D-838A-95DB4A43AAED}"/>
              </a:ext>
            </a:extLst>
          </p:cNvPr>
          <p:cNvSpPr>
            <a:spLocks noGrp="1"/>
          </p:cNvSpPr>
          <p:nvPr>
            <p:ph type="title"/>
          </p:nvPr>
        </p:nvSpPr>
        <p:spPr/>
        <p:txBody>
          <a:bodyPr/>
          <a:lstStyle/>
          <a:p>
            <a:r>
              <a:rPr lang="ja-JP" altLang="en-US" sz="3200" dirty="0">
                <a:latin typeface="メイリオ" panose="020B0604030504040204" pitchFamily="50" charset="-128"/>
                <a:ea typeface="メイリオ" panose="020B0604030504040204" pitchFamily="50" charset="-128"/>
              </a:rPr>
              <a:t>数値実験結果の考察</a:t>
            </a:r>
            <a:endParaRPr lang="en-US" sz="3200" dirty="0">
              <a:latin typeface="メイリオ" panose="020B0604030504040204" pitchFamily="50" charset="-128"/>
              <a:ea typeface="メイリオ" panose="020B0604030504040204" pitchFamily="50" charset="-128"/>
            </a:endParaRPr>
          </a:p>
        </p:txBody>
      </p:sp>
      <p:sp>
        <p:nvSpPr>
          <p:cNvPr id="3" name="テキスト ボックス 2">
            <a:extLst>
              <a:ext uri="{FF2B5EF4-FFF2-40B4-BE49-F238E27FC236}">
                <a16:creationId xmlns:a16="http://schemas.microsoft.com/office/drawing/2014/main" id="{2BFB3930-5FB5-4EDA-A82D-CDF1C2410220}"/>
              </a:ext>
            </a:extLst>
          </p:cNvPr>
          <p:cNvSpPr txBox="1"/>
          <p:nvPr/>
        </p:nvSpPr>
        <p:spPr>
          <a:xfrm>
            <a:off x="96658" y="991277"/>
            <a:ext cx="11991121" cy="544765"/>
          </a:xfrm>
          <a:prstGeom prst="rect">
            <a:avLst/>
          </a:prstGeom>
          <a:noFill/>
        </p:spPr>
        <p:txBody>
          <a:bodyPr wrap="square" rtlCol="0">
            <a:spAutoFit/>
          </a:bodyPr>
          <a:lstStyle/>
          <a:p>
            <a:pPr>
              <a:lnSpc>
                <a:spcPct val="130000"/>
              </a:lnSpc>
            </a:pPr>
            <a:r>
              <a:rPr lang="ja-JP" altLang="en-US" sz="2400" dirty="0"/>
              <a:t>・</a:t>
            </a:r>
            <a:r>
              <a:rPr lang="en-US" altLang="ja-JP" sz="2400" dirty="0">
                <a:solidFill>
                  <a:srgbClr val="00B050"/>
                </a:solidFill>
              </a:rPr>
              <a:t>N</a:t>
            </a:r>
            <a:r>
              <a:rPr lang="en-US" altLang="zh-CN" sz="2400" dirty="0">
                <a:solidFill>
                  <a:srgbClr val="00B050"/>
                </a:solidFill>
              </a:rPr>
              <a:t>ewton</a:t>
            </a:r>
            <a:r>
              <a:rPr lang="ja-JP" altLang="en-US" sz="2400" dirty="0">
                <a:solidFill>
                  <a:srgbClr val="00B050"/>
                </a:solidFill>
              </a:rPr>
              <a:t>法</a:t>
            </a:r>
            <a:r>
              <a:rPr lang="ja-JP" altLang="en-US" sz="2400" dirty="0"/>
              <a:t>の初期値を解に近づけると反復回数は減少した</a:t>
            </a:r>
            <a:r>
              <a:rPr lang="zh-CN" altLang="en-US" sz="2400" dirty="0"/>
              <a:t>  </a:t>
            </a:r>
            <a:r>
              <a:rPr lang="ja-JP" altLang="en-US" sz="2400" dirty="0"/>
              <a:t>（</a:t>
            </a:r>
            <a:r>
              <a:rPr lang="ja-JP" altLang="en-US" sz="2400" dirty="0">
                <a:solidFill>
                  <a:srgbClr val="0070C0"/>
                </a:solidFill>
              </a:rPr>
              <a:t>よく知られた振る舞い</a:t>
            </a:r>
            <a:r>
              <a:rPr lang="ja-JP" altLang="en-US" sz="2400" dirty="0"/>
              <a:t>）</a:t>
            </a:r>
            <a:endParaRPr lang="en-US" altLang="zh-CN" sz="2400" dirty="0"/>
          </a:p>
        </p:txBody>
      </p:sp>
      <p:grpSp>
        <p:nvGrpSpPr>
          <p:cNvPr id="4" name="グループ化 3">
            <a:extLst>
              <a:ext uri="{FF2B5EF4-FFF2-40B4-BE49-F238E27FC236}">
                <a16:creationId xmlns:a16="http://schemas.microsoft.com/office/drawing/2014/main" id="{08C85A37-91E1-4E88-B9CA-AD9660FBB367}"/>
              </a:ext>
            </a:extLst>
          </p:cNvPr>
          <p:cNvGrpSpPr/>
          <p:nvPr/>
        </p:nvGrpSpPr>
        <p:grpSpPr>
          <a:xfrm>
            <a:off x="899736" y="2889985"/>
            <a:ext cx="6281762" cy="1874841"/>
            <a:chOff x="-470983" y="4175322"/>
            <a:chExt cx="5439948" cy="1315588"/>
          </a:xfrm>
        </p:grpSpPr>
        <p:sp>
          <p:nvSpPr>
            <p:cNvPr id="5" name="正方形/長方形 4">
              <a:extLst>
                <a:ext uri="{FF2B5EF4-FFF2-40B4-BE49-F238E27FC236}">
                  <a16:creationId xmlns:a16="http://schemas.microsoft.com/office/drawing/2014/main" id="{8FCD5D62-8606-4ABA-AC80-CBDEC97C1E70}"/>
                </a:ext>
              </a:extLst>
            </p:cNvPr>
            <p:cNvSpPr/>
            <p:nvPr/>
          </p:nvSpPr>
          <p:spPr>
            <a:xfrm>
              <a:off x="-470983" y="4330546"/>
              <a:ext cx="5439948" cy="1160364"/>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tx1"/>
                </a:solidFill>
              </a:endParaRPr>
            </a:p>
          </p:txBody>
        </p:sp>
        <p:sp>
          <p:nvSpPr>
            <p:cNvPr id="7" name="文本框 22">
              <a:extLst>
                <a:ext uri="{FF2B5EF4-FFF2-40B4-BE49-F238E27FC236}">
                  <a16:creationId xmlns:a16="http://schemas.microsoft.com/office/drawing/2014/main" id="{82F3BD72-8373-4EFC-8023-1E1D3EC0530A}"/>
                </a:ext>
              </a:extLst>
            </p:cNvPr>
            <p:cNvSpPr txBox="1"/>
            <p:nvPr/>
          </p:nvSpPr>
          <p:spPr>
            <a:xfrm>
              <a:off x="-224842" y="4175322"/>
              <a:ext cx="789416" cy="304516"/>
            </a:xfrm>
            <a:prstGeom prst="rect">
              <a:avLst/>
            </a:prstGeom>
            <a:solidFill>
              <a:schemeClr val="bg1"/>
            </a:solidFill>
          </p:spPr>
          <p:txBody>
            <a:bodyPr wrap="square">
              <a:spAutoFit/>
            </a:bodyPr>
            <a:lstStyle/>
            <a:p>
              <a:pPr algn="ctr">
                <a:lnSpc>
                  <a:spcPct val="90000"/>
                </a:lnSpc>
                <a:spcBef>
                  <a:spcPct val="0"/>
                </a:spcBef>
              </a:pPr>
              <a:r>
                <a:rPr kumimoji="1" lang="en-US" altLang="ja-JP" sz="2400" dirty="0">
                  <a:solidFill>
                    <a:srgbClr val="FF0000"/>
                  </a:solidFill>
                  <a:latin typeface="メイリオ" panose="020B0604030504040204" pitchFamily="50" charset="-128"/>
                  <a:ea typeface="メイリオ" panose="020B0604030504040204" pitchFamily="50" charset="-128"/>
                  <a:cs typeface="+mj-cs"/>
                </a:rPr>
                <a:t>IN</a:t>
              </a:r>
              <a:r>
                <a:rPr kumimoji="1" lang="ja-JP" altLang="en-US" sz="2400" dirty="0">
                  <a:solidFill>
                    <a:srgbClr val="FF0000"/>
                  </a:solidFill>
                  <a:latin typeface="メイリオ" panose="020B0604030504040204" pitchFamily="50" charset="-128"/>
                  <a:ea typeface="メイリオ" panose="020B0604030504040204" pitchFamily="50" charset="-128"/>
                  <a:cs typeface="+mj-cs"/>
                </a:rPr>
                <a:t>法</a:t>
              </a:r>
              <a:endParaRPr kumimoji="1" lang="en-US" altLang="ja-JP" sz="2400" dirty="0">
                <a:solidFill>
                  <a:srgbClr val="FF0000"/>
                </a:solidFill>
                <a:latin typeface="メイリオ" panose="020B0604030504040204" pitchFamily="50" charset="-128"/>
                <a:ea typeface="メイリオ" panose="020B0604030504040204" pitchFamily="50" charset="-128"/>
                <a:cs typeface="+mj-cs"/>
              </a:endParaRPr>
            </a:p>
          </p:txBody>
        </p:sp>
      </p:grpSp>
      <p:sp>
        <p:nvSpPr>
          <p:cNvPr id="9" name="文本框 8">
            <a:extLst>
              <a:ext uri="{FF2B5EF4-FFF2-40B4-BE49-F238E27FC236}">
                <a16:creationId xmlns:a16="http://schemas.microsoft.com/office/drawing/2014/main" id="{A7BFC938-6449-4AC8-8094-9A156A5B7E93}"/>
              </a:ext>
            </a:extLst>
          </p:cNvPr>
          <p:cNvSpPr txBox="1"/>
          <p:nvPr/>
        </p:nvSpPr>
        <p:spPr>
          <a:xfrm>
            <a:off x="810480" y="2348141"/>
            <a:ext cx="3882766" cy="461665"/>
          </a:xfrm>
          <a:prstGeom prst="rect">
            <a:avLst/>
          </a:prstGeom>
          <a:noFill/>
        </p:spPr>
        <p:txBody>
          <a:bodyPr wrap="square" rtlCol="0">
            <a:spAutoFit/>
          </a:bodyPr>
          <a:lstStyle/>
          <a:p>
            <a:r>
              <a:rPr lang="ja-JP" altLang="en-US" sz="2400" dirty="0"/>
              <a:t>予想される原因（調査中）</a:t>
            </a:r>
            <a:endParaRPr lang="zh-CN" altLang="en-US" sz="2400" dirty="0"/>
          </a:p>
        </p:txBody>
      </p:sp>
      <p:sp>
        <p:nvSpPr>
          <p:cNvPr id="19" name="文本框 18">
            <a:extLst>
              <a:ext uri="{FF2B5EF4-FFF2-40B4-BE49-F238E27FC236}">
                <a16:creationId xmlns:a16="http://schemas.microsoft.com/office/drawing/2014/main" id="{CBB6958E-D281-443B-8C6B-2304EA12B842}"/>
              </a:ext>
            </a:extLst>
          </p:cNvPr>
          <p:cNvSpPr txBox="1"/>
          <p:nvPr/>
        </p:nvSpPr>
        <p:spPr>
          <a:xfrm>
            <a:off x="96658" y="1705777"/>
            <a:ext cx="9997106" cy="544765"/>
          </a:xfrm>
          <a:prstGeom prst="rect">
            <a:avLst/>
          </a:prstGeom>
          <a:noFill/>
        </p:spPr>
        <p:txBody>
          <a:bodyPr wrap="square">
            <a:spAutoFit/>
          </a:bodyPr>
          <a:lstStyle/>
          <a:p>
            <a:pPr>
              <a:lnSpc>
                <a:spcPct val="130000"/>
              </a:lnSpc>
            </a:pPr>
            <a:r>
              <a:rPr lang="ja-JP" altLang="en-US" sz="2400" dirty="0">
                <a:latin typeface="メイリオ" panose="020B0604030504040204" pitchFamily="50" charset="-128"/>
                <a:ea typeface="メイリオ" panose="020B0604030504040204" pitchFamily="50" charset="-128"/>
              </a:rPr>
              <a:t>・</a:t>
            </a:r>
            <a:r>
              <a:rPr lang="en-US" altLang="ja-JP" sz="2400" dirty="0">
                <a:solidFill>
                  <a:srgbClr val="FF0000"/>
                </a:solidFill>
                <a:latin typeface="メイリオ" panose="020B0604030504040204" pitchFamily="50" charset="-128"/>
                <a:ea typeface="メイリオ" panose="020B0604030504040204" pitchFamily="50" charset="-128"/>
              </a:rPr>
              <a:t>IN</a:t>
            </a:r>
            <a:r>
              <a:rPr lang="ja-JP" altLang="en-US" sz="2400" dirty="0">
                <a:solidFill>
                  <a:srgbClr val="FF0000"/>
                </a:solidFill>
                <a:latin typeface="メイリオ" panose="020B0604030504040204" pitchFamily="50" charset="-128"/>
                <a:ea typeface="メイリオ" panose="020B0604030504040204" pitchFamily="50" charset="-128"/>
              </a:rPr>
              <a:t>法</a:t>
            </a:r>
            <a:r>
              <a:rPr lang="ja-JP" altLang="en-US" sz="2400" dirty="0">
                <a:latin typeface="メイリオ" panose="020B0604030504040204" pitchFamily="50" charset="-128"/>
                <a:ea typeface="メイリオ" panose="020B0604030504040204" pitchFamily="50" charset="-128"/>
              </a:rPr>
              <a:t>は</a:t>
            </a:r>
            <a:r>
              <a:rPr lang="ja-JP" altLang="en-US" sz="2400" dirty="0"/>
              <a:t>単位行列以外の初期値を使うと解は得られなかった  （</a:t>
            </a:r>
            <a:r>
              <a:rPr lang="ja-JP" altLang="en-US" sz="2400" dirty="0">
                <a:solidFill>
                  <a:srgbClr val="FF0000"/>
                </a:solidFill>
              </a:rPr>
              <a:t>予想外</a:t>
            </a:r>
            <a:r>
              <a:rPr lang="en-US" altLang="ja-JP" sz="2400" dirty="0"/>
              <a:t>)</a:t>
            </a:r>
            <a:endParaRPr lang="en-US" altLang="zh-CN" sz="2400" dirty="0"/>
          </a:p>
        </p:txBody>
      </p:sp>
      <p:grpSp>
        <p:nvGrpSpPr>
          <p:cNvPr id="6" name="组合 5">
            <a:extLst>
              <a:ext uri="{FF2B5EF4-FFF2-40B4-BE49-F238E27FC236}">
                <a16:creationId xmlns:a16="http://schemas.microsoft.com/office/drawing/2014/main" id="{9602FD16-4254-4F55-8326-74523C5611F0}"/>
              </a:ext>
            </a:extLst>
          </p:cNvPr>
          <p:cNvGrpSpPr/>
          <p:nvPr/>
        </p:nvGrpSpPr>
        <p:grpSpPr>
          <a:xfrm>
            <a:off x="6842484" y="5181975"/>
            <a:ext cx="5034078" cy="1009917"/>
            <a:chOff x="6610629" y="5177646"/>
            <a:chExt cx="5034078" cy="1009917"/>
          </a:xfrm>
        </p:grpSpPr>
        <p:sp>
          <p:nvSpPr>
            <p:cNvPr id="22" name="テキスト ボックス 21">
              <a:extLst>
                <a:ext uri="{FF2B5EF4-FFF2-40B4-BE49-F238E27FC236}">
                  <a16:creationId xmlns:a16="http://schemas.microsoft.com/office/drawing/2014/main" id="{FFB938C7-9545-4380-88CC-39EEFC5E5B3B}"/>
                </a:ext>
              </a:extLst>
            </p:cNvPr>
            <p:cNvSpPr txBox="1"/>
            <p:nvPr/>
          </p:nvSpPr>
          <p:spPr>
            <a:xfrm>
              <a:off x="7777089" y="5642798"/>
              <a:ext cx="3867618" cy="544765"/>
            </a:xfrm>
            <a:prstGeom prst="rect">
              <a:avLst/>
            </a:prstGeom>
            <a:noFill/>
          </p:spPr>
          <p:txBody>
            <a:bodyPr wrap="square" rtlCol="0">
              <a:spAutoFit/>
            </a:bodyPr>
            <a:lstStyle/>
            <a:p>
              <a:pPr>
                <a:lnSpc>
                  <a:spcPct val="130000"/>
                </a:lnSpc>
              </a:pPr>
              <a:r>
                <a:rPr lang="ja-JP" altLang="en-US" sz="2400" dirty="0"/>
                <a:t>推測が正しいかを検証する</a:t>
              </a:r>
              <a:endParaRPr lang="en-US" altLang="ja-JP" sz="2400" dirty="0"/>
            </a:p>
          </p:txBody>
        </p:sp>
        <p:sp>
          <p:nvSpPr>
            <p:cNvPr id="20" name="箭头: 右 19">
              <a:extLst>
                <a:ext uri="{FF2B5EF4-FFF2-40B4-BE49-F238E27FC236}">
                  <a16:creationId xmlns:a16="http://schemas.microsoft.com/office/drawing/2014/main" id="{AE3C9563-40A1-42CE-85D8-EA8760C731CC}"/>
                </a:ext>
              </a:extLst>
            </p:cNvPr>
            <p:cNvSpPr/>
            <p:nvPr/>
          </p:nvSpPr>
          <p:spPr>
            <a:xfrm>
              <a:off x="6610629" y="5722411"/>
              <a:ext cx="1141737" cy="3855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テキスト ボックス 21">
              <a:extLst>
                <a:ext uri="{FF2B5EF4-FFF2-40B4-BE49-F238E27FC236}">
                  <a16:creationId xmlns:a16="http://schemas.microsoft.com/office/drawing/2014/main" id="{A63B236D-DE8C-4FB8-B3D6-5827876F2069}"/>
                </a:ext>
              </a:extLst>
            </p:cNvPr>
            <p:cNvSpPr txBox="1"/>
            <p:nvPr/>
          </p:nvSpPr>
          <p:spPr>
            <a:xfrm>
              <a:off x="8426662" y="5177646"/>
              <a:ext cx="2865602" cy="544765"/>
            </a:xfrm>
            <a:prstGeom prst="rect">
              <a:avLst/>
            </a:prstGeom>
            <a:noFill/>
          </p:spPr>
          <p:txBody>
            <a:bodyPr wrap="square" rtlCol="0">
              <a:spAutoFit/>
            </a:bodyPr>
            <a:lstStyle/>
            <a:p>
              <a:pPr>
                <a:lnSpc>
                  <a:spcPct val="130000"/>
                </a:lnSpc>
              </a:pPr>
              <a:r>
                <a:rPr lang="ja-JP" altLang="en-US" sz="2400" dirty="0"/>
                <a:t>（今後の課題）</a:t>
              </a:r>
              <a:endParaRPr lang="en-US" altLang="ja-JP" sz="2400" dirty="0"/>
            </a:p>
          </p:txBody>
        </p:sp>
      </p:grpSp>
      <p:pic>
        <p:nvPicPr>
          <p:cNvPr id="14" name="图片 13">
            <a:extLst>
              <a:ext uri="{FF2B5EF4-FFF2-40B4-BE49-F238E27FC236}">
                <a16:creationId xmlns:a16="http://schemas.microsoft.com/office/drawing/2014/main" id="{9DA0030F-02A7-4D67-9956-F9AD7459D1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6129" y="3543968"/>
            <a:ext cx="6068486" cy="986878"/>
          </a:xfrm>
          <a:prstGeom prst="rect">
            <a:avLst/>
          </a:prstGeom>
        </p:spPr>
      </p:pic>
      <p:grpSp>
        <p:nvGrpSpPr>
          <p:cNvPr id="12" name="グループ化 11">
            <a:extLst>
              <a:ext uri="{FF2B5EF4-FFF2-40B4-BE49-F238E27FC236}">
                <a16:creationId xmlns:a16="http://schemas.microsoft.com/office/drawing/2014/main" id="{79F25850-B166-4A5B-8A64-1836A71133B4}"/>
              </a:ext>
            </a:extLst>
          </p:cNvPr>
          <p:cNvGrpSpPr/>
          <p:nvPr/>
        </p:nvGrpSpPr>
        <p:grpSpPr>
          <a:xfrm>
            <a:off x="899734" y="4912096"/>
            <a:ext cx="5735618" cy="1724667"/>
            <a:chOff x="899734" y="4912096"/>
            <a:chExt cx="5735618" cy="1724667"/>
          </a:xfrm>
        </p:grpSpPr>
        <p:sp>
          <p:nvSpPr>
            <p:cNvPr id="8" name="吹き出し: 四角形 7">
              <a:extLst>
                <a:ext uri="{FF2B5EF4-FFF2-40B4-BE49-F238E27FC236}">
                  <a16:creationId xmlns:a16="http://schemas.microsoft.com/office/drawing/2014/main" id="{863C8D55-7B5B-4B53-BBD8-84A124164751}"/>
                </a:ext>
              </a:extLst>
            </p:cNvPr>
            <p:cNvSpPr/>
            <p:nvPr/>
          </p:nvSpPr>
          <p:spPr>
            <a:xfrm>
              <a:off x="899734" y="5049487"/>
              <a:ext cx="5735618" cy="1587276"/>
            </a:xfrm>
            <a:prstGeom prst="wedgeRectCallout">
              <a:avLst>
                <a:gd name="adj1" fmla="val 48536"/>
                <a:gd name="adj2" fmla="val -100930"/>
              </a:avLst>
            </a:prstGeom>
            <a:solidFill>
              <a:schemeClr val="bg1"/>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ltLang="ja-JP" sz="2400" dirty="0">
                <a:solidFill>
                  <a:schemeClr val="tx1"/>
                </a:solidFill>
              </a:endParaRPr>
            </a:p>
          </p:txBody>
        </p:sp>
        <p:sp>
          <p:nvSpPr>
            <p:cNvPr id="10" name="テキスト ボックス 9">
              <a:extLst>
                <a:ext uri="{FF2B5EF4-FFF2-40B4-BE49-F238E27FC236}">
                  <a16:creationId xmlns:a16="http://schemas.microsoft.com/office/drawing/2014/main" id="{CB415A3C-EBF6-415E-BF1C-768ED335F351}"/>
                </a:ext>
              </a:extLst>
            </p:cNvPr>
            <p:cNvSpPr txBox="1"/>
            <p:nvPr/>
          </p:nvSpPr>
          <p:spPr>
            <a:xfrm>
              <a:off x="1106866" y="4912096"/>
              <a:ext cx="805759" cy="461665"/>
            </a:xfrm>
            <a:prstGeom prst="rect">
              <a:avLst/>
            </a:prstGeom>
            <a:solidFill>
              <a:schemeClr val="bg1"/>
            </a:solidFill>
          </p:spPr>
          <p:txBody>
            <a:bodyPr wrap="square">
              <a:spAutoFit/>
            </a:bodyPr>
            <a:lstStyle/>
            <a:p>
              <a:r>
                <a:rPr lang="ja-JP" altLang="en-US" sz="2400" dirty="0"/>
                <a:t>推測</a:t>
              </a:r>
              <a:endParaRPr lang="en-US" sz="2400" dirty="0"/>
            </a:p>
          </p:txBody>
        </p: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F80DF766-61A5-48CE-873F-AE53A3A70529}"/>
                    </a:ext>
                  </a:extLst>
                </p:cNvPr>
                <p:cNvSpPr txBox="1"/>
                <p:nvPr/>
              </p:nvSpPr>
              <p:spPr>
                <a:xfrm>
                  <a:off x="996129" y="5373175"/>
                  <a:ext cx="5574945" cy="1024896"/>
                </a:xfrm>
                <a:prstGeom prst="rect">
                  <a:avLst/>
                </a:prstGeom>
                <a:noFill/>
              </p:spPr>
              <p:txBody>
                <a:bodyPr wrap="square">
                  <a:spAutoFit/>
                </a:bodyPr>
                <a:lstStyle/>
                <a:p>
                  <a:pPr>
                    <a:lnSpc>
                      <a:spcPct val="130000"/>
                    </a:lnSpc>
                  </a:pPr>
                  <a:r>
                    <a:rPr lang="ja-JP" altLang="en-US" sz="2400" dirty="0">
                      <a:solidFill>
                        <a:schemeClr val="tx1"/>
                      </a:solidFill>
                    </a:rPr>
                    <a:t>修正量</a:t>
                  </a:r>
                  <a:r>
                    <a:rPr lang="zh-CN" altLang="en-US" sz="2400" dirty="0">
                      <a:solidFill>
                        <a:schemeClr val="tx1"/>
                      </a:solidFill>
                    </a:rPr>
                    <a:t> </a:t>
                  </a:r>
                  <a14:m>
                    <m:oMath xmlns:m="http://schemas.openxmlformats.org/officeDocument/2006/math">
                      <m:sSub>
                        <m:sSubPr>
                          <m:ctrlPr>
                            <a:rPr lang="en-US" altLang="ja-JP" sz="2400" i="1">
                              <a:latin typeface="Cambria Math" panose="02040503050406030204" pitchFamily="18" charset="0"/>
                            </a:rPr>
                          </m:ctrlPr>
                        </m:sSubPr>
                        <m:e>
                          <m:r>
                            <a:rPr lang="en-US" altLang="ja-JP" sz="2400" b="0" i="1" smtClean="0">
                              <a:latin typeface="Cambria Math" panose="02040503050406030204" pitchFamily="18" charset="0"/>
                            </a:rPr>
                            <m:t>𝐻</m:t>
                          </m:r>
                        </m:e>
                        <m:sub>
                          <m:r>
                            <a:rPr lang="en-US" altLang="ja-JP" sz="2400" i="1">
                              <a:latin typeface="Cambria Math" panose="02040503050406030204" pitchFamily="18" charset="0"/>
                            </a:rPr>
                            <m:t>0</m:t>
                          </m:r>
                        </m:sub>
                      </m:sSub>
                    </m:oMath>
                  </a14:m>
                  <a:r>
                    <a:rPr lang="ja-JP" altLang="en-US" sz="2400" dirty="0">
                      <a:solidFill>
                        <a:schemeClr val="tx1"/>
                      </a:solidFill>
                    </a:rPr>
                    <a:t> の中に単位行列 </a:t>
                  </a:r>
                  <a14:m>
                    <m:oMath xmlns:m="http://schemas.openxmlformats.org/officeDocument/2006/math">
                      <m:r>
                        <a:rPr lang="en-US" altLang="ja-JP" sz="2400" b="0" i="1" smtClean="0">
                          <a:solidFill>
                            <a:schemeClr val="tx1"/>
                          </a:solidFill>
                          <a:latin typeface="Cambria Math" panose="02040503050406030204" pitchFamily="18" charset="0"/>
                        </a:rPr>
                        <m:t>𝐼</m:t>
                      </m:r>
                    </m:oMath>
                  </a14:m>
                  <a:r>
                    <a:rPr lang="ja-JP" altLang="en-US" sz="2400" dirty="0">
                      <a:solidFill>
                        <a:schemeClr val="tx1"/>
                      </a:solidFill>
                    </a:rPr>
                    <a:t> があるので、この箇所も修正する必要がある</a:t>
                  </a:r>
                  <a:r>
                    <a:rPr lang="zh-CN" altLang="en-US" sz="2400" dirty="0">
                      <a:solidFill>
                        <a:schemeClr val="tx1"/>
                      </a:solidFill>
                    </a:rPr>
                    <a:t>？</a:t>
                  </a:r>
                  <a:endParaRPr lang="en-US" altLang="ja-JP" sz="2400" dirty="0">
                    <a:solidFill>
                      <a:schemeClr val="tx1"/>
                    </a:solidFill>
                  </a:endParaRPr>
                </a:p>
              </p:txBody>
            </p:sp>
          </mc:Choice>
          <mc:Fallback xmlns="">
            <p:sp>
              <p:nvSpPr>
                <p:cNvPr id="16" name="文本框 15">
                  <a:extLst>
                    <a:ext uri="{FF2B5EF4-FFF2-40B4-BE49-F238E27FC236}">
                      <a16:creationId xmlns:a16="http://schemas.microsoft.com/office/drawing/2014/main" id="{F80DF766-61A5-48CE-873F-AE53A3A70529}"/>
                    </a:ext>
                  </a:extLst>
                </p:cNvPr>
                <p:cNvSpPr txBox="1">
                  <a:spLocks noRot="1" noChangeAspect="1" noMove="1" noResize="1" noEditPoints="1" noAdjustHandles="1" noChangeArrowheads="1" noChangeShapeType="1" noTextEdit="1"/>
                </p:cNvSpPr>
                <p:nvPr/>
              </p:nvSpPr>
              <p:spPr>
                <a:xfrm>
                  <a:off x="996129" y="5373175"/>
                  <a:ext cx="5574945" cy="1024896"/>
                </a:xfrm>
                <a:prstGeom prst="rect">
                  <a:avLst/>
                </a:prstGeom>
                <a:blipFill>
                  <a:blip r:embed="rId3"/>
                  <a:stretch>
                    <a:fillRect l="-1639" r="-7104" b="-13018"/>
                  </a:stretch>
                </a:blipFill>
              </p:spPr>
              <p:txBody>
                <a:bodyPr/>
                <a:lstStyle/>
                <a:p>
                  <a:r>
                    <a:rPr lang="en-US">
                      <a:noFill/>
                    </a:rPr>
                    <a:t> </a:t>
                  </a:r>
                </a:p>
              </p:txBody>
            </p:sp>
          </mc:Fallback>
        </mc:AlternateContent>
      </p:grpSp>
      <p:grpSp>
        <p:nvGrpSpPr>
          <p:cNvPr id="11" name="グループ化 10">
            <a:extLst>
              <a:ext uri="{FF2B5EF4-FFF2-40B4-BE49-F238E27FC236}">
                <a16:creationId xmlns:a16="http://schemas.microsoft.com/office/drawing/2014/main" id="{92386910-4CA4-4E39-8BC3-2C82BE257DEE}"/>
              </a:ext>
            </a:extLst>
          </p:cNvPr>
          <p:cNvGrpSpPr/>
          <p:nvPr/>
        </p:nvGrpSpPr>
        <p:grpSpPr>
          <a:xfrm>
            <a:off x="7622340" y="2244443"/>
            <a:ext cx="3010953" cy="1097413"/>
            <a:chOff x="7622340" y="2244443"/>
            <a:chExt cx="3010953" cy="1097413"/>
          </a:xfrm>
        </p:grpSpPr>
        <mc:AlternateContent xmlns:mc="http://schemas.openxmlformats.org/markup-compatibility/2006" xmlns:a14="http://schemas.microsoft.com/office/drawing/2010/main">
          <mc:Choice Requires="a14">
            <p:sp>
              <p:nvSpPr>
                <p:cNvPr id="13" name="对话气泡: 矩形 12">
                  <a:extLst>
                    <a:ext uri="{FF2B5EF4-FFF2-40B4-BE49-F238E27FC236}">
                      <a16:creationId xmlns:a16="http://schemas.microsoft.com/office/drawing/2014/main" id="{273F22A9-4B60-477B-973C-4A1BDD0DD381}"/>
                    </a:ext>
                  </a:extLst>
                </p:cNvPr>
                <p:cNvSpPr/>
                <p:nvPr/>
              </p:nvSpPr>
              <p:spPr>
                <a:xfrm>
                  <a:off x="7622340" y="2438114"/>
                  <a:ext cx="3010953" cy="903742"/>
                </a:xfrm>
                <a:prstGeom prst="wedgeRectCallout">
                  <a:avLst>
                    <a:gd name="adj1" fmla="val -113560"/>
                    <a:gd name="adj2" fmla="val 107855"/>
                  </a:avLst>
                </a:prstGeom>
                <a:solidFill>
                  <a:schemeClr val="bg1"/>
                </a:solidFill>
                <a:ln w="28575">
                  <a:solidFill>
                    <a:srgbClr val="00009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sSub>
                        <m:sSubPr>
                          <m:ctrlPr>
                            <a:rPr lang="en-US" altLang="ja-JP" sz="2400" b="0" i="1" smtClean="0">
                              <a:solidFill>
                                <a:schemeClr val="tx1"/>
                              </a:solidFill>
                              <a:latin typeface="Cambria Math" panose="02040503050406030204" pitchFamily="18" charset="0"/>
                            </a:rPr>
                          </m:ctrlPr>
                        </m:sSubPr>
                        <m:e>
                          <m:r>
                            <a:rPr lang="en-US" altLang="ja-JP" sz="2400" b="0" i="1" smtClean="0">
                              <a:solidFill>
                                <a:schemeClr val="tx1"/>
                              </a:solidFill>
                              <a:latin typeface="Cambria Math" panose="02040503050406030204" pitchFamily="18" charset="0"/>
                            </a:rPr>
                            <m:t>𝑋</m:t>
                          </m:r>
                        </m:e>
                        <m:sub>
                          <m:r>
                            <a:rPr lang="en-US" altLang="ja-JP" sz="2400" b="0" i="1" smtClean="0">
                              <a:solidFill>
                                <a:schemeClr val="tx1"/>
                              </a:solidFill>
                              <a:latin typeface="Cambria Math" panose="02040503050406030204" pitchFamily="18" charset="0"/>
                            </a:rPr>
                            <m:t>0</m:t>
                          </m:r>
                        </m:sub>
                      </m:sSub>
                    </m:oMath>
                  </a14:m>
                  <a:r>
                    <a:rPr lang="ja-JP" altLang="en-US" sz="2400" dirty="0">
                      <a:solidFill>
                        <a:schemeClr val="tx1"/>
                      </a:solidFill>
                    </a:rPr>
                    <a:t> を </a:t>
                  </a:r>
                  <a14:m>
                    <m:oMath xmlns:m="http://schemas.openxmlformats.org/officeDocument/2006/math">
                      <m:sSub>
                        <m:sSubPr>
                          <m:ctrlPr>
                            <a:rPr lang="en-US" sz="2400" b="0" i="1" smtClean="0">
                              <a:solidFill>
                                <a:schemeClr val="tx1"/>
                              </a:solidFill>
                              <a:latin typeface="Cambria Math" panose="02040503050406030204" pitchFamily="18" charset="0"/>
                            </a:rPr>
                          </m:ctrlPr>
                        </m:sSubPr>
                        <m:e>
                          <m:r>
                            <a:rPr lang="en-US" sz="2400" i="1" smtClean="0">
                              <a:solidFill>
                                <a:schemeClr val="tx1"/>
                              </a:solidFill>
                              <a:latin typeface="Cambria Math" panose="02040503050406030204" pitchFamily="18" charset="0"/>
                            </a:rPr>
                            <m:t>𝑐</m:t>
                          </m:r>
                        </m:e>
                        <m:sub>
                          <m:r>
                            <a:rPr lang="en-US" sz="2400" b="0" i="1" smtClean="0">
                              <a:solidFill>
                                <a:schemeClr val="tx1"/>
                              </a:solidFill>
                              <a:latin typeface="Cambria Math" panose="02040503050406030204" pitchFamily="18" charset="0"/>
                            </a:rPr>
                            <m:t>0</m:t>
                          </m:r>
                        </m:sub>
                      </m:sSub>
                      <m:r>
                        <a:rPr lang="en-US" sz="2400" i="1" smtClean="0">
                          <a:solidFill>
                            <a:schemeClr val="tx1"/>
                          </a:solidFill>
                          <a:latin typeface="Cambria Math" panose="02040503050406030204" pitchFamily="18" charset="0"/>
                        </a:rPr>
                        <m:t>𝐼</m:t>
                      </m:r>
                    </m:oMath>
                  </a14:m>
                  <a:r>
                    <a:rPr lang="zh-CN" altLang="en-US" sz="2400" dirty="0">
                      <a:solidFill>
                        <a:schemeClr val="tx1"/>
                      </a:solidFill>
                    </a:rPr>
                    <a:t> </a:t>
                  </a:r>
                  <a:r>
                    <a:rPr lang="ja-JP" altLang="en-US" sz="2400" dirty="0">
                      <a:solidFill>
                        <a:schemeClr val="tx1"/>
                      </a:solidFill>
                    </a:rPr>
                    <a:t>に変更</a:t>
                  </a:r>
                  <a:endParaRPr lang="zh-CN" altLang="en-US" sz="2400" dirty="0">
                    <a:solidFill>
                      <a:schemeClr val="tx1"/>
                    </a:solidFill>
                  </a:endParaRPr>
                </a:p>
              </p:txBody>
            </p:sp>
          </mc:Choice>
          <mc:Fallback xmlns="">
            <p:sp>
              <p:nvSpPr>
                <p:cNvPr id="13" name="对话气泡: 矩形 12">
                  <a:extLst>
                    <a:ext uri="{FF2B5EF4-FFF2-40B4-BE49-F238E27FC236}">
                      <a16:creationId xmlns:a16="http://schemas.microsoft.com/office/drawing/2014/main" id="{273F22A9-4B60-477B-973C-4A1BDD0DD381}"/>
                    </a:ext>
                  </a:extLst>
                </p:cNvPr>
                <p:cNvSpPr>
                  <a:spLocks noRot="1" noChangeAspect="1" noMove="1" noResize="1" noEditPoints="1" noAdjustHandles="1" noChangeArrowheads="1" noChangeShapeType="1" noTextEdit="1"/>
                </p:cNvSpPr>
                <p:nvPr/>
              </p:nvSpPr>
              <p:spPr>
                <a:xfrm>
                  <a:off x="7622340" y="2438114"/>
                  <a:ext cx="3010953" cy="903742"/>
                </a:xfrm>
                <a:prstGeom prst="wedgeRectCallout">
                  <a:avLst>
                    <a:gd name="adj1" fmla="val -113560"/>
                    <a:gd name="adj2" fmla="val 107855"/>
                  </a:avLst>
                </a:prstGeom>
                <a:blipFill>
                  <a:blip r:embed="rId4"/>
                  <a:stretch>
                    <a:fillRect/>
                  </a:stretch>
                </a:blipFill>
                <a:ln w="28575">
                  <a:solidFill>
                    <a:srgbClr val="00009E"/>
                  </a:solidFill>
                </a:ln>
              </p:spPr>
              <p:txBody>
                <a:bodyPr/>
                <a:lstStyle/>
                <a:p>
                  <a:r>
                    <a:rPr lang="en-US">
                      <a:noFill/>
                    </a:rPr>
                    <a:t> </a:t>
                  </a:r>
                </a:p>
              </p:txBody>
            </p:sp>
          </mc:Fallback>
        </mc:AlternateContent>
        <p:sp>
          <p:nvSpPr>
            <p:cNvPr id="21" name="文本框 20">
              <a:extLst>
                <a:ext uri="{FF2B5EF4-FFF2-40B4-BE49-F238E27FC236}">
                  <a16:creationId xmlns:a16="http://schemas.microsoft.com/office/drawing/2014/main" id="{29BD39EC-5B39-4D67-8AEA-E1C094C0A9D4}"/>
                </a:ext>
              </a:extLst>
            </p:cNvPr>
            <p:cNvSpPr txBox="1"/>
            <p:nvPr/>
          </p:nvSpPr>
          <p:spPr>
            <a:xfrm>
              <a:off x="7777089" y="2244443"/>
              <a:ext cx="1761049" cy="461665"/>
            </a:xfrm>
            <a:prstGeom prst="rect">
              <a:avLst/>
            </a:prstGeom>
            <a:solidFill>
              <a:schemeClr val="bg1"/>
            </a:solidFill>
          </p:spPr>
          <p:txBody>
            <a:bodyPr wrap="square">
              <a:spAutoFit/>
            </a:bodyPr>
            <a:lstStyle/>
            <a:p>
              <a:r>
                <a:rPr lang="ja-JP" altLang="en-US" sz="2400" dirty="0">
                  <a:solidFill>
                    <a:schemeClr val="tx1"/>
                  </a:solidFill>
                </a:rPr>
                <a:t>今回の調査</a:t>
              </a:r>
              <a:endParaRPr lang="zh-CN" altLang="en-US" sz="2400" dirty="0"/>
            </a:p>
          </p:txBody>
        </p:sp>
      </p:grpSp>
    </p:spTree>
    <p:extLst>
      <p:ext uri="{BB962C8B-B14F-4D97-AF65-F5344CB8AC3E}">
        <p14:creationId xmlns:p14="http://schemas.microsoft.com/office/powerpoint/2010/main" val="2855960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wipe(left)">
                                      <p:cBhvr>
                                        <p:cTn id="3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9" grpId="0"/>
      <p:bldP spid="1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EFFE7AE-5732-409C-986F-12E10B3466D3}"/>
              </a:ext>
            </a:extLst>
          </p:cNvPr>
          <p:cNvSpPr>
            <a:spLocks noGrp="1"/>
          </p:cNvSpPr>
          <p:nvPr>
            <p:ph type="title"/>
          </p:nvPr>
        </p:nvSpPr>
        <p:spPr/>
        <p:txBody>
          <a:bodyPr>
            <a:normAutofit/>
          </a:bodyPr>
          <a:lstStyle/>
          <a:p>
            <a:r>
              <a:rPr lang="ja-JP" altLang="en-US" sz="3200" dirty="0">
                <a:latin typeface="メイリオ" panose="020B0604030504040204" pitchFamily="50" charset="-128"/>
                <a:ea typeface="メイリオ" panose="020B0604030504040204" pitchFamily="50" charset="-128"/>
              </a:rPr>
              <a:t>まとめと今後の課題</a:t>
            </a:r>
            <a:endParaRPr lang="en-US" sz="3200" dirty="0"/>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73FB39F2-8C96-46CE-9F6E-03BF63723293}"/>
                  </a:ext>
                </a:extLst>
              </p:cNvPr>
              <p:cNvSpPr txBox="1"/>
              <p:nvPr/>
            </p:nvSpPr>
            <p:spPr>
              <a:xfrm>
                <a:off x="263371" y="1105380"/>
                <a:ext cx="9660766" cy="2454198"/>
              </a:xfrm>
              <a:prstGeom prst="rect">
                <a:avLst/>
              </a:prstGeom>
              <a:noFill/>
            </p:spPr>
            <p:txBody>
              <a:bodyPr wrap="square">
                <a:spAutoFit/>
              </a:bodyPr>
              <a:lstStyle/>
              <a:p>
                <a:pPr>
                  <a:lnSpc>
                    <a:spcPct val="130000"/>
                  </a:lnSpc>
                </a:pPr>
                <a:r>
                  <a:rPr kumimoji="1" lang="ja-JP" altLang="en-US" sz="2400" b="1" dirty="0">
                    <a:latin typeface="メイリオ" panose="020B0604030504040204" pitchFamily="50" charset="-128"/>
                    <a:ea typeface="メイリオ" panose="020B0604030504040204" pitchFamily="50" charset="-128"/>
                    <a:cs typeface="+mj-cs"/>
                  </a:rPr>
                  <a:t>まとめ</a:t>
                </a:r>
                <a:endParaRPr kumimoji="1" lang="en-US" altLang="ja-JP" sz="2400" b="1" dirty="0">
                  <a:latin typeface="メイリオ" panose="020B0604030504040204" pitchFamily="50" charset="-128"/>
                  <a:ea typeface="メイリオ" panose="020B0604030504040204" pitchFamily="50" charset="-128"/>
                  <a:cs typeface="+mj-cs"/>
                </a:endParaRPr>
              </a:p>
              <a:p>
                <a:pPr>
                  <a:lnSpc>
                    <a:spcPct val="130000"/>
                  </a:lnSpc>
                </a:pPr>
                <a:r>
                  <a:rPr kumimoji="1" lang="ja-JP" altLang="en-US" sz="2400" dirty="0">
                    <a:latin typeface="メイリオ" panose="020B0604030504040204" pitchFamily="50" charset="-128"/>
                    <a:ea typeface="メイリオ" panose="020B0604030504040204" pitchFamily="50" charset="-128"/>
                    <a:cs typeface="+mj-cs"/>
                  </a:rPr>
                  <a:t>・行列</a:t>
                </a:r>
                <a:r>
                  <a:rPr kumimoji="1" lang="zh-CN" altLang="en-US" sz="2400" dirty="0">
                    <a:latin typeface="メイリオ" panose="020B0604030504040204" pitchFamily="50" charset="-128"/>
                    <a:ea typeface="メイリオ" panose="020B0604030504040204" pitchFamily="50" charset="-128"/>
                    <a:cs typeface="+mj-cs"/>
                  </a:rPr>
                  <a:t> </a:t>
                </a:r>
                <a14:m>
                  <m:oMath xmlns:m="http://schemas.openxmlformats.org/officeDocument/2006/math">
                    <m:r>
                      <a:rPr kumimoji="1" lang="en-US" altLang="ja-JP" sz="2400" b="0" i="1" smtClean="0">
                        <a:latin typeface="Cambria Math" panose="02040503050406030204" pitchFamily="18" charset="0"/>
                        <a:ea typeface="メイリオ" panose="020B0604030504040204" pitchFamily="50" charset="-128"/>
                        <a:cs typeface="+mj-cs"/>
                      </a:rPr>
                      <m:t>𝑝</m:t>
                    </m:r>
                  </m:oMath>
                </a14:m>
                <a:r>
                  <a:rPr kumimoji="1" lang="ja-JP" altLang="en-US" sz="2400" dirty="0">
                    <a:latin typeface="メイリオ" panose="020B0604030504040204" pitchFamily="50" charset="-128"/>
                    <a:ea typeface="メイリオ" panose="020B0604030504040204" pitchFamily="50" charset="-128"/>
                    <a:cs typeface="+mj-cs"/>
                  </a:rPr>
                  <a:t> 乗根を求めるための</a:t>
                </a:r>
                <a:r>
                  <a:rPr kumimoji="1" lang="en-US" altLang="ja-JP" sz="2400" dirty="0">
                    <a:latin typeface="メイリオ" panose="020B0604030504040204" pitchFamily="50" charset="-128"/>
                    <a:ea typeface="メイリオ" panose="020B0604030504040204" pitchFamily="50" charset="-128"/>
                    <a:cs typeface="+mj-cs"/>
                  </a:rPr>
                  <a:t>N</a:t>
                </a:r>
                <a:r>
                  <a:rPr kumimoji="1" lang="en-US" altLang="zh-CN" sz="2400" dirty="0">
                    <a:latin typeface="メイリオ" panose="020B0604030504040204" pitchFamily="50" charset="-128"/>
                    <a:ea typeface="メイリオ" panose="020B0604030504040204" pitchFamily="50" charset="-128"/>
                    <a:cs typeface="+mj-cs"/>
                  </a:rPr>
                  <a:t>ewton</a:t>
                </a:r>
                <a:r>
                  <a:rPr kumimoji="1" lang="ja-JP" altLang="en-US" sz="2400" dirty="0">
                    <a:latin typeface="メイリオ" panose="020B0604030504040204" pitchFamily="50" charset="-128"/>
                    <a:ea typeface="メイリオ" panose="020B0604030504040204" pitchFamily="50" charset="-128"/>
                    <a:cs typeface="+mj-cs"/>
                  </a:rPr>
                  <a:t>法と</a:t>
                </a:r>
                <a:r>
                  <a:rPr kumimoji="1" lang="en-US" altLang="ja-JP" sz="2400" dirty="0">
                    <a:latin typeface="メイリオ" panose="020B0604030504040204" pitchFamily="50" charset="-128"/>
                    <a:ea typeface="メイリオ" panose="020B0604030504040204" pitchFamily="50" charset="-128"/>
                    <a:cs typeface="+mj-cs"/>
                  </a:rPr>
                  <a:t>IN</a:t>
                </a:r>
                <a:r>
                  <a:rPr kumimoji="1" lang="ja-JP" altLang="en-US" sz="2400" dirty="0">
                    <a:latin typeface="メイリオ" panose="020B0604030504040204" pitchFamily="50" charset="-128"/>
                    <a:ea typeface="メイリオ" panose="020B0604030504040204" pitchFamily="50" charset="-128"/>
                    <a:cs typeface="+mj-cs"/>
                  </a:rPr>
                  <a:t>法を紹介した</a:t>
                </a:r>
                <a:endParaRPr kumimoji="1" lang="en-US" altLang="ja-JP" sz="2400" dirty="0">
                  <a:latin typeface="メイリオ" panose="020B0604030504040204" pitchFamily="50" charset="-128"/>
                  <a:ea typeface="メイリオ" panose="020B0604030504040204" pitchFamily="50" charset="-128"/>
                  <a:cs typeface="+mj-cs"/>
                </a:endParaRPr>
              </a:p>
              <a:p>
                <a:pPr>
                  <a:lnSpc>
                    <a:spcPct val="130000"/>
                  </a:lnSpc>
                </a:pPr>
                <a:endParaRPr kumimoji="1" lang="en-US" altLang="ja-JP" sz="2400" dirty="0">
                  <a:latin typeface="メイリオ" panose="020B0604030504040204" pitchFamily="50" charset="-128"/>
                  <a:ea typeface="メイリオ" panose="020B0604030504040204" pitchFamily="50" charset="-128"/>
                  <a:cs typeface="+mj-cs"/>
                </a:endParaRPr>
              </a:p>
              <a:p>
                <a:pPr>
                  <a:lnSpc>
                    <a:spcPct val="130000"/>
                  </a:lnSpc>
                </a:pPr>
                <a:endParaRPr kumimoji="1" lang="en-US" altLang="ja-JP" sz="2400" dirty="0">
                  <a:ea typeface="メイリオ" panose="020B0604030504040204" pitchFamily="50" charset="-128"/>
                  <a:cs typeface="+mj-cs"/>
                </a:endParaRPr>
              </a:p>
              <a:p>
                <a:pPr>
                  <a:lnSpc>
                    <a:spcPct val="130000"/>
                  </a:lnSpc>
                </a:pPr>
                <a:r>
                  <a:rPr kumimoji="1" lang="en-US" altLang="zh-CN" sz="2400" dirty="0">
                    <a:ea typeface="メイリオ" panose="020B0604030504040204" pitchFamily="50" charset="-128"/>
                    <a:cs typeface="+mj-cs"/>
                  </a:rPr>
                  <a:t>	</a:t>
                </a:r>
                <a:endParaRPr kumimoji="1" lang="zh-CN" altLang="en-US" sz="2400" dirty="0">
                  <a:ea typeface="メイリオ" panose="020B0604030504040204" pitchFamily="50" charset="-128"/>
                  <a:cs typeface="+mj-cs"/>
                </a:endParaRPr>
              </a:p>
            </p:txBody>
          </p:sp>
        </mc:Choice>
        <mc:Fallback xmlns="">
          <p:sp>
            <p:nvSpPr>
              <p:cNvPr id="4" name="文本框 3">
                <a:extLst>
                  <a:ext uri="{FF2B5EF4-FFF2-40B4-BE49-F238E27FC236}">
                    <a16:creationId xmlns:a16="http://schemas.microsoft.com/office/drawing/2014/main" id="{73FB39F2-8C96-46CE-9F6E-03BF63723293}"/>
                  </a:ext>
                </a:extLst>
              </p:cNvPr>
              <p:cNvSpPr txBox="1">
                <a:spLocks noRot="1" noChangeAspect="1" noMove="1" noResize="1" noEditPoints="1" noAdjustHandles="1" noChangeArrowheads="1" noChangeShapeType="1" noTextEdit="1"/>
              </p:cNvSpPr>
              <p:nvPr/>
            </p:nvSpPr>
            <p:spPr>
              <a:xfrm>
                <a:off x="263371" y="1105380"/>
                <a:ext cx="9660766" cy="2454198"/>
              </a:xfrm>
              <a:prstGeom prst="rect">
                <a:avLst/>
              </a:prstGeom>
              <a:blipFill>
                <a:blip r:embed="rId2"/>
                <a:stretch>
                  <a:fillRect l="-94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2383F1AD-F203-4922-8084-C9D45FE17055}"/>
                  </a:ext>
                </a:extLst>
              </p:cNvPr>
              <p:cNvSpPr txBox="1"/>
              <p:nvPr/>
            </p:nvSpPr>
            <p:spPr>
              <a:xfrm>
                <a:off x="258319" y="2182600"/>
                <a:ext cx="10496655" cy="1024896"/>
              </a:xfrm>
              <a:prstGeom prst="rect">
                <a:avLst/>
              </a:prstGeom>
              <a:noFill/>
            </p:spPr>
            <p:txBody>
              <a:bodyPr wrap="square">
                <a:spAutoFit/>
              </a:bodyPr>
              <a:lstStyle/>
              <a:p>
                <a:pPr>
                  <a:lnSpc>
                    <a:spcPct val="130000"/>
                  </a:lnSpc>
                </a:pPr>
                <a:r>
                  <a:rPr lang="ja-JP" altLang="en-US" sz="2400" dirty="0"/>
                  <a:t>・本研究では初期値の研究</a:t>
                </a:r>
                <a:r>
                  <a:rPr lang="en-US" altLang="ja-JP" sz="2400" dirty="0"/>
                  <a:t>(</a:t>
                </a:r>
                <a:r>
                  <a:rPr lang="ja-JP" altLang="en-US" sz="2400" dirty="0"/>
                  <a:t>行列平方根</a:t>
                </a:r>
                <a:r>
                  <a:rPr lang="en-US" altLang="ja-JP" sz="2400" dirty="0"/>
                  <a:t>)[Mizuno et al., 2016]</a:t>
                </a:r>
                <a:r>
                  <a:rPr lang="ja-JP" altLang="en-US" sz="2400" dirty="0"/>
                  <a:t>に着目し</a:t>
                </a:r>
                <a:r>
                  <a:rPr lang="zh-CN" altLang="en-US" sz="2400" dirty="0"/>
                  <a:t>，</a:t>
                </a:r>
                <a:endParaRPr lang="en-US" altLang="ja-JP" sz="2400" dirty="0"/>
              </a:p>
              <a:p>
                <a:pPr>
                  <a:lnSpc>
                    <a:spcPct val="130000"/>
                  </a:lnSpc>
                </a:pPr>
                <a:r>
                  <a:rPr kumimoji="1" lang="ja-JP" altLang="en-US" sz="2400" dirty="0">
                    <a:latin typeface="メイリオ" panose="020B0604030504040204" pitchFamily="50" charset="-128"/>
                    <a:ea typeface="メイリオ" panose="020B0604030504040204" pitchFamily="50" charset="-128"/>
                    <a:cs typeface="+mj-cs"/>
                  </a:rPr>
                  <a:t>　行列</a:t>
                </a:r>
                <a:r>
                  <a:rPr kumimoji="1" lang="zh-CN" altLang="en-US" sz="2400" dirty="0">
                    <a:latin typeface="メイリオ" panose="020B0604030504040204" pitchFamily="50" charset="-128"/>
                    <a:ea typeface="メイリオ" panose="020B0604030504040204" pitchFamily="50" charset="-128"/>
                    <a:cs typeface="+mj-cs"/>
                  </a:rPr>
                  <a:t> </a:t>
                </a:r>
                <a14:m>
                  <m:oMath xmlns:m="http://schemas.openxmlformats.org/officeDocument/2006/math">
                    <m:r>
                      <a:rPr kumimoji="1" lang="en-US" altLang="zh-CN" sz="2400" b="0" i="1" smtClean="0">
                        <a:latin typeface="Cambria Math" panose="02040503050406030204" pitchFamily="18" charset="0"/>
                        <a:ea typeface="メイリオ" panose="020B0604030504040204" pitchFamily="50" charset="-128"/>
                        <a:cs typeface="+mj-cs"/>
                      </a:rPr>
                      <m:t>𝑝</m:t>
                    </m:r>
                  </m:oMath>
                </a14:m>
                <a:r>
                  <a:rPr kumimoji="1" lang="ja-JP" altLang="en-US" sz="2400" dirty="0">
                    <a:latin typeface="メイリオ" panose="020B0604030504040204" pitchFamily="50" charset="-128"/>
                    <a:ea typeface="メイリオ" panose="020B0604030504040204" pitchFamily="50" charset="-128"/>
                    <a:cs typeface="+mj-cs"/>
                  </a:rPr>
                  <a:t> 乗根に対する</a:t>
                </a:r>
                <a:r>
                  <a:rPr kumimoji="1" lang="en-US" altLang="ja-JP" sz="2400" dirty="0">
                    <a:latin typeface="メイリオ" panose="020B0604030504040204" pitchFamily="50" charset="-128"/>
                    <a:ea typeface="メイリオ" panose="020B0604030504040204" pitchFamily="50" charset="-128"/>
                    <a:cs typeface="+mj-cs"/>
                  </a:rPr>
                  <a:t>N</a:t>
                </a:r>
                <a:r>
                  <a:rPr kumimoji="1" lang="en-US" altLang="zh-CN" sz="2400" dirty="0">
                    <a:latin typeface="メイリオ" panose="020B0604030504040204" pitchFamily="50" charset="-128"/>
                    <a:ea typeface="メイリオ" panose="020B0604030504040204" pitchFamily="50" charset="-128"/>
                    <a:cs typeface="+mj-cs"/>
                  </a:rPr>
                  <a:t>ewton</a:t>
                </a:r>
                <a:r>
                  <a:rPr kumimoji="1" lang="ja-JP" altLang="en-US" sz="2400" dirty="0">
                    <a:latin typeface="メイリオ" panose="020B0604030504040204" pitchFamily="50" charset="-128"/>
                    <a:ea typeface="メイリオ" panose="020B0604030504040204" pitchFamily="50" charset="-128"/>
                    <a:cs typeface="+mj-cs"/>
                  </a:rPr>
                  <a:t>法と</a:t>
                </a:r>
                <a:r>
                  <a:rPr kumimoji="1" lang="en-US" altLang="ja-JP" sz="2400" dirty="0">
                    <a:latin typeface="メイリオ" panose="020B0604030504040204" pitchFamily="50" charset="-128"/>
                    <a:ea typeface="メイリオ" panose="020B0604030504040204" pitchFamily="50" charset="-128"/>
                    <a:cs typeface="+mj-cs"/>
                  </a:rPr>
                  <a:t>IN</a:t>
                </a:r>
                <a:r>
                  <a:rPr kumimoji="1" lang="ja-JP" altLang="en-US" sz="2400" dirty="0">
                    <a:latin typeface="メイリオ" panose="020B0604030504040204" pitchFamily="50" charset="-128"/>
                    <a:ea typeface="メイリオ" panose="020B0604030504040204" pitchFamily="50" charset="-128"/>
                    <a:cs typeface="+mj-cs"/>
                  </a:rPr>
                  <a:t>法の初期値依存性を調査した</a:t>
                </a:r>
                <a:endParaRPr kumimoji="1" lang="en-US" altLang="ja-JP" sz="2400" dirty="0">
                  <a:latin typeface="メイリオ" panose="020B0604030504040204" pitchFamily="50" charset="-128"/>
                  <a:ea typeface="メイリオ" panose="020B0604030504040204" pitchFamily="50" charset="-128"/>
                  <a:cs typeface="+mj-cs"/>
                </a:endParaRPr>
              </a:p>
            </p:txBody>
          </p:sp>
        </mc:Choice>
        <mc:Fallback xmlns="">
          <p:sp>
            <p:nvSpPr>
              <p:cNvPr id="5" name="文本框 4">
                <a:extLst>
                  <a:ext uri="{FF2B5EF4-FFF2-40B4-BE49-F238E27FC236}">
                    <a16:creationId xmlns:a16="http://schemas.microsoft.com/office/drawing/2014/main" id="{2383F1AD-F203-4922-8084-C9D45FE17055}"/>
                  </a:ext>
                </a:extLst>
              </p:cNvPr>
              <p:cNvSpPr txBox="1">
                <a:spLocks noRot="1" noChangeAspect="1" noMove="1" noResize="1" noEditPoints="1" noAdjustHandles="1" noChangeArrowheads="1" noChangeShapeType="1" noTextEdit="1"/>
              </p:cNvSpPr>
              <p:nvPr/>
            </p:nvSpPr>
            <p:spPr>
              <a:xfrm>
                <a:off x="258319" y="2182600"/>
                <a:ext cx="10496655" cy="1024896"/>
              </a:xfrm>
              <a:prstGeom prst="rect">
                <a:avLst/>
              </a:prstGeom>
              <a:blipFill>
                <a:blip r:embed="rId3"/>
                <a:stretch>
                  <a:fillRect l="-871" b="-13690"/>
                </a:stretch>
              </a:blipFill>
            </p:spPr>
            <p:txBody>
              <a:bodyPr/>
              <a:lstStyle/>
              <a:p>
                <a:r>
                  <a:rPr lang="zh-CN" altLang="en-US">
                    <a:noFill/>
                  </a:rPr>
                  <a:t> </a:t>
                </a:r>
              </a:p>
            </p:txBody>
          </p:sp>
        </mc:Fallback>
      </mc:AlternateContent>
      <p:sp>
        <p:nvSpPr>
          <p:cNvPr id="7" name="文本框 6">
            <a:extLst>
              <a:ext uri="{FF2B5EF4-FFF2-40B4-BE49-F238E27FC236}">
                <a16:creationId xmlns:a16="http://schemas.microsoft.com/office/drawing/2014/main" id="{A561F175-6BD1-419C-ABC3-4DF6412F7A17}"/>
              </a:ext>
            </a:extLst>
          </p:cNvPr>
          <p:cNvSpPr txBox="1"/>
          <p:nvPr/>
        </p:nvSpPr>
        <p:spPr>
          <a:xfrm>
            <a:off x="258838" y="3359102"/>
            <a:ext cx="11562687" cy="1505027"/>
          </a:xfrm>
          <a:prstGeom prst="rect">
            <a:avLst/>
          </a:prstGeom>
          <a:noFill/>
        </p:spPr>
        <p:txBody>
          <a:bodyPr wrap="square">
            <a:spAutoFit/>
          </a:bodyPr>
          <a:lstStyle/>
          <a:p>
            <a:pPr>
              <a:lnSpc>
                <a:spcPct val="130000"/>
              </a:lnSpc>
            </a:pPr>
            <a:r>
              <a:rPr kumimoji="1" lang="ja-JP" altLang="en-US" sz="2400" dirty="0">
                <a:latin typeface="メイリオ" panose="020B0604030504040204" pitchFamily="50" charset="-128"/>
                <a:ea typeface="メイリオ" panose="020B0604030504040204" pitchFamily="50" charset="-128"/>
                <a:cs typeface="+mj-cs"/>
              </a:rPr>
              <a:t>・実験結果</a:t>
            </a:r>
            <a:endParaRPr kumimoji="1" lang="en-US" altLang="ja-JP" sz="2400" dirty="0">
              <a:latin typeface="メイリオ" panose="020B0604030504040204" pitchFamily="50" charset="-128"/>
              <a:ea typeface="メイリオ" panose="020B0604030504040204" pitchFamily="50" charset="-128"/>
              <a:cs typeface="+mj-cs"/>
            </a:endParaRPr>
          </a:p>
          <a:p>
            <a:pPr marL="800100" lvl="1" indent="-342900">
              <a:lnSpc>
                <a:spcPct val="130000"/>
              </a:lnSpc>
              <a:buFont typeface="Wingdings" panose="05000000000000000000" pitchFamily="2" charset="2"/>
              <a:buChar char="Ø"/>
            </a:pPr>
            <a:r>
              <a:rPr kumimoji="1" lang="en-US" altLang="ja-JP" sz="2400" dirty="0">
                <a:latin typeface="+mj-ea"/>
                <a:ea typeface="+mj-ea"/>
                <a:cs typeface="+mj-cs"/>
              </a:rPr>
              <a:t> </a:t>
            </a:r>
            <a:r>
              <a:rPr lang="en-US" altLang="ja-JP" sz="2400" dirty="0">
                <a:solidFill>
                  <a:srgbClr val="00B050"/>
                </a:solidFill>
              </a:rPr>
              <a:t>N</a:t>
            </a:r>
            <a:r>
              <a:rPr lang="en-US" altLang="zh-CN" sz="2400" dirty="0">
                <a:solidFill>
                  <a:srgbClr val="00B050"/>
                </a:solidFill>
              </a:rPr>
              <a:t>ewton</a:t>
            </a:r>
            <a:r>
              <a:rPr lang="ja-JP" altLang="en-US" sz="2400" dirty="0">
                <a:solidFill>
                  <a:srgbClr val="00B050"/>
                </a:solidFill>
              </a:rPr>
              <a:t>法</a:t>
            </a:r>
            <a:r>
              <a:rPr lang="ja-JP" altLang="en-US" sz="2400" dirty="0"/>
              <a:t>の解と初期値の距離が小さいと反復回数は減少することが分かった</a:t>
            </a:r>
            <a:endParaRPr kumimoji="1" lang="en-US" altLang="ja-JP" sz="2400" dirty="0">
              <a:ea typeface="メイリオ" panose="020B0604030504040204" pitchFamily="50" charset="-128"/>
              <a:cs typeface="+mj-cs"/>
            </a:endParaRPr>
          </a:p>
          <a:p>
            <a:pPr marL="800100" lvl="1" indent="-342900">
              <a:lnSpc>
                <a:spcPct val="130000"/>
              </a:lnSpc>
              <a:buFont typeface="Wingdings" panose="05000000000000000000" pitchFamily="2" charset="2"/>
              <a:buChar char="Ø"/>
            </a:pPr>
            <a:r>
              <a:rPr kumimoji="1" lang="en-US" altLang="zh-CN" sz="2400" dirty="0">
                <a:latin typeface="+mj-ea"/>
                <a:ea typeface="+mj-ea"/>
                <a:cs typeface="+mj-cs"/>
              </a:rPr>
              <a:t> </a:t>
            </a:r>
            <a:r>
              <a:rPr kumimoji="1" lang="en-US" altLang="zh-CN" sz="2400" dirty="0">
                <a:solidFill>
                  <a:srgbClr val="FF0000"/>
                </a:solidFill>
                <a:latin typeface="+mj-ea"/>
                <a:ea typeface="+mj-ea"/>
                <a:cs typeface="+mj-cs"/>
              </a:rPr>
              <a:t>IN</a:t>
            </a:r>
            <a:r>
              <a:rPr kumimoji="1" lang="ja-JP" altLang="en-US" sz="2400" dirty="0">
                <a:ea typeface="メイリオ" panose="020B0604030504040204" pitchFamily="50" charset="-128"/>
                <a:cs typeface="+mj-cs"/>
              </a:rPr>
              <a:t>法は初期値が単位行列のときのみ収束した</a:t>
            </a:r>
            <a:endParaRPr kumimoji="1" lang="en-US" altLang="ja-JP" sz="2400" dirty="0">
              <a:ea typeface="メイリオ" panose="020B0604030504040204" pitchFamily="50" charset="-128"/>
              <a:cs typeface="+mj-cs"/>
            </a:endParaRPr>
          </a:p>
        </p:txBody>
      </p:sp>
      <p:sp>
        <p:nvSpPr>
          <p:cNvPr id="9" name="文本框 8">
            <a:extLst>
              <a:ext uri="{FF2B5EF4-FFF2-40B4-BE49-F238E27FC236}">
                <a16:creationId xmlns:a16="http://schemas.microsoft.com/office/drawing/2014/main" id="{CE75E79B-8B01-4579-9B06-010B4EE9F97A}"/>
              </a:ext>
            </a:extLst>
          </p:cNvPr>
          <p:cNvSpPr txBox="1"/>
          <p:nvPr/>
        </p:nvSpPr>
        <p:spPr>
          <a:xfrm>
            <a:off x="321855" y="5083822"/>
            <a:ext cx="6945353" cy="1024896"/>
          </a:xfrm>
          <a:prstGeom prst="rect">
            <a:avLst/>
          </a:prstGeom>
          <a:noFill/>
        </p:spPr>
        <p:txBody>
          <a:bodyPr wrap="square">
            <a:spAutoFit/>
          </a:bodyPr>
          <a:lstStyle/>
          <a:p>
            <a:pPr>
              <a:lnSpc>
                <a:spcPct val="130000"/>
              </a:lnSpc>
            </a:pPr>
            <a:r>
              <a:rPr kumimoji="1" lang="ja-JP" altLang="en-US" sz="2400" b="1" dirty="0">
                <a:ea typeface="メイリオ" panose="020B0604030504040204" pitchFamily="50" charset="-128"/>
                <a:cs typeface="+mj-cs"/>
              </a:rPr>
              <a:t>今後の課題</a:t>
            </a:r>
            <a:endParaRPr kumimoji="1" lang="en-US" altLang="zh-CN" sz="2400" b="1" dirty="0">
              <a:ea typeface="メイリオ" panose="020B0604030504040204" pitchFamily="50" charset="-128"/>
              <a:cs typeface="+mj-cs"/>
            </a:endParaRPr>
          </a:p>
          <a:p>
            <a:pPr>
              <a:lnSpc>
                <a:spcPct val="130000"/>
              </a:lnSpc>
            </a:pPr>
            <a:r>
              <a:rPr lang="ja-JP" altLang="en-US" sz="2400" dirty="0"/>
              <a:t>・考察で述べた推測が正しいかを検証する</a:t>
            </a:r>
            <a:endParaRPr lang="zh-CN" altLang="en-US" sz="2400" dirty="0"/>
          </a:p>
        </p:txBody>
      </p:sp>
    </p:spTree>
    <p:extLst>
      <p:ext uri="{BB962C8B-B14F-4D97-AF65-F5344CB8AC3E}">
        <p14:creationId xmlns:p14="http://schemas.microsoft.com/office/powerpoint/2010/main" val="16233643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正方形/長方形 33"/>
          <p:cNvSpPr/>
          <p:nvPr/>
        </p:nvSpPr>
        <p:spPr>
          <a:xfrm>
            <a:off x="1303592" y="1354681"/>
            <a:ext cx="9632258" cy="2438977"/>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2" name="标题 1"/>
              <p:cNvSpPr>
                <a:spLocks noGrp="1"/>
              </p:cNvSpPr>
              <p:nvPr>
                <p:ph type="title"/>
              </p:nvPr>
            </p:nvSpPr>
            <p:spPr/>
            <p:txBody>
              <a:bodyPr>
                <a:normAutofit/>
              </a:bodyPr>
              <a:lstStyle/>
              <a:p>
                <a:r>
                  <a:rPr lang="ja-JP" altLang="en-US" sz="3200" dirty="0">
                    <a:ea typeface="メイリオ" panose="020B0604030504040204" pitchFamily="50" charset="-128"/>
                  </a:rPr>
                  <a:t>行列</a:t>
                </a:r>
                <a:r>
                  <a:rPr lang="zh-CN" altLang="en-US" sz="3200" dirty="0">
                    <a:ea typeface="メイリオ" panose="020B0604030504040204" pitchFamily="50" charset="-128"/>
                  </a:rPr>
                  <a:t> </a:t>
                </a:r>
                <a14:m>
                  <m:oMath xmlns:m="http://schemas.openxmlformats.org/officeDocument/2006/math">
                    <m:r>
                      <a:rPr lang="en-US" altLang="zh-CN" sz="3200" i="1" dirty="0" smtClean="0">
                        <a:latin typeface="Cambria Math" panose="02040503050406030204" pitchFamily="18" charset="0"/>
                        <a:ea typeface="メイリオ" panose="020B0604030504040204" pitchFamily="50" charset="-128"/>
                      </a:rPr>
                      <m:t>𝐴</m:t>
                    </m:r>
                  </m:oMath>
                </a14:m>
                <a:r>
                  <a:rPr lang="ja-JP" altLang="en-US" sz="3200" dirty="0">
                    <a:latin typeface="メイリオ" panose="020B0604030504040204" pitchFamily="50" charset="-128"/>
                    <a:ea typeface="メイリオ" panose="020B0604030504040204" pitchFamily="50" charset="-128"/>
                  </a:rPr>
                  <a:t> の </a:t>
                </a:r>
                <a14:m>
                  <m:oMath xmlns:m="http://schemas.openxmlformats.org/officeDocument/2006/math">
                    <m:r>
                      <a:rPr lang="en-US" altLang="ja-JP" sz="3200" i="1" dirty="0" smtClean="0">
                        <a:latin typeface="Cambria Math" panose="02040503050406030204" pitchFamily="18" charset="0"/>
                        <a:ea typeface="メイリオ" panose="020B0604030504040204" pitchFamily="50" charset="-128"/>
                      </a:rPr>
                      <m:t>𝑝</m:t>
                    </m:r>
                  </m:oMath>
                </a14:m>
                <a:r>
                  <a:rPr lang="ja-JP" altLang="en-US" sz="3200" dirty="0">
                    <a:latin typeface="メイリオ" panose="020B0604030504040204" pitchFamily="50" charset="-128"/>
                    <a:ea typeface="メイリオ" panose="020B0604030504040204" pitchFamily="50" charset="-128"/>
                  </a:rPr>
                  <a:t> 乗根問題</a:t>
                </a:r>
                <a:endParaRPr lang="zh-CN" altLang="en-US" sz="3200" dirty="0">
                  <a:latin typeface="メイリオ" panose="020B0604030504040204" pitchFamily="50" charset="-128"/>
                  <a:ea typeface="メイリオ" panose="020B0604030504040204" pitchFamily="50" charset="-128"/>
                </a:endParaRPr>
              </a:p>
            </p:txBody>
          </p:sp>
        </mc:Choice>
        <mc:Fallback xmlns="">
          <p:sp>
            <p:nvSpPr>
              <p:cNvPr id="2" name="标题 1"/>
              <p:cNvSpPr>
                <a:spLocks noGrp="1" noRot="1" noChangeAspect="1" noMove="1" noResize="1" noEditPoints="1" noAdjustHandles="1" noChangeArrowheads="1" noChangeShapeType="1" noTextEdit="1"/>
              </p:cNvSpPr>
              <p:nvPr>
                <p:ph type="title"/>
              </p:nvPr>
            </p:nvSpPr>
            <p:spPr>
              <a:blipFill>
                <a:blip r:embed="rId2"/>
                <a:stretch>
                  <a:fillRect l="-1594" t="-2542" b="-16949"/>
                </a:stretch>
              </a:blipFill>
            </p:spPr>
            <p:txBody>
              <a:bodyPr/>
              <a:lstStyle/>
              <a:p>
                <a:r>
                  <a:rPr lang="zh-CN" altLang="en-US">
                    <a:noFill/>
                  </a:rPr>
                  <a:t> </a:t>
                </a:r>
              </a:p>
            </p:txBody>
          </p:sp>
        </mc:Fallback>
      </mc:AlternateContent>
      <p:cxnSp>
        <p:nvCxnSpPr>
          <p:cNvPr id="22" name="直線コネクタ 21"/>
          <p:cNvCxnSpPr/>
          <p:nvPr/>
        </p:nvCxnSpPr>
        <p:spPr>
          <a:xfrm>
            <a:off x="263371" y="907622"/>
            <a:ext cx="11665258" cy="0"/>
          </a:xfrm>
          <a:prstGeom prst="line">
            <a:avLst/>
          </a:prstGeom>
          <a:ln w="1905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9" name="テキスト ボックス 28"/>
              <p:cNvSpPr txBox="1"/>
              <p:nvPr/>
            </p:nvSpPr>
            <p:spPr>
              <a:xfrm>
                <a:off x="1409132" y="3256347"/>
                <a:ext cx="10362133" cy="433965"/>
              </a:xfrm>
              <a:prstGeom prst="rect">
                <a:avLst/>
              </a:prstGeom>
              <a:noFill/>
            </p:spPr>
            <p:txBody>
              <a:bodyPr wrap="square">
                <a:spAutoFit/>
              </a:bodyPr>
              <a:lstStyle/>
              <a:p>
                <a:pPr>
                  <a:lnSpc>
                    <a:spcPct val="90000"/>
                  </a:lnSpc>
                  <a:spcBef>
                    <a:spcPct val="0"/>
                  </a:spcBef>
                </a:pPr>
                <a:r>
                  <a:rPr kumimoji="1" lang="ja-JP" altLang="en-US" sz="2400" dirty="0">
                    <a:solidFill>
                      <a:schemeClr val="tx1"/>
                    </a:solidFill>
                    <a:latin typeface="メイリオ" panose="020B0604030504040204" pitchFamily="50" charset="-128"/>
                    <a:ea typeface="メイリオ" panose="020B0604030504040204" pitchFamily="50" charset="-128"/>
                  </a:rPr>
                  <a:t>主 </a:t>
                </a:r>
                <a14:m>
                  <m:oMath xmlns:m="http://schemas.openxmlformats.org/officeDocument/2006/math">
                    <m:r>
                      <a:rPr kumimoji="1" lang="en-US" altLang="ja-JP" sz="2400" i="1" dirty="0">
                        <a:solidFill>
                          <a:schemeClr val="tx1"/>
                        </a:solidFill>
                        <a:latin typeface="Cambria Math" panose="02040503050406030204" pitchFamily="18" charset="0"/>
                        <a:ea typeface="メイリオ" panose="020B0604030504040204" pitchFamily="50" charset="-128"/>
                      </a:rPr>
                      <m:t>𝑝</m:t>
                    </m:r>
                  </m:oMath>
                </a14:m>
                <a:r>
                  <a:rPr kumimoji="1" lang="ja-JP" altLang="en-US" sz="2400" dirty="0">
                    <a:solidFill>
                      <a:schemeClr val="tx1"/>
                    </a:solidFill>
                    <a:latin typeface="メイリオ" panose="020B0604030504040204" pitchFamily="50" charset="-128"/>
                    <a:ea typeface="メイリオ" panose="020B0604030504040204" pitchFamily="50" charset="-128"/>
                  </a:rPr>
                  <a:t> 乗根 </a:t>
                </a:r>
                <a14:m>
                  <m:oMath xmlns:m="http://schemas.openxmlformats.org/officeDocument/2006/math">
                    <m:r>
                      <a:rPr lang="en-US" altLang="zh-CN" sz="2400" i="1">
                        <a:solidFill>
                          <a:schemeClr val="tx1"/>
                        </a:solidFill>
                        <a:latin typeface="Cambria Math" panose="02040503050406030204" pitchFamily="18" charset="0"/>
                      </a:rPr>
                      <m:t>𝑋</m:t>
                    </m:r>
                  </m:oMath>
                </a14:m>
                <a:r>
                  <a:rPr kumimoji="1" lang="en-US" altLang="ja-JP" sz="2400" dirty="0">
                    <a:solidFill>
                      <a:schemeClr val="tx1"/>
                    </a:solidFill>
                    <a:latin typeface="メイリオ" panose="020B0604030504040204" pitchFamily="50" charset="-128"/>
                    <a:ea typeface="メイリオ" panose="020B0604030504040204" pitchFamily="50" charset="-128"/>
                    <a:cs typeface="+mj-cs"/>
                  </a:rPr>
                  <a:t> </a:t>
                </a:r>
                <a:r>
                  <a:rPr kumimoji="1" lang="en-US" altLang="ja-JP" sz="2400" dirty="0">
                    <a:latin typeface="メイリオ" panose="020B0604030504040204" pitchFamily="50" charset="-128"/>
                    <a:ea typeface="メイリオ" panose="020B0604030504040204" pitchFamily="50" charset="-128"/>
                    <a:cs typeface="+mj-cs"/>
                  </a:rPr>
                  <a:t>:</a:t>
                </a:r>
                <a:r>
                  <a:rPr kumimoji="1" lang="ja-JP" altLang="en-US" sz="2400" dirty="0">
                    <a:latin typeface="メイリオ" panose="020B0604030504040204" pitchFamily="50" charset="-128"/>
                    <a:ea typeface="メイリオ" panose="020B0604030504040204" pitchFamily="50" charset="-128"/>
                    <a:cs typeface="+mj-cs"/>
                  </a:rPr>
                  <a:t>全固有値が集合  </a:t>
                </a:r>
                <a14:m>
                  <m:oMath xmlns:m="http://schemas.openxmlformats.org/officeDocument/2006/math">
                    <m:d>
                      <m:dPr>
                        <m:begChr m:val="{"/>
                        <m:endChr m:val="}"/>
                        <m:ctrlPr>
                          <a:rPr kumimoji="1" lang="en-US" altLang="ja-JP" sz="2400" i="1">
                            <a:latin typeface="Cambria Math" panose="02040503050406030204" pitchFamily="18" charset="0"/>
                            <a:ea typeface="メイリオ" panose="020B0604030504040204" pitchFamily="50" charset="-128"/>
                            <a:cs typeface="+mj-cs"/>
                          </a:rPr>
                        </m:ctrlPr>
                      </m:dPr>
                      <m:e>
                        <m:r>
                          <a:rPr kumimoji="1" lang="en-US" altLang="ja-JP" sz="2400" i="1">
                            <a:latin typeface="Cambria Math" panose="02040503050406030204" pitchFamily="18" charset="0"/>
                            <a:ea typeface="メイリオ" panose="020B0604030504040204" pitchFamily="50" charset="-128"/>
                            <a:cs typeface="+mj-cs"/>
                          </a:rPr>
                          <m:t>𝓏</m:t>
                        </m:r>
                        <m:r>
                          <a:rPr kumimoji="1" lang="en-US" altLang="ja-JP" sz="2400" i="1">
                            <a:latin typeface="Cambria Math" panose="02040503050406030204" pitchFamily="18" charset="0"/>
                            <a:ea typeface="メイリオ" panose="020B0604030504040204" pitchFamily="50" charset="-128"/>
                            <a:cs typeface="+mj-cs"/>
                          </a:rPr>
                          <m:t>∈</m:t>
                        </m:r>
                        <m:r>
                          <a:rPr kumimoji="1" lang="en-US" altLang="ja-JP" sz="2400" i="1">
                            <a:latin typeface="Cambria Math" panose="02040503050406030204" pitchFamily="18" charset="0"/>
                            <a:ea typeface="Cambria Math" panose="02040503050406030204" pitchFamily="18" charset="0"/>
                            <a:cs typeface="+mj-cs"/>
                          </a:rPr>
                          <m:t>ℂ</m:t>
                        </m:r>
                        <m:r>
                          <a:rPr kumimoji="1" lang="en-US" altLang="ja-JP" sz="2400" i="1">
                            <a:latin typeface="Cambria Math" panose="02040503050406030204" pitchFamily="18" charset="0"/>
                            <a:ea typeface="Cambria Math" panose="02040503050406030204" pitchFamily="18" charset="0"/>
                            <a:cs typeface="+mj-cs"/>
                          </a:rPr>
                          <m:t>\</m:t>
                        </m:r>
                        <m:r>
                          <m:rPr>
                            <m:lit/>
                          </m:rPr>
                          <a:rPr kumimoji="1" lang="en-US" altLang="ja-JP" sz="2400" i="1">
                            <a:latin typeface="Cambria Math" panose="02040503050406030204" pitchFamily="18" charset="0"/>
                            <a:ea typeface="Cambria Math" panose="02040503050406030204" pitchFamily="18" charset="0"/>
                            <a:cs typeface="+mj-cs"/>
                          </a:rPr>
                          <m:t>{</m:t>
                        </m:r>
                        <m:r>
                          <a:rPr kumimoji="1" lang="en-US" altLang="ja-JP" sz="2400" i="1">
                            <a:latin typeface="Cambria Math" panose="02040503050406030204" pitchFamily="18" charset="0"/>
                            <a:ea typeface="Cambria Math" panose="02040503050406030204" pitchFamily="18" charset="0"/>
                            <a:cs typeface="+mj-cs"/>
                          </a:rPr>
                          <m:t>0</m:t>
                        </m:r>
                      </m:e>
                    </m:d>
                    <m:r>
                      <a:rPr kumimoji="1" lang="en-US" altLang="ja-JP" sz="2400" i="1">
                        <a:latin typeface="Cambria Math" panose="02040503050406030204" pitchFamily="18" charset="0"/>
                        <a:ea typeface="Cambria Math" panose="02040503050406030204" pitchFamily="18" charset="0"/>
                        <a:cs typeface="+mj-cs"/>
                      </a:rPr>
                      <m:t>:</m:t>
                    </m:r>
                    <m:d>
                      <m:dPr>
                        <m:begChr m:val="|"/>
                        <m:endChr m:val="|"/>
                        <m:ctrlPr>
                          <a:rPr kumimoji="1" lang="en-US" altLang="ja-JP" sz="2400" i="1">
                            <a:latin typeface="Cambria Math" panose="02040503050406030204" pitchFamily="18" charset="0"/>
                            <a:ea typeface="Cambria Math" panose="02040503050406030204" pitchFamily="18" charset="0"/>
                            <a:cs typeface="+mj-cs"/>
                          </a:rPr>
                        </m:ctrlPr>
                      </m:dPr>
                      <m:e>
                        <m:func>
                          <m:funcPr>
                            <m:ctrlPr>
                              <a:rPr kumimoji="1" lang="en-US" altLang="ja-JP" sz="2400" i="1">
                                <a:latin typeface="Cambria Math" panose="02040503050406030204" pitchFamily="18" charset="0"/>
                                <a:ea typeface="Cambria Math" panose="02040503050406030204" pitchFamily="18" charset="0"/>
                                <a:cs typeface="+mj-cs"/>
                              </a:rPr>
                            </m:ctrlPr>
                          </m:funcPr>
                          <m:fName>
                            <m:r>
                              <m:rPr>
                                <m:sty m:val="p"/>
                              </m:rPr>
                              <a:rPr kumimoji="1" lang="en-US" altLang="ja-JP" sz="2400">
                                <a:latin typeface="Cambria Math" panose="02040503050406030204" pitchFamily="18" charset="0"/>
                                <a:ea typeface="Cambria Math" panose="02040503050406030204" pitchFamily="18" charset="0"/>
                                <a:cs typeface="+mj-cs"/>
                              </a:rPr>
                              <m:t>arg</m:t>
                            </m:r>
                          </m:fName>
                          <m:e>
                            <m:r>
                              <a:rPr kumimoji="1" lang="en-US" altLang="ja-JP" sz="2400" i="1">
                                <a:latin typeface="Cambria Math" panose="02040503050406030204" pitchFamily="18" charset="0"/>
                                <a:ea typeface="Cambria Math" panose="02040503050406030204" pitchFamily="18" charset="0"/>
                                <a:cs typeface="+mj-cs"/>
                              </a:rPr>
                              <m:t>𝓏</m:t>
                            </m:r>
                          </m:e>
                        </m:func>
                      </m:e>
                    </m:d>
                    <m:r>
                      <a:rPr kumimoji="1" lang="en-US" altLang="ja-JP" sz="2400" i="1">
                        <a:latin typeface="Cambria Math" panose="02040503050406030204" pitchFamily="18" charset="0"/>
                        <a:ea typeface="Cambria Math" panose="02040503050406030204" pitchFamily="18" charset="0"/>
                        <a:cs typeface="+mj-cs"/>
                      </a:rPr>
                      <m:t>&lt;</m:t>
                    </m:r>
                    <m:r>
                      <a:rPr kumimoji="1" lang="en-US" altLang="ja-JP" sz="2400" i="1">
                        <a:latin typeface="Cambria Math" panose="02040503050406030204" pitchFamily="18" charset="0"/>
                        <a:ea typeface="Cambria Math" panose="02040503050406030204" pitchFamily="18" charset="0"/>
                        <a:cs typeface="+mj-cs"/>
                      </a:rPr>
                      <m:t>𝜋</m:t>
                    </m:r>
                    <m:r>
                      <a:rPr kumimoji="1" lang="en-US" altLang="ja-JP" sz="2400" i="1">
                        <a:latin typeface="Cambria Math" panose="02040503050406030204" pitchFamily="18" charset="0"/>
                        <a:ea typeface="Cambria Math" panose="02040503050406030204" pitchFamily="18" charset="0"/>
                        <a:cs typeface="+mj-cs"/>
                      </a:rPr>
                      <m:t>/</m:t>
                    </m:r>
                    <m:r>
                      <a:rPr kumimoji="1" lang="en-US" altLang="ja-JP" sz="2400" i="1">
                        <a:latin typeface="Cambria Math" panose="02040503050406030204" pitchFamily="18" charset="0"/>
                        <a:ea typeface="Cambria Math" panose="02040503050406030204" pitchFamily="18" charset="0"/>
                        <a:cs typeface="+mj-cs"/>
                      </a:rPr>
                      <m:t>𝑝</m:t>
                    </m:r>
                    <m:r>
                      <a:rPr kumimoji="1" lang="en-US" altLang="ja-JP" sz="2400" i="1">
                        <a:latin typeface="Cambria Math" panose="02040503050406030204" pitchFamily="18" charset="0"/>
                        <a:ea typeface="メイリオ" panose="020B0604030504040204" pitchFamily="50" charset="-128"/>
                        <a:cs typeface="+mj-cs"/>
                      </a:rPr>
                      <m:t>}</m:t>
                    </m:r>
                  </m:oMath>
                </a14:m>
                <a:r>
                  <a:rPr kumimoji="1" lang="ja-JP" altLang="en-US" sz="2400" dirty="0">
                    <a:latin typeface="メイリオ" panose="020B0604030504040204" pitchFamily="50" charset="-128"/>
                    <a:ea typeface="メイリオ" panose="020B0604030504040204" pitchFamily="50" charset="-128"/>
                    <a:cs typeface="+mj-cs"/>
                  </a:rPr>
                  <a:t>  に含まれる．</a:t>
                </a:r>
                <a:endParaRPr kumimoji="1" lang="en-US" altLang="ja-JP" sz="2000" dirty="0">
                  <a:latin typeface="メイリオ" panose="020B0604030504040204" pitchFamily="50" charset="-128"/>
                  <a:ea typeface="メイリオ" panose="020B0604030504040204" pitchFamily="50" charset="-128"/>
                  <a:cs typeface="+mj-cs"/>
                </a:endParaRPr>
              </a:p>
            </p:txBody>
          </p:sp>
        </mc:Choice>
        <mc:Fallback xmlns="">
          <p:sp>
            <p:nvSpPr>
              <p:cNvPr id="29" name="テキスト ボックス 28"/>
              <p:cNvSpPr txBox="1">
                <a:spLocks noRot="1" noChangeAspect="1" noMove="1" noResize="1" noEditPoints="1" noAdjustHandles="1" noChangeArrowheads="1" noChangeShapeType="1" noTextEdit="1"/>
              </p:cNvSpPr>
              <p:nvPr/>
            </p:nvSpPr>
            <p:spPr>
              <a:xfrm>
                <a:off x="1409132" y="3256347"/>
                <a:ext cx="10362133" cy="433965"/>
              </a:xfrm>
              <a:prstGeom prst="rect">
                <a:avLst/>
              </a:prstGeom>
              <a:blipFill>
                <a:blip r:embed="rId3"/>
                <a:stretch>
                  <a:fillRect l="-882" t="-15493" b="-338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テキスト ボックス 23"/>
              <p:cNvSpPr txBox="1"/>
              <p:nvPr/>
            </p:nvSpPr>
            <p:spPr>
              <a:xfrm>
                <a:off x="1446076" y="1698072"/>
                <a:ext cx="7319228" cy="433965"/>
              </a:xfrm>
              <a:prstGeom prst="rect">
                <a:avLst/>
              </a:prstGeom>
              <a:solidFill>
                <a:schemeClr val="bg1"/>
              </a:solidFill>
            </p:spPr>
            <p:txBody>
              <a:bodyPr wrap="square">
                <a:spAutoFit/>
              </a:bodyPr>
              <a:lstStyle/>
              <a:p>
                <a:pPr>
                  <a:lnSpc>
                    <a:spcPct val="90000"/>
                  </a:lnSpc>
                  <a:spcBef>
                    <a:spcPct val="0"/>
                  </a:spcBef>
                </a:pPr>
                <a:r>
                  <a:rPr kumimoji="1" lang="ja-JP" altLang="en-US" sz="2400" dirty="0">
                    <a:solidFill>
                      <a:schemeClr val="tx1"/>
                    </a:solidFill>
                    <a:latin typeface="メイリオ" panose="020B0604030504040204" pitchFamily="50" charset="-128"/>
                    <a:ea typeface="メイリオ" panose="020B0604030504040204" pitchFamily="50" charset="-128"/>
                    <a:cs typeface="+mj-cs"/>
                  </a:rPr>
                  <a:t>行列 </a:t>
                </a:r>
                <a14:m>
                  <m:oMath xmlns:m="http://schemas.openxmlformats.org/officeDocument/2006/math">
                    <m:r>
                      <a:rPr kumimoji="1" lang="en-US" altLang="ja-JP" sz="2400" b="0" i="1" smtClean="0">
                        <a:solidFill>
                          <a:schemeClr val="tx1"/>
                        </a:solidFill>
                        <a:latin typeface="Cambria Math" panose="02040503050406030204" pitchFamily="18" charset="0"/>
                        <a:ea typeface="メイリオ" panose="020B0604030504040204" pitchFamily="50" charset="-128"/>
                        <a:cs typeface="+mj-cs"/>
                      </a:rPr>
                      <m:t>𝐴</m:t>
                    </m:r>
                    <m:r>
                      <a:rPr kumimoji="1" lang="en-US" altLang="ja-JP" sz="2400" b="0" i="1" smtClean="0">
                        <a:solidFill>
                          <a:schemeClr val="tx1"/>
                        </a:solidFill>
                        <a:latin typeface="Cambria Math" panose="02040503050406030204" pitchFamily="18" charset="0"/>
                        <a:ea typeface="メイリオ" panose="020B0604030504040204" pitchFamily="50" charset="-128"/>
                        <a:cs typeface="+mj-cs"/>
                      </a:rPr>
                      <m:t>∈</m:t>
                    </m:r>
                    <m:sSup>
                      <m:sSupPr>
                        <m:ctrlPr>
                          <a:rPr kumimoji="1" lang="en-US" altLang="ja-JP" sz="2400" b="0" i="1" smtClean="0">
                            <a:solidFill>
                              <a:schemeClr val="tx1"/>
                            </a:solidFill>
                            <a:latin typeface="Cambria Math" panose="02040503050406030204" pitchFamily="18" charset="0"/>
                            <a:ea typeface="Cambria Math" panose="02040503050406030204" pitchFamily="18" charset="0"/>
                            <a:cs typeface="+mj-cs"/>
                          </a:rPr>
                        </m:ctrlPr>
                      </m:sSupPr>
                      <m:e>
                        <m:r>
                          <a:rPr kumimoji="1" lang="en-US" altLang="ja-JP" sz="2400" b="0" i="1" smtClean="0">
                            <a:solidFill>
                              <a:schemeClr val="tx1"/>
                            </a:solidFill>
                            <a:latin typeface="Cambria Math" panose="02040503050406030204" pitchFamily="18" charset="0"/>
                            <a:ea typeface="Cambria Math" panose="02040503050406030204" pitchFamily="18" charset="0"/>
                            <a:cs typeface="+mj-cs"/>
                          </a:rPr>
                          <m:t>ℂ</m:t>
                        </m:r>
                      </m:e>
                      <m:sup>
                        <m:r>
                          <a:rPr kumimoji="1" lang="en-US" altLang="ja-JP" sz="2400" b="0" i="1" smtClean="0">
                            <a:solidFill>
                              <a:schemeClr val="tx1"/>
                            </a:solidFill>
                            <a:latin typeface="Cambria Math" panose="02040503050406030204" pitchFamily="18" charset="0"/>
                            <a:ea typeface="Cambria Math" panose="02040503050406030204" pitchFamily="18" charset="0"/>
                            <a:cs typeface="+mj-cs"/>
                          </a:rPr>
                          <m:t>𝑛</m:t>
                        </m:r>
                        <m:r>
                          <a:rPr kumimoji="1" lang="en-US" altLang="ja-JP" sz="2400" b="0" i="1" smtClean="0">
                            <a:solidFill>
                              <a:schemeClr val="tx1"/>
                            </a:solidFill>
                            <a:latin typeface="Cambria Math" panose="02040503050406030204" pitchFamily="18" charset="0"/>
                            <a:ea typeface="Cambria Math" panose="02040503050406030204" pitchFamily="18" charset="0"/>
                            <a:cs typeface="+mj-cs"/>
                          </a:rPr>
                          <m:t>×</m:t>
                        </m:r>
                        <m:r>
                          <a:rPr kumimoji="1" lang="en-US" altLang="ja-JP" sz="2400" b="0" i="1" smtClean="0">
                            <a:solidFill>
                              <a:schemeClr val="tx1"/>
                            </a:solidFill>
                            <a:latin typeface="Cambria Math" panose="02040503050406030204" pitchFamily="18" charset="0"/>
                            <a:ea typeface="Cambria Math" panose="02040503050406030204" pitchFamily="18" charset="0"/>
                            <a:cs typeface="+mj-cs"/>
                          </a:rPr>
                          <m:t>𝑛</m:t>
                        </m:r>
                      </m:sup>
                    </m:sSup>
                    <m:r>
                      <a:rPr kumimoji="1" lang="en-US" altLang="ja-JP" sz="2400" b="0" i="1" smtClean="0">
                        <a:solidFill>
                          <a:schemeClr val="tx1"/>
                        </a:solidFill>
                        <a:latin typeface="Cambria Math" panose="02040503050406030204" pitchFamily="18" charset="0"/>
                        <a:ea typeface="Cambria Math" panose="02040503050406030204" pitchFamily="18" charset="0"/>
                        <a:cs typeface="+mj-cs"/>
                      </a:rPr>
                      <m:t> </m:t>
                    </m:r>
                  </m:oMath>
                </a14:m>
                <a:r>
                  <a:rPr kumimoji="1" lang="ja-JP" altLang="en-US" sz="2400" dirty="0">
                    <a:solidFill>
                      <a:schemeClr val="tx1"/>
                    </a:solidFill>
                    <a:latin typeface="メイリオ" panose="020B0604030504040204" pitchFamily="50" charset="-128"/>
                    <a:ea typeface="メイリオ" panose="020B0604030504040204" pitchFamily="50" charset="-128"/>
                    <a:cs typeface="+mj-cs"/>
                  </a:rPr>
                  <a:t> と自然数</a:t>
                </a:r>
                <a:r>
                  <a:rPr kumimoji="1" lang="ja-JP" altLang="en-US" sz="2400" dirty="0">
                    <a:latin typeface="メイリオ" panose="020B0604030504040204" pitchFamily="50" charset="-128"/>
                    <a:ea typeface="メイリオ" panose="020B0604030504040204" pitchFamily="50" charset="-128"/>
                    <a:cs typeface="+mj-cs"/>
                  </a:rPr>
                  <a:t> </a:t>
                </a:r>
                <a14:m>
                  <m:oMath xmlns:m="http://schemas.openxmlformats.org/officeDocument/2006/math">
                    <m:r>
                      <a:rPr kumimoji="1" lang="en-US" altLang="ja-JP" sz="2400" b="0" i="1" smtClean="0">
                        <a:solidFill>
                          <a:schemeClr val="tx1"/>
                        </a:solidFill>
                        <a:latin typeface="Cambria Math" panose="02040503050406030204" pitchFamily="18" charset="0"/>
                        <a:ea typeface="メイリオ" panose="020B0604030504040204" pitchFamily="50" charset="-128"/>
                        <a:cs typeface="+mj-cs"/>
                      </a:rPr>
                      <m:t>𝑝</m:t>
                    </m:r>
                    <m:r>
                      <a:rPr kumimoji="1" lang="en-US" altLang="ja-JP" sz="2400" b="0" i="1" smtClean="0">
                        <a:solidFill>
                          <a:schemeClr val="tx1"/>
                        </a:solidFill>
                        <a:latin typeface="Cambria Math" panose="02040503050406030204" pitchFamily="18" charset="0"/>
                        <a:ea typeface="メイリオ" panose="020B0604030504040204" pitchFamily="50" charset="-128"/>
                        <a:cs typeface="+mj-cs"/>
                      </a:rPr>
                      <m:t>∈</m:t>
                    </m:r>
                    <m:r>
                      <a:rPr kumimoji="1" lang="en-US" altLang="ja-JP" sz="2400" b="0" i="1" smtClean="0">
                        <a:solidFill>
                          <a:schemeClr val="tx1"/>
                        </a:solidFill>
                        <a:latin typeface="Cambria Math" panose="02040503050406030204" pitchFamily="18" charset="0"/>
                        <a:ea typeface="Cambria Math" panose="02040503050406030204" pitchFamily="18" charset="0"/>
                        <a:cs typeface="+mj-cs"/>
                      </a:rPr>
                      <m:t>ℕ</m:t>
                    </m:r>
                  </m:oMath>
                </a14:m>
                <a:r>
                  <a:rPr kumimoji="1" lang="ja-JP" altLang="en-US" sz="2400" dirty="0">
                    <a:solidFill>
                      <a:schemeClr val="tx1"/>
                    </a:solidFill>
                    <a:latin typeface="メイリオ" panose="020B0604030504040204" pitchFamily="50" charset="-128"/>
                    <a:ea typeface="メイリオ" panose="020B0604030504040204" pitchFamily="50" charset="-128"/>
                    <a:cs typeface="+mj-cs"/>
                  </a:rPr>
                  <a:t> が与えられたとき，</a:t>
                </a:r>
                <a:r>
                  <a:rPr lang="en-US" altLang="zh-CN" sz="2400" dirty="0"/>
                  <a:t> </a:t>
                </a:r>
                <a:endParaRPr kumimoji="1" lang="ja-JP" altLang="en-US" sz="2400" dirty="0">
                  <a:latin typeface="メイリオ" panose="020B0604030504040204" pitchFamily="50" charset="-128"/>
                  <a:ea typeface="メイリオ" panose="020B0604030504040204" pitchFamily="50" charset="-128"/>
                  <a:cs typeface="+mj-cs"/>
                </a:endParaRPr>
              </a:p>
            </p:txBody>
          </p:sp>
        </mc:Choice>
        <mc:Fallback xmlns="">
          <p:sp>
            <p:nvSpPr>
              <p:cNvPr id="24" name="テキスト ボックス 23"/>
              <p:cNvSpPr txBox="1">
                <a:spLocks noRot="1" noChangeAspect="1" noMove="1" noResize="1" noEditPoints="1" noAdjustHandles="1" noChangeArrowheads="1" noChangeShapeType="1" noTextEdit="1"/>
              </p:cNvSpPr>
              <p:nvPr/>
            </p:nvSpPr>
            <p:spPr>
              <a:xfrm>
                <a:off x="1446076" y="1698072"/>
                <a:ext cx="7319228" cy="433965"/>
              </a:xfrm>
              <a:prstGeom prst="rect">
                <a:avLst/>
              </a:prstGeom>
              <a:blipFill>
                <a:blip r:embed="rId4"/>
                <a:stretch>
                  <a:fillRect l="-1249" t="-15493" b="-338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テキスト ボックス 24"/>
              <p:cNvSpPr txBox="1"/>
              <p:nvPr/>
            </p:nvSpPr>
            <p:spPr>
              <a:xfrm>
                <a:off x="1680451" y="1148468"/>
                <a:ext cx="3252775" cy="461665"/>
              </a:xfrm>
              <a:prstGeom prst="rect">
                <a:avLst/>
              </a:prstGeom>
              <a:solidFill>
                <a:schemeClr val="bg1"/>
              </a:solidFill>
            </p:spPr>
            <p:txBody>
              <a:bodyPr wrap="square">
                <a:spAutoFit/>
              </a:bodyPr>
              <a:lstStyle/>
              <a:p>
                <a:r>
                  <a:rPr kumimoji="1" lang="ja-JP" altLang="en-US" sz="2400" dirty="0">
                    <a:ea typeface="メイリオ" panose="020B0604030504040204" pitchFamily="50" charset="-128"/>
                    <a:cs typeface="+mj-cs"/>
                  </a:rPr>
                  <a:t>行列 </a:t>
                </a:r>
                <a14:m>
                  <m:oMath xmlns:m="http://schemas.openxmlformats.org/officeDocument/2006/math">
                    <m:r>
                      <a:rPr kumimoji="1" lang="en-US" altLang="ja-JP" sz="2400" i="1" dirty="0" smtClean="0">
                        <a:latin typeface="Cambria Math" panose="02040503050406030204" pitchFamily="18" charset="0"/>
                        <a:ea typeface="メイリオ" panose="020B0604030504040204" pitchFamily="50" charset="-128"/>
                        <a:cs typeface="+mj-cs"/>
                      </a:rPr>
                      <m:t>𝐴</m:t>
                    </m:r>
                  </m:oMath>
                </a14:m>
                <a:r>
                  <a:rPr kumimoji="1" lang="ja-JP" altLang="en-US" sz="2400" dirty="0">
                    <a:latin typeface="メイリオ" panose="020B0604030504040204" pitchFamily="50" charset="-128"/>
                    <a:ea typeface="メイリオ" panose="020B0604030504040204" pitchFamily="50" charset="-128"/>
                    <a:cs typeface="+mj-cs"/>
                  </a:rPr>
                  <a:t> の </a:t>
                </a:r>
                <a14:m>
                  <m:oMath xmlns:m="http://schemas.openxmlformats.org/officeDocument/2006/math">
                    <m:r>
                      <a:rPr kumimoji="1" lang="en-US" altLang="ja-JP" sz="2400" i="1" dirty="0" smtClean="0">
                        <a:latin typeface="Cambria Math" panose="02040503050406030204" pitchFamily="18" charset="0"/>
                        <a:ea typeface="メイリオ" panose="020B0604030504040204" pitchFamily="50" charset="-128"/>
                        <a:cs typeface="+mj-cs"/>
                      </a:rPr>
                      <m:t>𝑝</m:t>
                    </m:r>
                  </m:oMath>
                </a14:m>
                <a:r>
                  <a:rPr kumimoji="1" lang="ja-JP" altLang="en-US" sz="2400" dirty="0">
                    <a:latin typeface="メイリオ" panose="020B0604030504040204" pitchFamily="50" charset="-128"/>
                    <a:ea typeface="メイリオ" panose="020B0604030504040204" pitchFamily="50" charset="-128"/>
                    <a:cs typeface="+mj-cs"/>
                  </a:rPr>
                  <a:t> 乗根問題</a:t>
                </a:r>
                <a:endParaRPr lang="ja-JP" altLang="en-US" sz="2400" dirty="0"/>
              </a:p>
            </p:txBody>
          </p:sp>
        </mc:Choice>
        <mc:Fallback xmlns="">
          <p:sp>
            <p:nvSpPr>
              <p:cNvPr id="25" name="テキスト ボックス 24"/>
              <p:cNvSpPr txBox="1">
                <a:spLocks noRot="1" noChangeAspect="1" noMove="1" noResize="1" noEditPoints="1" noAdjustHandles="1" noChangeArrowheads="1" noChangeShapeType="1" noTextEdit="1"/>
              </p:cNvSpPr>
              <p:nvPr/>
            </p:nvSpPr>
            <p:spPr>
              <a:xfrm>
                <a:off x="1680451" y="1148468"/>
                <a:ext cx="3252775" cy="461665"/>
              </a:xfrm>
              <a:prstGeom prst="rect">
                <a:avLst/>
              </a:prstGeom>
              <a:blipFill>
                <a:blip r:embed="rId5"/>
                <a:stretch>
                  <a:fillRect l="-3002" t="-7895" b="-3157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文本框 2"/>
              <p:cNvSpPr txBox="1"/>
              <p:nvPr/>
            </p:nvSpPr>
            <p:spPr>
              <a:xfrm>
                <a:off x="3872390" y="2210333"/>
                <a:ext cx="5075282" cy="49244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CN" sz="3200" i="1" smtClean="0">
                              <a:latin typeface="Cambria Math" panose="02040503050406030204" pitchFamily="18" charset="0"/>
                            </a:rPr>
                          </m:ctrlPr>
                        </m:sSupPr>
                        <m:e>
                          <m:r>
                            <a:rPr lang="en-US" altLang="zh-CN" sz="3200" i="1">
                              <a:latin typeface="Cambria Math" panose="02040503050406030204" pitchFamily="18" charset="0"/>
                            </a:rPr>
                            <m:t>𝑋</m:t>
                          </m:r>
                        </m:e>
                        <m:sup>
                          <m:r>
                            <a:rPr lang="en-US" altLang="zh-CN" sz="3200" i="1">
                              <a:latin typeface="Cambria Math" panose="02040503050406030204" pitchFamily="18" charset="0"/>
                            </a:rPr>
                            <m:t>𝑝</m:t>
                          </m:r>
                        </m:sup>
                      </m:sSup>
                      <m:r>
                        <a:rPr lang="en-US" altLang="zh-CN" sz="3200" i="1">
                          <a:latin typeface="Cambria Math" panose="02040503050406030204" pitchFamily="18" charset="0"/>
                        </a:rPr>
                        <m:t>=</m:t>
                      </m:r>
                      <m:r>
                        <a:rPr lang="en-US" altLang="zh-CN" sz="3200" i="1">
                          <a:latin typeface="Cambria Math" panose="02040503050406030204" pitchFamily="18" charset="0"/>
                        </a:rPr>
                        <m:t>𝐴</m:t>
                      </m:r>
                    </m:oMath>
                  </m:oMathPara>
                </a14:m>
                <a:endParaRPr lang="en-US" altLang="zh-CN" sz="3200" i="1" dirty="0">
                  <a:latin typeface="Cambria Math" panose="02040503050406030204" pitchFamily="18" charset="0"/>
                </a:endParaRPr>
              </a:p>
            </p:txBody>
          </p:sp>
        </mc:Choice>
        <mc:Fallback xmlns="">
          <p:sp>
            <p:nvSpPr>
              <p:cNvPr id="3" name="文本框 2"/>
              <p:cNvSpPr txBox="1">
                <a:spLocks noRot="1" noChangeAspect="1" noMove="1" noResize="1" noEditPoints="1" noAdjustHandles="1" noChangeArrowheads="1" noChangeShapeType="1" noTextEdit="1"/>
              </p:cNvSpPr>
              <p:nvPr/>
            </p:nvSpPr>
            <p:spPr>
              <a:xfrm>
                <a:off x="3872390" y="2210333"/>
                <a:ext cx="5075282" cy="492443"/>
              </a:xfrm>
              <a:prstGeom prst="rect">
                <a:avLst/>
              </a:prstGeom>
              <a:blipFill>
                <a:blip r:embed="rId6"/>
                <a:stretch>
                  <a:fillRect/>
                </a:stretch>
              </a:blipFill>
            </p:spPr>
            <p:txBody>
              <a:bodyPr/>
              <a:lstStyle/>
              <a:p>
                <a:r>
                  <a:rPr lang="en-US">
                    <a:noFill/>
                  </a:rPr>
                  <a:t> </a:t>
                </a:r>
              </a:p>
            </p:txBody>
          </p:sp>
        </mc:Fallback>
      </mc:AlternateContent>
      <p:cxnSp>
        <p:nvCxnSpPr>
          <p:cNvPr id="23" name="直線コネクタ 10">
            <a:extLst>
              <a:ext uri="{FF2B5EF4-FFF2-40B4-BE49-F238E27FC236}">
                <a16:creationId xmlns:a16="http://schemas.microsoft.com/office/drawing/2014/main" id="{DDB35FF7-8E28-4C06-BE15-1F911CD1E757}"/>
              </a:ext>
            </a:extLst>
          </p:cNvPr>
          <p:cNvCxnSpPr>
            <a:cxnSpLocks/>
          </p:cNvCxnSpPr>
          <p:nvPr/>
        </p:nvCxnSpPr>
        <p:spPr>
          <a:xfrm>
            <a:off x="6410031" y="4097624"/>
            <a:ext cx="0" cy="2438978"/>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A7BF755F-3F2A-48CF-8CFB-86916E620075}"/>
              </a:ext>
            </a:extLst>
          </p:cNvPr>
          <p:cNvSpPr txBox="1"/>
          <p:nvPr/>
        </p:nvSpPr>
        <p:spPr>
          <a:xfrm>
            <a:off x="6571318" y="4045619"/>
            <a:ext cx="4576968" cy="2465290"/>
          </a:xfrm>
          <a:prstGeom prst="rect">
            <a:avLst/>
          </a:prstGeom>
          <a:solidFill>
            <a:schemeClr val="bg1"/>
          </a:solidFill>
        </p:spPr>
        <p:txBody>
          <a:bodyPr wrap="square">
            <a:spAutoFit/>
          </a:bodyPr>
          <a:lstStyle/>
          <a:p>
            <a:pPr>
              <a:lnSpc>
                <a:spcPct val="130000"/>
              </a:lnSpc>
              <a:spcBef>
                <a:spcPct val="0"/>
              </a:spcBef>
            </a:pPr>
            <a:r>
              <a:rPr kumimoji="1" lang="ja-JP" altLang="en-US" sz="2400" dirty="0">
                <a:latin typeface="メイリオ" panose="020B0604030504040204" pitchFamily="50" charset="-128"/>
                <a:ea typeface="メイリオ" panose="020B0604030504040204" pitchFamily="50" charset="-128"/>
                <a:cs typeface="+mj-cs"/>
              </a:rPr>
              <a:t>応用先</a:t>
            </a:r>
            <a:endParaRPr kumimoji="1" lang="en-US" altLang="ja-JP" sz="2400" dirty="0">
              <a:latin typeface="メイリオ" panose="020B0604030504040204" pitchFamily="50" charset="-128"/>
              <a:ea typeface="メイリオ" panose="020B0604030504040204" pitchFamily="50" charset="-128"/>
              <a:cs typeface="+mj-cs"/>
            </a:endParaRPr>
          </a:p>
          <a:p>
            <a:pPr>
              <a:lnSpc>
                <a:spcPct val="130000"/>
              </a:lnSpc>
              <a:spcBef>
                <a:spcPct val="0"/>
              </a:spcBef>
            </a:pPr>
            <a:r>
              <a:rPr kumimoji="1" lang="ja-JP" altLang="en-US" sz="2400" dirty="0">
                <a:latin typeface="メイリオ" panose="020B0604030504040204" pitchFamily="50" charset="-128"/>
                <a:ea typeface="メイリオ" panose="020B0604030504040204" pitchFamily="50" charset="-128"/>
                <a:cs typeface="+mj-cs"/>
              </a:rPr>
              <a:t>・量子力学</a:t>
            </a:r>
            <a:r>
              <a:rPr kumimoji="1" lang="en-US" altLang="ja-JP" sz="2400" dirty="0">
                <a:latin typeface="メイリオ" panose="020B0604030504040204" pitchFamily="50" charset="-128"/>
                <a:ea typeface="メイリオ" panose="020B0604030504040204" pitchFamily="50" charset="-128"/>
                <a:cs typeface="+mj-cs"/>
              </a:rPr>
              <a:t>[Clark et al.,</a:t>
            </a:r>
            <a:r>
              <a:rPr kumimoji="1" lang="ja-JP" altLang="en-US" sz="2400" dirty="0">
                <a:latin typeface="メイリオ" panose="020B0604030504040204" pitchFamily="50" charset="-128"/>
                <a:ea typeface="メイリオ" panose="020B0604030504040204" pitchFamily="50" charset="-128"/>
                <a:cs typeface="+mj-cs"/>
              </a:rPr>
              <a:t> </a:t>
            </a:r>
            <a:r>
              <a:rPr kumimoji="1" lang="en-US" altLang="ja-JP" sz="2400" dirty="0">
                <a:latin typeface="メイリオ" panose="020B0604030504040204" pitchFamily="50" charset="-128"/>
                <a:ea typeface="メイリオ" panose="020B0604030504040204" pitchFamily="50" charset="-128"/>
                <a:cs typeface="+mj-cs"/>
              </a:rPr>
              <a:t>2007]</a:t>
            </a:r>
          </a:p>
          <a:p>
            <a:pPr>
              <a:lnSpc>
                <a:spcPct val="130000"/>
              </a:lnSpc>
              <a:spcBef>
                <a:spcPct val="0"/>
              </a:spcBef>
            </a:pPr>
            <a:r>
              <a:rPr kumimoji="1" lang="ja-JP" altLang="en-US" sz="2400" dirty="0">
                <a:latin typeface="メイリオ" panose="020B0604030504040204" pitchFamily="50" charset="-128"/>
                <a:ea typeface="メイリオ" panose="020B0604030504040204" pitchFamily="50" charset="-128"/>
                <a:cs typeface="+mj-cs"/>
              </a:rPr>
              <a:t>・偏微分方程式の数値計算</a:t>
            </a:r>
            <a:endParaRPr kumimoji="1" lang="en-US" altLang="ja-JP" sz="2400" dirty="0">
              <a:latin typeface="メイリオ" panose="020B0604030504040204" pitchFamily="50" charset="-128"/>
              <a:ea typeface="メイリオ" panose="020B0604030504040204" pitchFamily="50" charset="-128"/>
              <a:cs typeface="+mj-cs"/>
            </a:endParaRPr>
          </a:p>
          <a:p>
            <a:pPr>
              <a:lnSpc>
                <a:spcPct val="130000"/>
              </a:lnSpc>
              <a:spcBef>
                <a:spcPct val="0"/>
              </a:spcBef>
            </a:pPr>
            <a:r>
              <a:rPr kumimoji="1" lang="en-US" altLang="ja-JP" sz="2400" dirty="0">
                <a:latin typeface="メイリオ" panose="020B0604030504040204" pitchFamily="50" charset="-128"/>
                <a:ea typeface="メイリオ" panose="020B0604030504040204" pitchFamily="50" charset="-128"/>
                <a:cs typeface="+mj-cs"/>
              </a:rPr>
              <a:t>   [</a:t>
            </a:r>
            <a:r>
              <a:rPr kumimoji="1" lang="en-US" altLang="ja-JP" sz="2400" dirty="0" err="1">
                <a:latin typeface="メイリオ" panose="020B0604030504040204" pitchFamily="50" charset="-128"/>
                <a:ea typeface="メイリオ" panose="020B0604030504040204" pitchFamily="50" charset="-128"/>
                <a:cs typeface="+mj-cs"/>
              </a:rPr>
              <a:t>Burrage</a:t>
            </a:r>
            <a:r>
              <a:rPr kumimoji="1" lang="en-US" altLang="ja-JP" sz="2400" dirty="0">
                <a:latin typeface="メイリオ" panose="020B0604030504040204" pitchFamily="50" charset="-128"/>
                <a:ea typeface="メイリオ" panose="020B0604030504040204" pitchFamily="50" charset="-128"/>
                <a:cs typeface="+mj-cs"/>
              </a:rPr>
              <a:t> et al.,</a:t>
            </a:r>
            <a:r>
              <a:rPr kumimoji="1" lang="ja-JP" altLang="en-US" sz="2400" dirty="0">
                <a:latin typeface="メイリオ" panose="020B0604030504040204" pitchFamily="50" charset="-128"/>
                <a:ea typeface="メイリオ" panose="020B0604030504040204" pitchFamily="50" charset="-128"/>
                <a:cs typeface="+mj-cs"/>
              </a:rPr>
              <a:t> </a:t>
            </a:r>
            <a:r>
              <a:rPr kumimoji="1" lang="en-US" altLang="ja-JP" sz="2400" dirty="0">
                <a:latin typeface="メイリオ" panose="020B0604030504040204" pitchFamily="50" charset="-128"/>
                <a:ea typeface="メイリオ" panose="020B0604030504040204" pitchFamily="50" charset="-128"/>
                <a:cs typeface="+mj-cs"/>
              </a:rPr>
              <a:t>2013]</a:t>
            </a:r>
          </a:p>
          <a:p>
            <a:pPr>
              <a:lnSpc>
                <a:spcPct val="130000"/>
              </a:lnSpc>
              <a:spcBef>
                <a:spcPct val="0"/>
              </a:spcBef>
            </a:pPr>
            <a:r>
              <a:rPr lang="ja-JP" altLang="en-US" sz="2400" dirty="0">
                <a:latin typeface="メイリオ" panose="020B0604030504040204" pitchFamily="50" charset="-128"/>
                <a:ea typeface="メイリオ" panose="020B0604030504040204" pitchFamily="50" charset="-128"/>
              </a:rPr>
              <a:t> </a:t>
            </a:r>
            <a:endParaRPr kumimoji="1" lang="ja-JP" altLang="en-US" sz="2400" dirty="0">
              <a:latin typeface="メイリオ" panose="020B0604030504040204" pitchFamily="50" charset="-128"/>
              <a:ea typeface="メイリオ" panose="020B0604030504040204" pitchFamily="50" charset="-128"/>
              <a:cs typeface="+mj-cs"/>
            </a:endParaRPr>
          </a:p>
        </p:txBody>
      </p:sp>
      <mc:AlternateContent xmlns:mc="http://schemas.openxmlformats.org/markup-compatibility/2006" xmlns:a14="http://schemas.microsoft.com/office/drawing/2010/main">
        <mc:Choice Requires="a14">
          <p:sp>
            <p:nvSpPr>
              <p:cNvPr id="9" name="吹き出し: 四角形 8">
                <a:extLst>
                  <a:ext uri="{FF2B5EF4-FFF2-40B4-BE49-F238E27FC236}">
                    <a16:creationId xmlns:a16="http://schemas.microsoft.com/office/drawing/2014/main" id="{E03F1D11-4EDF-4A38-8E8E-1A4F13879D3F}"/>
                  </a:ext>
                </a:extLst>
              </p:cNvPr>
              <p:cNvSpPr/>
              <p:nvPr/>
            </p:nvSpPr>
            <p:spPr>
              <a:xfrm>
                <a:off x="1303590" y="4222341"/>
                <a:ext cx="4884767" cy="1728034"/>
              </a:xfrm>
              <a:prstGeom prst="wedgeRectCallout">
                <a:avLst>
                  <a:gd name="adj1" fmla="val -21840"/>
                  <a:gd name="adj2" fmla="val -82101"/>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30000"/>
                  </a:lnSpc>
                  <a:spcBef>
                    <a:spcPct val="0"/>
                  </a:spcBef>
                </a:pPr>
                <a:r>
                  <a:rPr kumimoji="1" lang="ja-JP" altLang="en-US" sz="2400" dirty="0">
                    <a:solidFill>
                      <a:schemeClr val="tx1"/>
                    </a:solidFill>
                    <a:latin typeface="+mn-ea"/>
                  </a:rPr>
                  <a:t>一意の条件</a:t>
                </a:r>
                <a:r>
                  <a:rPr kumimoji="1" lang="en-US" altLang="ja-JP" sz="2400" dirty="0">
                    <a:solidFill>
                      <a:schemeClr val="tx1"/>
                    </a:solidFill>
                    <a:latin typeface="+mn-ea"/>
                  </a:rPr>
                  <a:t>:</a:t>
                </a:r>
              </a:p>
              <a:p>
                <a:pPr>
                  <a:lnSpc>
                    <a:spcPct val="130000"/>
                  </a:lnSpc>
                  <a:spcBef>
                    <a:spcPct val="0"/>
                  </a:spcBef>
                </a:pPr>
                <a14:m>
                  <m:oMath xmlns:m="http://schemas.openxmlformats.org/officeDocument/2006/math">
                    <m:r>
                      <a:rPr kumimoji="1" lang="en-US" altLang="ja-JP" sz="2400" dirty="0">
                        <a:solidFill>
                          <a:schemeClr val="tx1"/>
                        </a:solidFill>
                        <a:latin typeface="Cambria Math" panose="02040503050406030204" pitchFamily="18" charset="0"/>
                      </a:rPr>
                      <m:t>𝐴</m:t>
                    </m:r>
                  </m:oMath>
                </a14:m>
                <a:r>
                  <a:rPr kumimoji="1" lang="ja-JP" altLang="en-US" sz="2400" dirty="0">
                    <a:solidFill>
                      <a:schemeClr val="tx1"/>
                    </a:solidFill>
                    <a:latin typeface="+mn-ea"/>
                  </a:rPr>
                  <a:t> は</a:t>
                </a:r>
                <a:r>
                  <a:rPr kumimoji="1" lang="en-US" altLang="ja-JP" sz="2400" dirty="0">
                    <a:solidFill>
                      <a:schemeClr val="tx1"/>
                    </a:solidFill>
                    <a:latin typeface="+mn-ea"/>
                  </a:rPr>
                  <a:t> </a:t>
                </a:r>
                <a14:m>
                  <m:oMath xmlns:m="http://schemas.openxmlformats.org/officeDocument/2006/math">
                    <m:r>
                      <a:rPr kumimoji="1" lang="en-US" altLang="ja-JP" sz="2400" b="0" i="1" smtClean="0">
                        <a:solidFill>
                          <a:schemeClr val="tx1"/>
                        </a:solidFill>
                        <a:latin typeface="Cambria Math" panose="02040503050406030204" pitchFamily="18" charset="0"/>
                      </a:rPr>
                      <m:t>0</m:t>
                    </m:r>
                  </m:oMath>
                </a14:m>
                <a:r>
                  <a:rPr kumimoji="1" lang="ja-JP" altLang="en-US" sz="2400" dirty="0">
                    <a:solidFill>
                      <a:schemeClr val="tx1"/>
                    </a:solidFill>
                    <a:latin typeface="+mn-ea"/>
                  </a:rPr>
                  <a:t> 以下の実固有値を持たない</a:t>
                </a:r>
                <a:endParaRPr kumimoji="1" lang="en-US" altLang="ja-JP" sz="2400" dirty="0">
                  <a:solidFill>
                    <a:schemeClr val="tx1"/>
                  </a:solidFill>
                  <a:latin typeface="+mn-ea"/>
                </a:endParaRPr>
              </a:p>
              <a:p>
                <a:pPr>
                  <a:lnSpc>
                    <a:spcPct val="130000"/>
                  </a:lnSpc>
                  <a:spcBef>
                    <a:spcPct val="0"/>
                  </a:spcBef>
                </a:pPr>
                <a:r>
                  <a:rPr kumimoji="1" lang="zh-CN" altLang="en-US" sz="2400" dirty="0">
                    <a:solidFill>
                      <a:schemeClr val="tx1"/>
                    </a:solidFill>
                    <a:latin typeface="+mn-ea"/>
                  </a:rPr>
                  <a:t>（</a:t>
                </a:r>
                <a:r>
                  <a:rPr kumimoji="1" lang="ja-JP" altLang="en-US" sz="2400" dirty="0">
                    <a:solidFill>
                      <a:schemeClr val="tx1"/>
                    </a:solidFill>
                    <a:latin typeface="+mn-ea"/>
                  </a:rPr>
                  <a:t>本研究はこの条件の下で行う</a:t>
                </a:r>
                <a:r>
                  <a:rPr kumimoji="1" lang="zh-CN" altLang="en-US" sz="2400" dirty="0">
                    <a:solidFill>
                      <a:schemeClr val="tx1"/>
                    </a:solidFill>
                    <a:latin typeface="+mn-ea"/>
                  </a:rPr>
                  <a:t>）</a:t>
                </a:r>
                <a:endParaRPr lang="en-US" dirty="0">
                  <a:solidFill>
                    <a:schemeClr val="tx1"/>
                  </a:solidFill>
                </a:endParaRPr>
              </a:p>
            </p:txBody>
          </p:sp>
        </mc:Choice>
        <mc:Fallback xmlns="">
          <p:sp>
            <p:nvSpPr>
              <p:cNvPr id="9" name="吹き出し: 四角形 8">
                <a:extLst>
                  <a:ext uri="{FF2B5EF4-FFF2-40B4-BE49-F238E27FC236}">
                    <a16:creationId xmlns:a16="http://schemas.microsoft.com/office/drawing/2014/main" id="{E03F1D11-4EDF-4A38-8E8E-1A4F13879D3F}"/>
                  </a:ext>
                </a:extLst>
              </p:cNvPr>
              <p:cNvSpPr>
                <a:spLocks noRot="1" noChangeAspect="1" noMove="1" noResize="1" noEditPoints="1" noAdjustHandles="1" noChangeArrowheads="1" noChangeShapeType="1" noTextEdit="1"/>
              </p:cNvSpPr>
              <p:nvPr/>
            </p:nvSpPr>
            <p:spPr>
              <a:xfrm>
                <a:off x="1303590" y="4222341"/>
                <a:ext cx="4884767" cy="1728034"/>
              </a:xfrm>
              <a:prstGeom prst="wedgeRectCallout">
                <a:avLst>
                  <a:gd name="adj1" fmla="val -21840"/>
                  <a:gd name="adj2" fmla="val -82101"/>
                </a:avLst>
              </a:prstGeom>
              <a:blipFill>
                <a:blip r:embed="rId7"/>
                <a:stretch>
                  <a:fillRect l="-1737" r="-248" b="-526"/>
                </a:stretch>
              </a:blipFill>
              <a:ln w="28575">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テキスト ボックス 30">
                <a:extLst>
                  <a:ext uri="{FF2B5EF4-FFF2-40B4-BE49-F238E27FC236}">
                    <a16:creationId xmlns:a16="http://schemas.microsoft.com/office/drawing/2014/main" id="{6B7CE5DB-F3FB-4767-BA0D-FF927E2E9F78}"/>
                  </a:ext>
                </a:extLst>
              </p:cNvPr>
              <p:cNvSpPr txBox="1"/>
              <p:nvPr/>
            </p:nvSpPr>
            <p:spPr>
              <a:xfrm>
                <a:off x="1409131" y="2789786"/>
                <a:ext cx="6626775" cy="461665"/>
              </a:xfrm>
              <a:prstGeom prst="rect">
                <a:avLst/>
              </a:prstGeom>
              <a:noFill/>
            </p:spPr>
            <p:txBody>
              <a:bodyPr wrap="square">
                <a:spAutoFit/>
              </a:bodyPr>
              <a:lstStyle/>
              <a:p>
                <a:r>
                  <a:rPr kumimoji="1" lang="ja-JP" altLang="en-US" sz="2400" dirty="0">
                    <a:latin typeface="メイリオ" panose="020B0604030504040204" pitchFamily="50" charset="-128"/>
                    <a:ea typeface="メイリオ" panose="020B0604030504040204" pitchFamily="50" charset="-128"/>
                    <a:cs typeface="+mj-cs"/>
                  </a:rPr>
                  <a:t>を満たす </a:t>
                </a:r>
                <a14:m>
                  <m:oMath xmlns:m="http://schemas.openxmlformats.org/officeDocument/2006/math">
                    <m:r>
                      <a:rPr kumimoji="1" lang="en-US" altLang="ja-JP" sz="2400" b="0" i="1" smtClean="0">
                        <a:latin typeface="Cambria Math" panose="02040503050406030204" pitchFamily="18" charset="0"/>
                        <a:ea typeface="メイリオ" panose="020B0604030504040204" pitchFamily="50" charset="-128"/>
                        <a:cs typeface="+mj-cs"/>
                      </a:rPr>
                      <m:t>𝐴</m:t>
                    </m:r>
                  </m:oMath>
                </a14:m>
                <a:r>
                  <a:rPr kumimoji="1" lang="ja-JP" altLang="en-US" sz="2400" dirty="0">
                    <a:latin typeface="メイリオ" panose="020B0604030504040204" pitchFamily="50" charset="-128"/>
                    <a:ea typeface="メイリオ" panose="020B0604030504040204" pitchFamily="50" charset="-128"/>
                    <a:cs typeface="+mj-cs"/>
                  </a:rPr>
                  <a:t> の</a:t>
                </a:r>
                <a:r>
                  <a:rPr kumimoji="1" lang="ja-JP" altLang="en-US" sz="2400" dirty="0">
                    <a:solidFill>
                      <a:schemeClr val="tx1"/>
                    </a:solidFill>
                    <a:latin typeface="メイリオ" panose="020B0604030504040204" pitchFamily="50" charset="-128"/>
                    <a:ea typeface="メイリオ" panose="020B0604030504040204" pitchFamily="50" charset="-128"/>
                    <a:cs typeface="+mj-cs"/>
                  </a:rPr>
                  <a:t>主 </a:t>
                </a:r>
                <a14:m>
                  <m:oMath xmlns:m="http://schemas.openxmlformats.org/officeDocument/2006/math">
                    <m:r>
                      <a:rPr kumimoji="1" lang="en-US" altLang="ja-JP" sz="2400" i="1" dirty="0" smtClean="0">
                        <a:solidFill>
                          <a:schemeClr val="tx1"/>
                        </a:solidFill>
                        <a:latin typeface="Cambria Math" panose="02040503050406030204" pitchFamily="18" charset="0"/>
                        <a:ea typeface="メイリオ" panose="020B0604030504040204" pitchFamily="50" charset="-128"/>
                        <a:cs typeface="+mj-cs"/>
                      </a:rPr>
                      <m:t>𝑝</m:t>
                    </m:r>
                  </m:oMath>
                </a14:m>
                <a:r>
                  <a:rPr kumimoji="1" lang="ja-JP" altLang="en-US" sz="2400" dirty="0">
                    <a:solidFill>
                      <a:schemeClr val="tx1"/>
                    </a:solidFill>
                    <a:latin typeface="メイリオ" panose="020B0604030504040204" pitchFamily="50" charset="-128"/>
                    <a:ea typeface="メイリオ" panose="020B0604030504040204" pitchFamily="50" charset="-128"/>
                    <a:cs typeface="+mj-cs"/>
                  </a:rPr>
                  <a:t> 乗根 </a:t>
                </a:r>
                <a14:m>
                  <m:oMath xmlns:m="http://schemas.openxmlformats.org/officeDocument/2006/math">
                    <m:r>
                      <a:rPr lang="en-US" altLang="zh-CN" sz="2400" i="1">
                        <a:solidFill>
                          <a:schemeClr val="tx1"/>
                        </a:solidFill>
                        <a:latin typeface="Cambria Math" panose="02040503050406030204" pitchFamily="18" charset="0"/>
                      </a:rPr>
                      <m:t>𝑋</m:t>
                    </m:r>
                  </m:oMath>
                </a14:m>
                <a:r>
                  <a:rPr kumimoji="1" lang="ja-JP" altLang="en-US" sz="2400" dirty="0">
                    <a:solidFill>
                      <a:schemeClr val="tx1"/>
                    </a:solidFill>
                    <a:latin typeface="メイリオ" panose="020B0604030504040204" pitchFamily="50" charset="-128"/>
                    <a:ea typeface="メイリオ" panose="020B0604030504040204" pitchFamily="50" charset="-128"/>
                    <a:cs typeface="+mj-cs"/>
                  </a:rPr>
                  <a:t> を求める</a:t>
                </a:r>
                <a:r>
                  <a:rPr kumimoji="1" lang="ja-JP" altLang="en-US" sz="2400" dirty="0">
                    <a:latin typeface="メイリオ" panose="020B0604030504040204" pitchFamily="50" charset="-128"/>
                    <a:ea typeface="メイリオ" panose="020B0604030504040204" pitchFamily="50" charset="-128"/>
                    <a:cs typeface="+mj-cs"/>
                  </a:rPr>
                  <a:t>．</a:t>
                </a:r>
                <a:endParaRPr lang="en-US" sz="2400" dirty="0"/>
              </a:p>
            </p:txBody>
          </p:sp>
        </mc:Choice>
        <mc:Fallback xmlns="">
          <p:sp>
            <p:nvSpPr>
              <p:cNvPr id="31" name="テキスト ボックス 30">
                <a:extLst>
                  <a:ext uri="{FF2B5EF4-FFF2-40B4-BE49-F238E27FC236}">
                    <a16:creationId xmlns:a16="http://schemas.microsoft.com/office/drawing/2014/main" id="{6B7CE5DB-F3FB-4767-BA0D-FF927E2E9F78}"/>
                  </a:ext>
                </a:extLst>
              </p:cNvPr>
              <p:cNvSpPr txBox="1">
                <a:spLocks noRot="1" noChangeAspect="1" noMove="1" noResize="1" noEditPoints="1" noAdjustHandles="1" noChangeArrowheads="1" noChangeShapeType="1" noTextEdit="1"/>
              </p:cNvSpPr>
              <p:nvPr/>
            </p:nvSpPr>
            <p:spPr>
              <a:xfrm>
                <a:off x="1409131" y="2789786"/>
                <a:ext cx="6626775" cy="461665"/>
              </a:xfrm>
              <a:prstGeom prst="rect">
                <a:avLst/>
              </a:prstGeom>
              <a:blipFill>
                <a:blip r:embed="rId8"/>
                <a:stretch>
                  <a:fillRect l="-1380" t="-8000" b="-33333"/>
                </a:stretch>
              </a:blipFill>
            </p:spPr>
            <p:txBody>
              <a:bodyPr/>
              <a:lstStyle/>
              <a:p>
                <a:r>
                  <a:rPr lang="en-US">
                    <a:noFill/>
                  </a:rPr>
                  <a:t> </a:t>
                </a:r>
              </a:p>
            </p:txBody>
          </p:sp>
        </mc:Fallback>
      </mc:AlternateContent>
    </p:spTree>
    <p:extLst>
      <p:ext uri="{BB962C8B-B14F-4D97-AF65-F5344CB8AC3E}">
        <p14:creationId xmlns:p14="http://schemas.microsoft.com/office/powerpoint/2010/main" val="1300849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2DA4AFE-898C-45C2-8BE7-592EBE15CF8D}"/>
              </a:ext>
            </a:extLst>
          </p:cNvPr>
          <p:cNvSpPr>
            <a:spLocks noGrp="1"/>
          </p:cNvSpPr>
          <p:nvPr>
            <p:ph type="title"/>
          </p:nvPr>
        </p:nvSpPr>
        <p:spPr/>
        <p:txBody>
          <a:bodyPr/>
          <a:lstStyle/>
          <a:p>
            <a:r>
              <a:rPr kumimoji="1" lang="en-US" altLang="ja-JP" sz="3200" dirty="0" err="1">
                <a:solidFill>
                  <a:schemeClr val="tx1"/>
                </a:solidFill>
                <a:latin typeface="メイリオ" panose="020B0604030504040204" pitchFamily="50" charset="-128"/>
                <a:ea typeface="メイリオ" panose="020B0604030504040204" pitchFamily="50" charset="-128"/>
              </a:rPr>
              <a:t>Iannazzo</a:t>
            </a:r>
            <a:r>
              <a:rPr kumimoji="1" lang="ja-JP" altLang="en-US" sz="3200" dirty="0">
                <a:solidFill>
                  <a:schemeClr val="tx1"/>
                </a:solidFill>
                <a:latin typeface="メイリオ" panose="020B0604030504040204" pitchFamily="50" charset="-128"/>
                <a:ea typeface="メイリオ" panose="020B0604030504040204" pitchFamily="50" charset="-128"/>
              </a:rPr>
              <a:t>の</a:t>
            </a:r>
            <a:r>
              <a:rPr lang="ja-JP" altLang="en-US" sz="3200" dirty="0">
                <a:solidFill>
                  <a:schemeClr val="tx1"/>
                </a:solidFill>
                <a:latin typeface="メイリオ" panose="020B0604030504040204" pitchFamily="50" charset="-128"/>
                <a:ea typeface="メイリオ" panose="020B0604030504040204" pitchFamily="50" charset="-128"/>
              </a:rPr>
              <a:t>仕事</a:t>
            </a:r>
            <a:r>
              <a:rPr lang="en-US" altLang="ja-JP" sz="3200" dirty="0">
                <a:solidFill>
                  <a:schemeClr val="tx1"/>
                </a:solidFill>
                <a:latin typeface="メイリオ" panose="020B0604030504040204" pitchFamily="50" charset="-128"/>
                <a:ea typeface="メイリオ" panose="020B0604030504040204" pitchFamily="50" charset="-128"/>
              </a:rPr>
              <a:t>:</a:t>
            </a:r>
            <a:r>
              <a:rPr lang="ja-JP" altLang="en-US" sz="3200" dirty="0">
                <a:solidFill>
                  <a:schemeClr val="tx1"/>
                </a:solidFill>
                <a:latin typeface="メイリオ" panose="020B0604030504040204" pitchFamily="50" charset="-128"/>
                <a:ea typeface="メイリオ" panose="020B0604030504040204" pitchFamily="50" charset="-128"/>
              </a:rPr>
              <a:t>初期値と前処理で収束を保証</a:t>
            </a:r>
            <a:endParaRPr lang="en-US" sz="3200" dirty="0">
              <a:latin typeface="メイリオ" panose="020B0604030504040204" pitchFamily="50" charset="-128"/>
              <a:ea typeface="メイリオ" panose="020B0604030504040204" pitchFamily="50" charset="-128"/>
            </a:endParaRPr>
          </a:p>
        </p:txBody>
      </p:sp>
      <mc:AlternateContent xmlns:mc="http://schemas.openxmlformats.org/markup-compatibility/2006" xmlns:a14="http://schemas.microsoft.com/office/drawing/2010/main">
        <mc:Choice Requires="a14">
          <p:sp>
            <p:nvSpPr>
              <p:cNvPr id="49" name="テキスト ボックス 48">
                <a:extLst>
                  <a:ext uri="{FF2B5EF4-FFF2-40B4-BE49-F238E27FC236}">
                    <a16:creationId xmlns:a16="http://schemas.microsoft.com/office/drawing/2014/main" id="{3D2AE909-A528-4B60-BF91-F324391C6928}"/>
                  </a:ext>
                </a:extLst>
              </p:cNvPr>
              <p:cNvSpPr txBox="1"/>
              <p:nvPr/>
            </p:nvSpPr>
            <p:spPr>
              <a:xfrm>
                <a:off x="1769668" y="1528092"/>
                <a:ext cx="2143072" cy="544765"/>
              </a:xfrm>
              <a:prstGeom prst="rect">
                <a:avLst/>
              </a:prstGeom>
              <a:noFill/>
            </p:spPr>
            <p:txBody>
              <a:bodyPr wrap="square">
                <a:spAutoFit/>
              </a:bodyPr>
              <a:lstStyle/>
              <a:p>
                <a:pPr>
                  <a:lnSpc>
                    <a:spcPct val="130000"/>
                  </a:lnSpc>
                  <a:spcBef>
                    <a:spcPct val="0"/>
                  </a:spcBef>
                </a:pPr>
                <a14:m>
                  <m:oMath xmlns:m="http://schemas.openxmlformats.org/officeDocument/2006/math">
                    <m:sSub>
                      <m:sSubPr>
                        <m:ctrlPr>
                          <a:rPr kumimoji="1" lang="en-US" altLang="ja-JP" sz="2400" b="0" i="1" smtClean="0">
                            <a:latin typeface="Cambria Math" panose="02040503050406030204" pitchFamily="18" charset="0"/>
                            <a:ea typeface="メイリオ" panose="020B0604030504040204" pitchFamily="50" charset="-128"/>
                            <a:cs typeface="+mj-cs"/>
                          </a:rPr>
                        </m:ctrlPr>
                      </m:sSubPr>
                      <m:e>
                        <m:r>
                          <a:rPr kumimoji="1" lang="en-US" altLang="ja-JP" sz="2400" b="0" i="1" smtClean="0">
                            <a:latin typeface="Cambria Math" panose="02040503050406030204" pitchFamily="18" charset="0"/>
                            <a:ea typeface="メイリオ" panose="020B0604030504040204" pitchFamily="50" charset="-128"/>
                            <a:cs typeface="+mj-cs"/>
                          </a:rPr>
                          <m:t>𝑋</m:t>
                        </m:r>
                      </m:e>
                      <m:sub>
                        <m:r>
                          <a:rPr kumimoji="1" lang="en-US" altLang="ja-JP" sz="2400" b="0" i="1" smtClean="0">
                            <a:latin typeface="Cambria Math" panose="02040503050406030204" pitchFamily="18" charset="0"/>
                            <a:ea typeface="メイリオ" panose="020B0604030504040204" pitchFamily="50" charset="-128"/>
                            <a:cs typeface="+mj-cs"/>
                          </a:rPr>
                          <m:t>0</m:t>
                        </m:r>
                      </m:sub>
                    </m:sSub>
                    <m:r>
                      <a:rPr kumimoji="1" lang="en-US" altLang="ja-JP" sz="2400" b="0" i="1" smtClean="0">
                        <a:latin typeface="Cambria Math" panose="02040503050406030204" pitchFamily="18" charset="0"/>
                        <a:ea typeface="メイリオ" panose="020B0604030504040204" pitchFamily="50" charset="-128"/>
                        <a:cs typeface="+mj-cs"/>
                      </a:rPr>
                      <m:t>=</m:t>
                    </m:r>
                    <m:r>
                      <a:rPr kumimoji="1" lang="en-US" altLang="ja-JP" sz="2400" b="0" i="1" smtClean="0">
                        <a:latin typeface="Cambria Math" panose="02040503050406030204" pitchFamily="18" charset="0"/>
                        <a:ea typeface="メイリオ" panose="020B0604030504040204" pitchFamily="50" charset="-128"/>
                        <a:cs typeface="+mj-cs"/>
                      </a:rPr>
                      <m:t>𝐼</m:t>
                    </m:r>
                  </m:oMath>
                </a14:m>
                <a:r>
                  <a:rPr kumimoji="1" lang="ja-JP" altLang="en-US" sz="2400" dirty="0">
                    <a:latin typeface="メイリオ" panose="020B0604030504040204" pitchFamily="50" charset="-128"/>
                    <a:ea typeface="メイリオ" panose="020B0604030504040204" pitchFamily="50" charset="-128"/>
                    <a:cs typeface="+mj-cs"/>
                  </a:rPr>
                  <a:t>と設定</a:t>
                </a:r>
                <a:endParaRPr kumimoji="1" lang="en-US" altLang="ja-JP" sz="2400" dirty="0">
                  <a:latin typeface="メイリオ" panose="020B0604030504040204" pitchFamily="50" charset="-128"/>
                  <a:ea typeface="メイリオ" panose="020B0604030504040204" pitchFamily="50" charset="-128"/>
                  <a:cs typeface="+mj-cs"/>
                </a:endParaRPr>
              </a:p>
            </p:txBody>
          </p:sp>
        </mc:Choice>
        <mc:Fallback xmlns="">
          <p:sp>
            <p:nvSpPr>
              <p:cNvPr id="49" name="テキスト ボックス 48">
                <a:extLst>
                  <a:ext uri="{FF2B5EF4-FFF2-40B4-BE49-F238E27FC236}">
                    <a16:creationId xmlns:a16="http://schemas.microsoft.com/office/drawing/2014/main" id="{3D2AE909-A528-4B60-BF91-F324391C6928}"/>
                  </a:ext>
                </a:extLst>
              </p:cNvPr>
              <p:cNvSpPr txBox="1">
                <a:spLocks noRot="1" noChangeAspect="1" noMove="1" noResize="1" noEditPoints="1" noAdjustHandles="1" noChangeArrowheads="1" noChangeShapeType="1" noTextEdit="1"/>
              </p:cNvSpPr>
              <p:nvPr/>
            </p:nvSpPr>
            <p:spPr>
              <a:xfrm>
                <a:off x="1769668" y="1528092"/>
                <a:ext cx="2143072" cy="544765"/>
              </a:xfrm>
              <a:prstGeom prst="rect">
                <a:avLst/>
              </a:prstGeom>
              <a:blipFill>
                <a:blip r:embed="rId2"/>
                <a:stretch>
                  <a:fillRect l="-568" b="-26966"/>
                </a:stretch>
              </a:blipFill>
            </p:spPr>
            <p:txBody>
              <a:bodyPr/>
              <a:lstStyle/>
              <a:p>
                <a:r>
                  <a:rPr lang="en-US">
                    <a:noFill/>
                  </a:rPr>
                  <a:t> </a:t>
                </a:r>
              </a:p>
            </p:txBody>
          </p:sp>
        </mc:Fallback>
      </mc:AlternateContent>
      <p:sp>
        <p:nvSpPr>
          <p:cNvPr id="26" name="正方形/長方形 25">
            <a:extLst>
              <a:ext uri="{FF2B5EF4-FFF2-40B4-BE49-F238E27FC236}">
                <a16:creationId xmlns:a16="http://schemas.microsoft.com/office/drawing/2014/main" id="{8B9DF0E5-FC97-4F43-8646-0A6261A0F1A2}"/>
              </a:ext>
            </a:extLst>
          </p:cNvPr>
          <p:cNvSpPr/>
          <p:nvPr/>
        </p:nvSpPr>
        <p:spPr>
          <a:xfrm>
            <a:off x="388679" y="1294647"/>
            <a:ext cx="5329545" cy="5296276"/>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テキスト ボックス 27">
            <a:extLst>
              <a:ext uri="{FF2B5EF4-FFF2-40B4-BE49-F238E27FC236}">
                <a16:creationId xmlns:a16="http://schemas.microsoft.com/office/drawing/2014/main" id="{013B8E25-FF48-4022-BDFA-8A21DE132E1D}"/>
              </a:ext>
            </a:extLst>
          </p:cNvPr>
          <p:cNvSpPr txBox="1"/>
          <p:nvPr/>
        </p:nvSpPr>
        <p:spPr>
          <a:xfrm>
            <a:off x="493831" y="1111712"/>
            <a:ext cx="3233568" cy="425116"/>
          </a:xfrm>
          <a:prstGeom prst="rect">
            <a:avLst/>
          </a:prstGeom>
          <a:solidFill>
            <a:schemeClr val="bg1"/>
          </a:solidFill>
        </p:spPr>
        <p:txBody>
          <a:bodyPr wrap="square">
            <a:spAutoFit/>
          </a:bodyPr>
          <a:lstStyle/>
          <a:p>
            <a:pPr>
              <a:lnSpc>
                <a:spcPts val="2500"/>
              </a:lnSpc>
              <a:spcBef>
                <a:spcPct val="0"/>
              </a:spcBef>
            </a:pPr>
            <a:r>
              <a:rPr kumimoji="1" lang="en-US" altLang="zh-CN" sz="2400" dirty="0">
                <a:latin typeface="メイリオ" panose="020B0604030504040204" pitchFamily="50" charset="-128"/>
                <a:ea typeface="メイリオ" panose="020B0604030504040204" pitchFamily="50" charset="-128"/>
              </a:rPr>
              <a:t>[</a:t>
            </a:r>
            <a:r>
              <a:rPr kumimoji="1" lang="en-US" altLang="zh-CN" sz="2400" dirty="0" err="1">
                <a:latin typeface="メイリオ" panose="020B0604030504040204" pitchFamily="50" charset="-128"/>
                <a:ea typeface="メイリオ" panose="020B0604030504040204" pitchFamily="50" charset="-128"/>
              </a:rPr>
              <a:t>B.Iannazo</a:t>
            </a:r>
            <a:r>
              <a:rPr kumimoji="1" lang="en-US" altLang="zh-CN" sz="2400" dirty="0">
                <a:latin typeface="メイリオ" panose="020B0604030504040204" pitchFamily="50" charset="-128"/>
                <a:ea typeface="メイリオ" panose="020B0604030504040204" pitchFamily="50" charset="-128"/>
              </a:rPr>
              <a:t>, 2006]</a:t>
            </a:r>
            <a:r>
              <a:rPr kumimoji="1" lang="ja-JP" altLang="en-US" sz="2400" dirty="0">
                <a:latin typeface="メイリオ" panose="020B0604030504040204" pitchFamily="50" charset="-128"/>
                <a:ea typeface="メイリオ" panose="020B0604030504040204" pitchFamily="50" charset="-128"/>
              </a:rPr>
              <a:t>で</a:t>
            </a:r>
            <a:endParaRPr kumimoji="1" lang="en-US" altLang="ja-JP" sz="2400" dirty="0">
              <a:latin typeface="メイリオ" panose="020B0604030504040204" pitchFamily="50" charset="-128"/>
              <a:ea typeface="メイリオ" panose="020B0604030504040204" pitchFamily="50" charset="-128"/>
            </a:endParaRPr>
          </a:p>
        </p:txBody>
      </p:sp>
      <p:sp>
        <p:nvSpPr>
          <p:cNvPr id="43" name="正方形/長方形 42">
            <a:extLst>
              <a:ext uri="{FF2B5EF4-FFF2-40B4-BE49-F238E27FC236}">
                <a16:creationId xmlns:a16="http://schemas.microsoft.com/office/drawing/2014/main" id="{74C96462-3734-4519-85EA-FE70BF66CB51}"/>
              </a:ext>
            </a:extLst>
          </p:cNvPr>
          <p:cNvSpPr/>
          <p:nvPr/>
        </p:nvSpPr>
        <p:spPr>
          <a:xfrm>
            <a:off x="6404289" y="1293888"/>
            <a:ext cx="5329545" cy="5296276"/>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30000"/>
              </a:lnSpc>
              <a:spcBef>
                <a:spcPct val="0"/>
              </a:spcBef>
            </a:pPr>
            <a:r>
              <a:rPr kumimoji="1" lang="en-US" altLang="zh-CN" dirty="0">
                <a:solidFill>
                  <a:schemeClr val="tx1"/>
                </a:solidFill>
                <a:ea typeface="メイリオ" panose="020B0604030504040204" pitchFamily="50" charset="-128"/>
              </a:rPr>
              <a:t> </a:t>
            </a:r>
            <a:endParaRPr kumimoji="1" lang="ja-JP" altLang="en-US" dirty="0"/>
          </a:p>
        </p:txBody>
      </p:sp>
      <p:sp>
        <p:nvSpPr>
          <p:cNvPr id="44" name="テキスト ボックス 43">
            <a:extLst>
              <a:ext uri="{FF2B5EF4-FFF2-40B4-BE49-F238E27FC236}">
                <a16:creationId xmlns:a16="http://schemas.microsoft.com/office/drawing/2014/main" id="{B0983107-CBB8-4137-BFBB-CC993672EAC7}"/>
              </a:ext>
            </a:extLst>
          </p:cNvPr>
          <p:cNvSpPr txBox="1"/>
          <p:nvPr/>
        </p:nvSpPr>
        <p:spPr>
          <a:xfrm>
            <a:off x="6628955" y="1148157"/>
            <a:ext cx="2025947" cy="425116"/>
          </a:xfrm>
          <a:prstGeom prst="rect">
            <a:avLst/>
          </a:prstGeom>
          <a:solidFill>
            <a:schemeClr val="bg1"/>
          </a:solidFill>
        </p:spPr>
        <p:txBody>
          <a:bodyPr wrap="square">
            <a:spAutoFit/>
          </a:bodyPr>
          <a:lstStyle/>
          <a:p>
            <a:pPr>
              <a:lnSpc>
                <a:spcPts val="2500"/>
              </a:lnSpc>
              <a:spcBef>
                <a:spcPct val="0"/>
              </a:spcBef>
            </a:pPr>
            <a:r>
              <a:rPr kumimoji="1" lang="ja-JP" altLang="en-US" sz="2400" dirty="0">
                <a:latin typeface="メイリオ" panose="020B0604030504040204" pitchFamily="50" charset="-128"/>
                <a:ea typeface="メイリオ" panose="020B0604030504040204" pitchFamily="50" charset="-128"/>
              </a:rPr>
              <a:t>アルゴリズム</a:t>
            </a:r>
            <a:endParaRPr kumimoji="1" lang="en-US" altLang="ja-JP" sz="2400" dirty="0">
              <a:latin typeface="メイリオ" panose="020B0604030504040204" pitchFamily="50" charset="-128"/>
              <a:ea typeface="メイリオ" panose="020B0604030504040204" pitchFamily="50" charset="-128"/>
            </a:endParaRPr>
          </a:p>
        </p:txBody>
      </p:sp>
      <mc:AlternateContent xmlns:mc="http://schemas.openxmlformats.org/markup-compatibility/2006" xmlns:a14="http://schemas.microsoft.com/office/drawing/2010/main">
        <mc:Choice Requires="a14">
          <p:sp>
            <p:nvSpPr>
              <p:cNvPr id="45" name="テキスト ボックス 44">
                <a:extLst>
                  <a:ext uri="{FF2B5EF4-FFF2-40B4-BE49-F238E27FC236}">
                    <a16:creationId xmlns:a16="http://schemas.microsoft.com/office/drawing/2014/main" id="{237CA37B-7159-4E47-9B26-5CCF6052E014}"/>
                  </a:ext>
                </a:extLst>
              </p:cNvPr>
              <p:cNvSpPr txBox="1"/>
              <p:nvPr/>
            </p:nvSpPr>
            <p:spPr>
              <a:xfrm>
                <a:off x="6628955" y="1612021"/>
                <a:ext cx="1400589" cy="830997"/>
              </a:xfrm>
              <a:prstGeom prst="rect">
                <a:avLst/>
              </a:prstGeom>
              <a:noFill/>
            </p:spPr>
            <p:txBody>
              <a:bodyPr wrap="square">
                <a:spAutoFit/>
              </a:bodyPr>
              <a:lstStyle/>
              <a:p>
                <a:r>
                  <a:rPr kumimoji="1" lang="en-US" altLang="ja-JP" sz="2400" b="0" dirty="0">
                    <a:latin typeface="Meiryo UI" panose="020B0604030504040204" pitchFamily="50" charset="-128"/>
                    <a:ea typeface="Meiryo UI" panose="020B0604030504040204" pitchFamily="50" charset="-128"/>
                    <a:cs typeface="+mj-cs"/>
                  </a:rPr>
                  <a:t>1.</a:t>
                </a:r>
                <a14:m>
                  <m:oMath xmlns:m="http://schemas.openxmlformats.org/officeDocument/2006/math">
                    <m:sSub>
                      <m:sSubPr>
                        <m:ctrlPr>
                          <a:rPr kumimoji="1" lang="en-US" altLang="ja-JP" sz="2400" b="0" i="1" smtClean="0">
                            <a:latin typeface="Cambria Math" panose="02040503050406030204" pitchFamily="18" charset="0"/>
                            <a:ea typeface="メイリオ" panose="020B0604030504040204" pitchFamily="50" charset="-128"/>
                            <a:cs typeface="+mj-cs"/>
                          </a:rPr>
                        </m:ctrlPr>
                      </m:sSubPr>
                      <m:e>
                        <m:r>
                          <a:rPr kumimoji="1" lang="en-US" altLang="ja-JP" sz="2400" b="0" i="1" smtClean="0">
                            <a:latin typeface="Cambria Math" panose="02040503050406030204" pitchFamily="18" charset="0"/>
                            <a:ea typeface="メイリオ" panose="020B0604030504040204" pitchFamily="50" charset="-128"/>
                            <a:cs typeface="+mj-cs"/>
                          </a:rPr>
                          <m:t>𝑋</m:t>
                        </m:r>
                      </m:e>
                      <m:sub>
                        <m:r>
                          <a:rPr kumimoji="1" lang="en-US" altLang="ja-JP" sz="2400" b="0" i="1" smtClean="0">
                            <a:latin typeface="Cambria Math" panose="02040503050406030204" pitchFamily="18" charset="0"/>
                            <a:ea typeface="メイリオ" panose="020B0604030504040204" pitchFamily="50" charset="-128"/>
                            <a:cs typeface="+mj-cs"/>
                          </a:rPr>
                          <m:t>0</m:t>
                        </m:r>
                      </m:sub>
                    </m:sSub>
                    <m:r>
                      <a:rPr kumimoji="1" lang="en-US" altLang="ja-JP" sz="2400" b="0" i="1" smtClean="0">
                        <a:latin typeface="Cambria Math" panose="02040503050406030204" pitchFamily="18" charset="0"/>
                        <a:ea typeface="メイリオ" panose="020B0604030504040204" pitchFamily="50" charset="-128"/>
                        <a:cs typeface="+mj-cs"/>
                      </a:rPr>
                      <m:t>=</m:t>
                    </m:r>
                    <m:r>
                      <a:rPr kumimoji="1" lang="en-US" altLang="ja-JP" sz="2400" b="0" i="1" smtClean="0">
                        <a:latin typeface="Cambria Math" panose="02040503050406030204" pitchFamily="18" charset="0"/>
                        <a:ea typeface="メイリオ" panose="020B0604030504040204" pitchFamily="50" charset="-128"/>
                        <a:cs typeface="+mj-cs"/>
                      </a:rPr>
                      <m:t>𝐼</m:t>
                    </m:r>
                  </m:oMath>
                </a14:m>
                <a:endParaRPr lang="en-US" sz="2400" dirty="0"/>
              </a:p>
              <a:p>
                <a:endParaRPr lang="en-US" sz="2400" dirty="0"/>
              </a:p>
            </p:txBody>
          </p:sp>
        </mc:Choice>
        <mc:Fallback xmlns="">
          <p:sp>
            <p:nvSpPr>
              <p:cNvPr id="45" name="テキスト ボックス 44">
                <a:extLst>
                  <a:ext uri="{FF2B5EF4-FFF2-40B4-BE49-F238E27FC236}">
                    <a16:creationId xmlns:a16="http://schemas.microsoft.com/office/drawing/2014/main" id="{237CA37B-7159-4E47-9B26-5CCF6052E014}"/>
                  </a:ext>
                </a:extLst>
              </p:cNvPr>
              <p:cNvSpPr txBox="1">
                <a:spLocks noRot="1" noChangeAspect="1" noMove="1" noResize="1" noEditPoints="1" noAdjustHandles="1" noChangeArrowheads="1" noChangeShapeType="1" noTextEdit="1"/>
              </p:cNvSpPr>
              <p:nvPr/>
            </p:nvSpPr>
            <p:spPr>
              <a:xfrm>
                <a:off x="6628955" y="1612021"/>
                <a:ext cx="1400589" cy="830997"/>
              </a:xfrm>
              <a:prstGeom prst="rect">
                <a:avLst/>
              </a:prstGeom>
              <a:blipFill>
                <a:blip r:embed="rId3"/>
                <a:stretch>
                  <a:fillRect l="-6522" t="-80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テキスト ボックス 46">
                <a:extLst>
                  <a:ext uri="{FF2B5EF4-FFF2-40B4-BE49-F238E27FC236}">
                    <a16:creationId xmlns:a16="http://schemas.microsoft.com/office/drawing/2014/main" id="{7B33DA2E-98C7-4187-830C-FBF73E32F211}"/>
                  </a:ext>
                </a:extLst>
              </p:cNvPr>
              <p:cNvSpPr txBox="1"/>
              <p:nvPr/>
            </p:nvSpPr>
            <p:spPr>
              <a:xfrm>
                <a:off x="6701274" y="3035251"/>
                <a:ext cx="4552179" cy="548420"/>
              </a:xfrm>
              <a:prstGeom prst="rect">
                <a:avLst/>
              </a:prstGeom>
              <a:noFill/>
            </p:spPr>
            <p:txBody>
              <a:bodyPr wrap="square">
                <a:spAutoFit/>
              </a:bodyPr>
              <a:lstStyle/>
              <a:p>
                <a:r>
                  <a:rPr kumimoji="1" lang="en-US" altLang="ja-JP" sz="2400" dirty="0">
                    <a:latin typeface="Meiryo UI" panose="020B0604030504040204" pitchFamily="50" charset="-128"/>
                    <a:ea typeface="Meiryo UI" panose="020B0604030504040204" pitchFamily="50" charset="-128"/>
                    <a:cs typeface="+mj-cs"/>
                  </a:rPr>
                  <a:t>2</a:t>
                </a:r>
                <a:r>
                  <a:rPr kumimoji="1" lang="en-US" altLang="ja-JP" sz="2400" b="0" dirty="0">
                    <a:latin typeface="Meiryo UI" panose="020B0604030504040204" pitchFamily="50" charset="-128"/>
                    <a:ea typeface="Meiryo UI" panose="020B0604030504040204" pitchFamily="50" charset="-128"/>
                    <a:cs typeface="+mj-cs"/>
                  </a:rPr>
                  <a:t>.</a:t>
                </a:r>
                <a:r>
                  <a:rPr kumimoji="1" lang="ja-JP" altLang="en-US" sz="2400" b="0" dirty="0">
                    <a:latin typeface="Meiryo UI" panose="020B0604030504040204" pitchFamily="50" charset="-128"/>
                    <a:ea typeface="Meiryo UI" panose="020B0604030504040204" pitchFamily="50" charset="-128"/>
                    <a:cs typeface="+mj-cs"/>
                  </a:rPr>
                  <a:t>反復式で</a:t>
                </a:r>
                <a14:m>
                  <m:oMath xmlns:m="http://schemas.openxmlformats.org/officeDocument/2006/math">
                    <m:sSubSup>
                      <m:sSubSupPr>
                        <m:ctrlPr>
                          <a:rPr kumimoji="1" lang="en-US" altLang="ja-JP" sz="2400" b="0" i="1" smtClean="0">
                            <a:latin typeface="Cambria Math" panose="02040503050406030204" pitchFamily="18" charset="0"/>
                            <a:ea typeface="メイリオ" panose="020B0604030504040204" pitchFamily="50" charset="-128"/>
                            <a:cs typeface="+mj-cs"/>
                          </a:rPr>
                        </m:ctrlPr>
                      </m:sSubSupPr>
                      <m:e>
                        <m:r>
                          <a:rPr kumimoji="1" lang="en-US" altLang="ja-JP" sz="2400" b="0" i="1" smtClean="0">
                            <a:latin typeface="Cambria Math" panose="02040503050406030204" pitchFamily="18" charset="0"/>
                            <a:ea typeface="メイリオ" panose="020B0604030504040204" pitchFamily="50" charset="-128"/>
                            <a:cs typeface="+mj-cs"/>
                          </a:rPr>
                          <m:t>𝐴</m:t>
                        </m:r>
                      </m:e>
                      <m:sub>
                        <m:r>
                          <a:rPr kumimoji="1" lang="en-US" altLang="ja-JP" sz="2400" b="0" i="1" smtClean="0">
                            <a:latin typeface="Cambria Math" panose="02040503050406030204" pitchFamily="18" charset="0"/>
                            <a:ea typeface="メイリオ" panose="020B0604030504040204" pitchFamily="50" charset="-128"/>
                            <a:cs typeface="+mj-cs"/>
                          </a:rPr>
                          <m:t>1</m:t>
                        </m:r>
                      </m:sub>
                      <m:sup>
                        <m:r>
                          <a:rPr kumimoji="1" lang="en-US" altLang="ja-JP" sz="2400" b="0" i="1" smtClean="0">
                            <a:latin typeface="Cambria Math" panose="02040503050406030204" pitchFamily="18" charset="0"/>
                            <a:ea typeface="メイリオ" panose="020B0604030504040204" pitchFamily="50" charset="-128"/>
                            <a:cs typeface="+mj-cs"/>
                          </a:rPr>
                          <m:t>1/</m:t>
                        </m:r>
                        <m:r>
                          <a:rPr kumimoji="1" lang="en-US" altLang="ja-JP" sz="2400" b="0" i="1" smtClean="0">
                            <a:latin typeface="Cambria Math" panose="02040503050406030204" pitchFamily="18" charset="0"/>
                            <a:ea typeface="メイリオ" panose="020B0604030504040204" pitchFamily="50" charset="-128"/>
                            <a:cs typeface="+mj-cs"/>
                          </a:rPr>
                          <m:t>𝑝</m:t>
                        </m:r>
                      </m:sup>
                    </m:sSubSup>
                  </m:oMath>
                </a14:m>
                <a:r>
                  <a:rPr lang="ja-JP" altLang="en-US" sz="2400" dirty="0">
                    <a:latin typeface="Meiryo UI" panose="020B0604030504040204" pitchFamily="50" charset="-128"/>
                    <a:ea typeface="Meiryo UI" panose="020B0604030504040204" pitchFamily="50" charset="-128"/>
                  </a:rPr>
                  <a:t>を求める</a:t>
                </a:r>
                <a:endParaRPr lang="en-US" sz="2400" dirty="0">
                  <a:latin typeface="Meiryo UI" panose="020B0604030504040204" pitchFamily="50" charset="-128"/>
                  <a:ea typeface="Meiryo UI" panose="020B0604030504040204" pitchFamily="50" charset="-128"/>
                </a:endParaRPr>
              </a:p>
            </p:txBody>
          </p:sp>
        </mc:Choice>
        <mc:Fallback xmlns="">
          <p:sp>
            <p:nvSpPr>
              <p:cNvPr id="47" name="テキスト ボックス 46">
                <a:extLst>
                  <a:ext uri="{FF2B5EF4-FFF2-40B4-BE49-F238E27FC236}">
                    <a16:creationId xmlns:a16="http://schemas.microsoft.com/office/drawing/2014/main" id="{7B33DA2E-98C7-4187-830C-FBF73E32F211}"/>
                  </a:ext>
                </a:extLst>
              </p:cNvPr>
              <p:cNvSpPr txBox="1">
                <a:spLocks noRot="1" noChangeAspect="1" noMove="1" noResize="1" noEditPoints="1" noAdjustHandles="1" noChangeArrowheads="1" noChangeShapeType="1" noTextEdit="1"/>
              </p:cNvSpPr>
              <p:nvPr/>
            </p:nvSpPr>
            <p:spPr>
              <a:xfrm>
                <a:off x="6701274" y="3035251"/>
                <a:ext cx="4552179" cy="548420"/>
              </a:xfrm>
              <a:prstGeom prst="rect">
                <a:avLst/>
              </a:prstGeom>
              <a:blipFill>
                <a:blip r:embed="rId4"/>
                <a:stretch>
                  <a:fillRect l="-2008" b="-188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テキスト ボックス 49">
                <a:extLst>
                  <a:ext uri="{FF2B5EF4-FFF2-40B4-BE49-F238E27FC236}">
                    <a16:creationId xmlns:a16="http://schemas.microsoft.com/office/drawing/2014/main" id="{F1B9A134-8FDB-4E62-BDD9-4B9609DC2205}"/>
                  </a:ext>
                </a:extLst>
              </p:cNvPr>
              <p:cNvSpPr txBox="1"/>
              <p:nvPr/>
            </p:nvSpPr>
            <p:spPr>
              <a:xfrm>
                <a:off x="6701274" y="4220090"/>
                <a:ext cx="4552179" cy="451406"/>
              </a:xfrm>
              <a:prstGeom prst="rect">
                <a:avLst/>
              </a:prstGeom>
              <a:noFill/>
            </p:spPr>
            <p:txBody>
              <a:bodyPr wrap="square">
                <a:spAutoFit/>
              </a:bodyPr>
              <a:lstStyle/>
              <a:p>
                <a:pPr>
                  <a:lnSpc>
                    <a:spcPts val="2800"/>
                  </a:lnSpc>
                </a:pPr>
                <a:r>
                  <a:rPr kumimoji="1" lang="en-US" altLang="ja-JP" sz="2400" dirty="0">
                    <a:latin typeface="Meiryo UI" panose="020B0604030504040204" pitchFamily="50" charset="-128"/>
                    <a:ea typeface="Meiryo UI" panose="020B0604030504040204" pitchFamily="50" charset="-128"/>
                    <a:cs typeface="+mj-cs"/>
                  </a:rPr>
                  <a:t>3</a:t>
                </a:r>
                <a:r>
                  <a:rPr kumimoji="1" lang="en-US" altLang="ja-JP" sz="2400" b="0" dirty="0">
                    <a:latin typeface="Meiryo UI" panose="020B0604030504040204" pitchFamily="50" charset="-128"/>
                    <a:ea typeface="Meiryo UI" panose="020B0604030504040204" pitchFamily="50" charset="-128"/>
                    <a:cs typeface="+mj-cs"/>
                  </a:rPr>
                  <a:t>.</a:t>
                </a:r>
                <a:r>
                  <a:rPr kumimoji="1" lang="ja-JP" altLang="en-US" sz="2400" dirty="0">
                    <a:latin typeface="Meiryo UI" panose="020B0604030504040204" pitchFamily="50" charset="-128"/>
                    <a:ea typeface="Meiryo UI" panose="020B0604030504040204" pitchFamily="50" charset="-128"/>
                    <a:cs typeface="+mj-cs"/>
                  </a:rPr>
                  <a:t>目標の</a:t>
                </a:r>
                <a14:m>
                  <m:oMath xmlns:m="http://schemas.openxmlformats.org/officeDocument/2006/math">
                    <m:sSup>
                      <m:sSupPr>
                        <m:ctrlPr>
                          <a:rPr kumimoji="1" lang="en-US" altLang="zh-CN" sz="2400" i="1">
                            <a:latin typeface="Cambria Math" panose="02040503050406030204" pitchFamily="18" charset="0"/>
                            <a:ea typeface="メイリオ" panose="020B0604030504040204" pitchFamily="50" charset="-128"/>
                          </a:rPr>
                        </m:ctrlPr>
                      </m:sSupPr>
                      <m:e>
                        <m:r>
                          <a:rPr kumimoji="1" lang="en-US" altLang="zh-CN" sz="2400" i="1">
                            <a:latin typeface="Cambria Math" panose="02040503050406030204" pitchFamily="18" charset="0"/>
                            <a:ea typeface="メイリオ" panose="020B0604030504040204" pitchFamily="50" charset="-128"/>
                          </a:rPr>
                          <m:t>𝐴</m:t>
                        </m:r>
                      </m:e>
                      <m:sup>
                        <m:r>
                          <a:rPr kumimoji="1" lang="en-US" altLang="zh-CN" sz="2400" b="0" i="1" smtClean="0">
                            <a:latin typeface="Cambria Math" panose="02040503050406030204" pitchFamily="18" charset="0"/>
                            <a:ea typeface="メイリオ" panose="020B0604030504040204" pitchFamily="50" charset="-128"/>
                          </a:rPr>
                          <m:t>1/</m:t>
                        </m:r>
                        <m:r>
                          <a:rPr kumimoji="1" lang="en-US" altLang="zh-CN" sz="2400" b="0" i="1" smtClean="0">
                            <a:latin typeface="Cambria Math" panose="02040503050406030204" pitchFamily="18" charset="0"/>
                            <a:ea typeface="メイリオ" panose="020B0604030504040204" pitchFamily="50" charset="-128"/>
                          </a:rPr>
                          <m:t>𝑝</m:t>
                        </m:r>
                      </m:sup>
                    </m:sSup>
                    <m:r>
                      <a:rPr kumimoji="1" lang="en-US" altLang="zh-CN" sz="2400" i="1">
                        <a:latin typeface="Cambria Math" panose="02040503050406030204" pitchFamily="18" charset="0"/>
                        <a:ea typeface="メイリオ" panose="020B0604030504040204" pitchFamily="50" charset="-128"/>
                      </a:rPr>
                      <m:t> </m:t>
                    </m:r>
                  </m:oMath>
                </a14:m>
                <a:r>
                  <a:rPr lang="ja-JP" altLang="en-US" sz="2400" dirty="0">
                    <a:latin typeface="Meiryo UI" panose="020B0604030504040204" pitchFamily="50" charset="-128"/>
                    <a:ea typeface="Meiryo UI" panose="020B0604030504040204" pitchFamily="50" charset="-128"/>
                  </a:rPr>
                  <a:t>を求める</a:t>
                </a:r>
                <a:endParaRPr lang="en-US" altLang="ja-JP" sz="2400" dirty="0">
                  <a:latin typeface="Meiryo UI" panose="020B0604030504040204" pitchFamily="50" charset="-128"/>
                  <a:ea typeface="Meiryo UI" panose="020B0604030504040204" pitchFamily="50" charset="-128"/>
                </a:endParaRPr>
              </a:p>
            </p:txBody>
          </p:sp>
        </mc:Choice>
        <mc:Fallback xmlns="">
          <p:sp>
            <p:nvSpPr>
              <p:cNvPr id="50" name="テキスト ボックス 49">
                <a:extLst>
                  <a:ext uri="{FF2B5EF4-FFF2-40B4-BE49-F238E27FC236}">
                    <a16:creationId xmlns:a16="http://schemas.microsoft.com/office/drawing/2014/main" id="{F1B9A134-8FDB-4E62-BDD9-4B9609DC2205}"/>
                  </a:ext>
                </a:extLst>
              </p:cNvPr>
              <p:cNvSpPr txBox="1">
                <a:spLocks noRot="1" noChangeAspect="1" noMove="1" noResize="1" noEditPoints="1" noAdjustHandles="1" noChangeArrowheads="1" noChangeShapeType="1" noTextEdit="1"/>
              </p:cNvSpPr>
              <p:nvPr/>
            </p:nvSpPr>
            <p:spPr>
              <a:xfrm>
                <a:off x="6701274" y="4220090"/>
                <a:ext cx="4552179" cy="451406"/>
              </a:xfrm>
              <a:prstGeom prst="rect">
                <a:avLst/>
              </a:prstGeom>
              <a:blipFill>
                <a:blip r:embed="rId5"/>
                <a:stretch>
                  <a:fillRect l="-2008" t="-14865" b="-28378"/>
                </a:stretch>
              </a:blipFill>
            </p:spPr>
            <p:txBody>
              <a:bodyPr/>
              <a:lstStyle/>
              <a:p>
                <a:r>
                  <a:rPr lang="en-US">
                    <a:noFill/>
                  </a:rPr>
                  <a:t> </a:t>
                </a:r>
              </a:p>
            </p:txBody>
          </p:sp>
        </mc:Fallback>
      </mc:AlternateContent>
      <p:pic>
        <p:nvPicPr>
          <p:cNvPr id="15" name="図 14">
            <a:extLst>
              <a:ext uri="{FF2B5EF4-FFF2-40B4-BE49-F238E27FC236}">
                <a16:creationId xmlns:a16="http://schemas.microsoft.com/office/drawing/2014/main" id="{B9930508-5BAF-4429-9168-69824F94AC7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023169" y="4671496"/>
            <a:ext cx="3441434" cy="436885"/>
          </a:xfrm>
          <a:prstGeom prst="rect">
            <a:avLst/>
          </a:prstGeom>
        </p:spPr>
      </p:pic>
      <p:pic>
        <p:nvPicPr>
          <p:cNvPr id="30" name="図 29">
            <a:extLst>
              <a:ext uri="{FF2B5EF4-FFF2-40B4-BE49-F238E27FC236}">
                <a16:creationId xmlns:a16="http://schemas.microsoft.com/office/drawing/2014/main" id="{BC61128E-7D4D-4B62-9BB7-85AB43A15E9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926002" y="2125477"/>
            <a:ext cx="2656416" cy="377374"/>
          </a:xfrm>
          <a:prstGeom prst="rect">
            <a:avLst/>
          </a:prstGeom>
        </p:spPr>
      </p:pic>
      <p:grpSp>
        <p:nvGrpSpPr>
          <p:cNvPr id="11" name="グループ化 10">
            <a:extLst>
              <a:ext uri="{FF2B5EF4-FFF2-40B4-BE49-F238E27FC236}">
                <a16:creationId xmlns:a16="http://schemas.microsoft.com/office/drawing/2014/main" id="{73BAEB73-F6EF-4E3D-9FAC-345AC8CA8FF1}"/>
              </a:ext>
            </a:extLst>
          </p:cNvPr>
          <p:cNvGrpSpPr/>
          <p:nvPr/>
        </p:nvGrpSpPr>
        <p:grpSpPr>
          <a:xfrm>
            <a:off x="538075" y="2064120"/>
            <a:ext cx="4606258" cy="2424303"/>
            <a:chOff x="538075" y="2064120"/>
            <a:chExt cx="4606258" cy="2424303"/>
          </a:xfrm>
        </p:grpSpPr>
        <p:sp>
          <p:nvSpPr>
            <p:cNvPr id="3" name="矢印: 下 2">
              <a:extLst>
                <a:ext uri="{FF2B5EF4-FFF2-40B4-BE49-F238E27FC236}">
                  <a16:creationId xmlns:a16="http://schemas.microsoft.com/office/drawing/2014/main" id="{B2228528-54A0-4600-80CD-D70314F2C9B3}"/>
                </a:ext>
              </a:extLst>
            </p:cNvPr>
            <p:cNvSpPr/>
            <p:nvPr/>
          </p:nvSpPr>
          <p:spPr>
            <a:xfrm>
              <a:off x="2577542" y="2064120"/>
              <a:ext cx="353085" cy="50926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グループ化 9">
              <a:extLst>
                <a:ext uri="{FF2B5EF4-FFF2-40B4-BE49-F238E27FC236}">
                  <a16:creationId xmlns:a16="http://schemas.microsoft.com/office/drawing/2014/main" id="{5BC23297-6DC8-4F7B-9330-77813482D5EF}"/>
                </a:ext>
              </a:extLst>
            </p:cNvPr>
            <p:cNvGrpSpPr/>
            <p:nvPr/>
          </p:nvGrpSpPr>
          <p:grpSpPr>
            <a:xfrm>
              <a:off x="538075" y="2573385"/>
              <a:ext cx="4606258" cy="1915038"/>
              <a:chOff x="510688" y="2340016"/>
              <a:chExt cx="4606258" cy="1915038"/>
            </a:xfrm>
          </p:grpSpPr>
          <p:sp>
            <p:nvSpPr>
              <p:cNvPr id="25" name="テキスト ボックス 24">
                <a:extLst>
                  <a:ext uri="{FF2B5EF4-FFF2-40B4-BE49-F238E27FC236}">
                    <a16:creationId xmlns:a16="http://schemas.microsoft.com/office/drawing/2014/main" id="{B6AF5310-332F-4554-8416-C2FC43DBEB9C}"/>
                  </a:ext>
                </a:extLst>
              </p:cNvPr>
              <p:cNvSpPr txBox="1"/>
              <p:nvPr/>
            </p:nvSpPr>
            <p:spPr>
              <a:xfrm>
                <a:off x="510688" y="2641975"/>
                <a:ext cx="4606258" cy="1613079"/>
              </a:xfrm>
              <a:prstGeom prst="rect">
                <a:avLst/>
              </a:prstGeom>
              <a:noFill/>
              <a:ln w="28575">
                <a:solidFill>
                  <a:srgbClr val="FF0000"/>
                </a:solidFill>
              </a:ln>
            </p:spPr>
            <p:txBody>
              <a:bodyPr wrap="square">
                <a:spAutoFit/>
              </a:bodyPr>
              <a:lstStyle/>
              <a:p>
                <a:pPr>
                  <a:lnSpc>
                    <a:spcPct val="130000"/>
                  </a:lnSpc>
                  <a:spcBef>
                    <a:spcPct val="0"/>
                  </a:spcBef>
                </a:pPr>
                <a:endParaRPr kumimoji="1" lang="en-US" altLang="zh-CN" sz="2400" dirty="0">
                  <a:latin typeface="メイリオ" panose="020B0604030504040204" pitchFamily="50" charset="-128"/>
                  <a:ea typeface="メイリオ" panose="020B0604030504040204" pitchFamily="50" charset="-128"/>
                  <a:cs typeface="+mj-cs"/>
                </a:endParaRPr>
              </a:p>
            </p:txBody>
          </p:sp>
          <mc:AlternateContent xmlns:mc="http://schemas.openxmlformats.org/markup-compatibility/2006" xmlns:a14="http://schemas.microsoft.com/office/drawing/2010/main">
            <mc:Choice Requires="a14">
              <p:sp>
                <p:nvSpPr>
                  <p:cNvPr id="21" name="テキスト ボックス 20">
                    <a:extLst>
                      <a:ext uri="{FF2B5EF4-FFF2-40B4-BE49-F238E27FC236}">
                        <a16:creationId xmlns:a16="http://schemas.microsoft.com/office/drawing/2014/main" id="{13BC8219-73CB-4771-91D7-1EEF2F83F967}"/>
                      </a:ext>
                    </a:extLst>
                  </p:cNvPr>
                  <p:cNvSpPr txBox="1"/>
                  <p:nvPr/>
                </p:nvSpPr>
                <p:spPr>
                  <a:xfrm>
                    <a:off x="695932" y="2340016"/>
                    <a:ext cx="3870351" cy="544765"/>
                  </a:xfrm>
                  <a:prstGeom prst="rect">
                    <a:avLst/>
                  </a:prstGeom>
                  <a:solidFill>
                    <a:schemeClr val="bg1"/>
                  </a:solidFill>
                </p:spPr>
                <p:txBody>
                  <a:bodyPr wrap="square">
                    <a:spAutoFit/>
                  </a:bodyPr>
                  <a:lstStyle/>
                  <a:p>
                    <a:pPr>
                      <a:lnSpc>
                        <a:spcPct val="130000"/>
                      </a:lnSpc>
                      <a:spcBef>
                        <a:spcPct val="0"/>
                      </a:spcBef>
                    </a:pPr>
                    <a:r>
                      <a:rPr kumimoji="1" lang="ja-JP" altLang="en-US" sz="2400" dirty="0">
                        <a:solidFill>
                          <a:schemeClr val="tx1"/>
                        </a:solidFill>
                        <a:latin typeface="メイリオ" panose="020B0604030504040204" pitchFamily="50" charset="-128"/>
                        <a:ea typeface="メイリオ" panose="020B0604030504040204" pitchFamily="50" charset="-128"/>
                        <a:cs typeface="+mj-cs"/>
                      </a:rPr>
                      <a:t>主 </a:t>
                    </a:r>
                    <a14:m>
                      <m:oMath xmlns:m="http://schemas.openxmlformats.org/officeDocument/2006/math">
                        <m:r>
                          <a:rPr kumimoji="1" lang="en-US" altLang="ja-JP" sz="2400" i="1" dirty="0" smtClean="0">
                            <a:solidFill>
                              <a:schemeClr val="tx1"/>
                            </a:solidFill>
                            <a:latin typeface="Cambria Math" panose="02040503050406030204" pitchFamily="18" charset="0"/>
                            <a:ea typeface="メイリオ" panose="020B0604030504040204" pitchFamily="50" charset="-128"/>
                            <a:cs typeface="+mj-cs"/>
                          </a:rPr>
                          <m:t>𝑝</m:t>
                        </m:r>
                      </m:oMath>
                    </a14:m>
                    <a:r>
                      <a:rPr kumimoji="1" lang="ja-JP" altLang="en-US" sz="2400" dirty="0">
                        <a:solidFill>
                          <a:schemeClr val="tx1"/>
                        </a:solidFill>
                        <a:latin typeface="メイリオ" panose="020B0604030504040204" pitchFamily="50" charset="-128"/>
                        <a:ea typeface="メイリオ" panose="020B0604030504040204" pitchFamily="50" charset="-128"/>
                        <a:cs typeface="+mj-cs"/>
                      </a:rPr>
                      <a:t> 乗根</a:t>
                    </a:r>
                    <a:r>
                      <a:rPr kumimoji="1" lang="ja-JP" altLang="en-US" sz="2400" dirty="0">
                        <a:latin typeface="メイリオ" panose="020B0604030504040204" pitchFamily="50" charset="-128"/>
                        <a:ea typeface="メイリオ" panose="020B0604030504040204" pitchFamily="50" charset="-128"/>
                        <a:cs typeface="+mj-cs"/>
                      </a:rPr>
                      <a:t>へ収束する条件</a:t>
                    </a:r>
                    <a:r>
                      <a:rPr kumimoji="1" lang="en-US" altLang="ja-JP" sz="2400" dirty="0">
                        <a:latin typeface="メイリオ" panose="020B0604030504040204" pitchFamily="50" charset="-128"/>
                        <a:ea typeface="メイリオ" panose="020B0604030504040204" pitchFamily="50" charset="-128"/>
                        <a:cs typeface="+mj-cs"/>
                      </a:rPr>
                      <a:t>:</a:t>
                    </a:r>
                  </a:p>
                </p:txBody>
              </p:sp>
            </mc:Choice>
            <mc:Fallback xmlns="">
              <p:sp>
                <p:nvSpPr>
                  <p:cNvPr id="21" name="テキスト ボックス 20">
                    <a:extLst>
                      <a:ext uri="{FF2B5EF4-FFF2-40B4-BE49-F238E27FC236}">
                        <a16:creationId xmlns:a16="http://schemas.microsoft.com/office/drawing/2014/main" id="{13BC8219-73CB-4771-91D7-1EEF2F83F967}"/>
                      </a:ext>
                    </a:extLst>
                  </p:cNvPr>
                  <p:cNvSpPr txBox="1">
                    <a:spLocks noRot="1" noChangeAspect="1" noMove="1" noResize="1" noEditPoints="1" noAdjustHandles="1" noChangeArrowheads="1" noChangeShapeType="1" noTextEdit="1"/>
                  </p:cNvSpPr>
                  <p:nvPr/>
                </p:nvSpPr>
                <p:spPr>
                  <a:xfrm>
                    <a:off x="695932" y="2340016"/>
                    <a:ext cx="3870351" cy="544765"/>
                  </a:xfrm>
                  <a:prstGeom prst="rect">
                    <a:avLst/>
                  </a:prstGeom>
                  <a:blipFill>
                    <a:blip r:embed="rId8"/>
                    <a:stretch>
                      <a:fillRect l="-2520" b="-2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テキスト ボックス 22">
                    <a:extLst>
                      <a:ext uri="{FF2B5EF4-FFF2-40B4-BE49-F238E27FC236}">
                        <a16:creationId xmlns:a16="http://schemas.microsoft.com/office/drawing/2014/main" id="{1A43C9E0-B486-4723-B885-35EAC4BC912E}"/>
                      </a:ext>
                    </a:extLst>
                  </p:cNvPr>
                  <p:cNvSpPr txBox="1"/>
                  <p:nvPr/>
                </p:nvSpPr>
                <p:spPr>
                  <a:xfrm>
                    <a:off x="623507" y="2812964"/>
                    <a:ext cx="4064784" cy="1024896"/>
                  </a:xfrm>
                  <a:prstGeom prst="rect">
                    <a:avLst/>
                  </a:prstGeom>
                  <a:noFill/>
                </p:spPr>
                <p:txBody>
                  <a:bodyPr wrap="square">
                    <a:spAutoFit/>
                  </a:bodyPr>
                  <a:lstStyle/>
                  <a:p>
                    <a:pPr>
                      <a:lnSpc>
                        <a:spcPct val="130000"/>
                      </a:lnSpc>
                      <a:spcBef>
                        <a:spcPct val="0"/>
                      </a:spcBef>
                    </a:pPr>
                    <a14:m>
                      <m:oMath xmlns:m="http://schemas.openxmlformats.org/officeDocument/2006/math">
                        <m:r>
                          <a:rPr kumimoji="1" lang="en-US" altLang="zh-CN" sz="2400" i="1" smtClean="0">
                            <a:solidFill>
                              <a:schemeClr val="tx1"/>
                            </a:solidFill>
                            <a:latin typeface="Cambria Math" panose="02040503050406030204" pitchFamily="18" charset="0"/>
                            <a:ea typeface="メイリオ" panose="020B0604030504040204" pitchFamily="50" charset="-128"/>
                          </a:rPr>
                          <m:t>𝐴</m:t>
                        </m:r>
                      </m:oMath>
                    </a14:m>
                    <a:r>
                      <a:rPr kumimoji="1" lang="ja-JP" altLang="en-US" sz="2400" dirty="0">
                        <a:solidFill>
                          <a:schemeClr val="tx1"/>
                        </a:solidFill>
                        <a:latin typeface="メイリオ" panose="020B0604030504040204" pitchFamily="50" charset="-128"/>
                        <a:ea typeface="メイリオ" panose="020B0604030504040204" pitchFamily="50" charset="-128"/>
                        <a:cs typeface="+mj-cs"/>
                      </a:rPr>
                      <a:t> の全固有値は</a:t>
                    </a:r>
                    <a:endParaRPr kumimoji="1" lang="en-US" altLang="ja-JP" sz="2400" dirty="0">
                      <a:solidFill>
                        <a:schemeClr val="tx1"/>
                      </a:solidFill>
                      <a:latin typeface="メイリオ" panose="020B0604030504040204" pitchFamily="50" charset="-128"/>
                      <a:ea typeface="メイリオ" panose="020B0604030504040204" pitchFamily="50" charset="-128"/>
                      <a:cs typeface="+mj-cs"/>
                    </a:endParaRPr>
                  </a:p>
                  <a:p>
                    <a:pPr>
                      <a:lnSpc>
                        <a:spcPct val="130000"/>
                      </a:lnSpc>
                      <a:spcBef>
                        <a:spcPct val="0"/>
                      </a:spcBef>
                    </a:pPr>
                    <a:r>
                      <a:rPr kumimoji="1" lang="ja-JP" altLang="en-US" sz="2400" dirty="0">
                        <a:solidFill>
                          <a:schemeClr val="tx1"/>
                        </a:solidFill>
                        <a:latin typeface="メイリオ" panose="020B0604030504040204" pitchFamily="50" charset="-128"/>
                        <a:ea typeface="メイリオ" panose="020B0604030504040204" pitchFamily="50" charset="-128"/>
                        <a:cs typeface="+mj-cs"/>
                      </a:rPr>
                      <a:t>　　　　　　　　　　　</a:t>
                    </a:r>
                    <a:endParaRPr kumimoji="1" lang="en-US" altLang="ja-JP" sz="2400" dirty="0">
                      <a:solidFill>
                        <a:schemeClr val="tx1"/>
                      </a:solidFill>
                      <a:latin typeface="メイリオ" panose="020B0604030504040204" pitchFamily="50" charset="-128"/>
                      <a:ea typeface="メイリオ" panose="020B0604030504040204" pitchFamily="50" charset="-128"/>
                      <a:cs typeface="+mj-cs"/>
                    </a:endParaRPr>
                  </a:p>
                </p:txBody>
              </p:sp>
            </mc:Choice>
            <mc:Fallback xmlns="">
              <p:sp>
                <p:nvSpPr>
                  <p:cNvPr id="23" name="テキスト ボックス 22">
                    <a:extLst>
                      <a:ext uri="{FF2B5EF4-FFF2-40B4-BE49-F238E27FC236}">
                        <a16:creationId xmlns:a16="http://schemas.microsoft.com/office/drawing/2014/main" id="{1A43C9E0-B486-4723-B885-35EAC4BC912E}"/>
                      </a:ext>
                    </a:extLst>
                  </p:cNvPr>
                  <p:cNvSpPr txBox="1">
                    <a:spLocks noRot="1" noChangeAspect="1" noMove="1" noResize="1" noEditPoints="1" noAdjustHandles="1" noChangeArrowheads="1" noChangeShapeType="1" noTextEdit="1"/>
                  </p:cNvSpPr>
                  <p:nvPr/>
                </p:nvSpPr>
                <p:spPr>
                  <a:xfrm>
                    <a:off x="623507" y="2812964"/>
                    <a:ext cx="4064784" cy="1024896"/>
                  </a:xfrm>
                  <a:prstGeom prst="rect">
                    <a:avLst/>
                  </a:prstGeom>
                  <a:blipFill>
                    <a:blip r:embed="rId9"/>
                    <a:stretch>
                      <a:fillRect l="-450"/>
                    </a:stretch>
                  </a:blipFill>
                </p:spPr>
                <p:txBody>
                  <a:bodyPr/>
                  <a:lstStyle/>
                  <a:p>
                    <a:r>
                      <a:rPr lang="en-US">
                        <a:noFill/>
                      </a:rPr>
                      <a:t> </a:t>
                    </a:r>
                  </a:p>
                </p:txBody>
              </p:sp>
            </mc:Fallback>
          </mc:AlternateContent>
          <p:pic>
            <p:nvPicPr>
              <p:cNvPr id="4" name="図 3">
                <a:extLst>
                  <a:ext uri="{FF2B5EF4-FFF2-40B4-BE49-F238E27FC236}">
                    <a16:creationId xmlns:a16="http://schemas.microsoft.com/office/drawing/2014/main" id="{48712251-9544-43D1-98DE-7D3CB1A3326D}"/>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95932" y="3387598"/>
                <a:ext cx="3517793" cy="321842"/>
              </a:xfrm>
              <a:prstGeom prst="rect">
                <a:avLst/>
              </a:prstGeom>
            </p:spPr>
          </p:pic>
          <p:sp>
            <p:nvSpPr>
              <p:cNvPr id="27" name="テキスト ボックス 26">
                <a:extLst>
                  <a:ext uri="{FF2B5EF4-FFF2-40B4-BE49-F238E27FC236}">
                    <a16:creationId xmlns:a16="http://schemas.microsoft.com/office/drawing/2014/main" id="{1897B351-8CC4-403C-81FB-E11E17B368DE}"/>
                  </a:ext>
                </a:extLst>
              </p:cNvPr>
              <p:cNvSpPr txBox="1"/>
              <p:nvPr/>
            </p:nvSpPr>
            <p:spPr>
              <a:xfrm>
                <a:off x="605274" y="3708093"/>
                <a:ext cx="1863949" cy="544765"/>
              </a:xfrm>
              <a:prstGeom prst="rect">
                <a:avLst/>
              </a:prstGeom>
              <a:noFill/>
            </p:spPr>
            <p:txBody>
              <a:bodyPr wrap="square">
                <a:spAutoFit/>
              </a:bodyPr>
              <a:lstStyle/>
              <a:p>
                <a:pPr>
                  <a:lnSpc>
                    <a:spcPct val="130000"/>
                  </a:lnSpc>
                  <a:spcBef>
                    <a:spcPct val="0"/>
                  </a:spcBef>
                </a:pPr>
                <a:r>
                  <a:rPr kumimoji="1" lang="ja-JP" altLang="en-US" sz="2400" dirty="0">
                    <a:solidFill>
                      <a:schemeClr val="tx1"/>
                    </a:solidFill>
                    <a:latin typeface="メイリオ" panose="020B0604030504040204" pitchFamily="50" charset="-128"/>
                    <a:ea typeface="メイリオ" panose="020B0604030504040204" pitchFamily="50" charset="-128"/>
                    <a:cs typeface="+mj-cs"/>
                  </a:rPr>
                  <a:t>に含まれる</a:t>
                </a:r>
                <a:endParaRPr kumimoji="1" lang="en-US" altLang="zh-CN" sz="2400" dirty="0">
                  <a:solidFill>
                    <a:schemeClr val="tx1"/>
                  </a:solidFill>
                  <a:latin typeface="メイリオ" panose="020B0604030504040204" pitchFamily="50" charset="-128"/>
                  <a:ea typeface="メイリオ" panose="020B0604030504040204" pitchFamily="50" charset="-128"/>
                  <a:cs typeface="+mj-cs"/>
                </a:endParaRPr>
              </a:p>
            </p:txBody>
          </p:sp>
        </p:grpSp>
      </p:grpSp>
      <p:grpSp>
        <p:nvGrpSpPr>
          <p:cNvPr id="14" name="グループ化 13">
            <a:extLst>
              <a:ext uri="{FF2B5EF4-FFF2-40B4-BE49-F238E27FC236}">
                <a16:creationId xmlns:a16="http://schemas.microsoft.com/office/drawing/2014/main" id="{B8CBAF89-4761-44E7-878F-96C276DCD1B2}"/>
              </a:ext>
            </a:extLst>
          </p:cNvPr>
          <p:cNvGrpSpPr/>
          <p:nvPr/>
        </p:nvGrpSpPr>
        <p:grpSpPr>
          <a:xfrm>
            <a:off x="538075" y="4096239"/>
            <a:ext cx="5125376" cy="2090041"/>
            <a:chOff x="538075" y="4096239"/>
            <a:chExt cx="5125376" cy="2090041"/>
          </a:xfrm>
        </p:grpSpPr>
        <p:pic>
          <p:nvPicPr>
            <p:cNvPr id="12" name="図 11">
              <a:extLst>
                <a:ext uri="{FF2B5EF4-FFF2-40B4-BE49-F238E27FC236}">
                  <a16:creationId xmlns:a16="http://schemas.microsoft.com/office/drawing/2014/main" id="{3CE54B8F-1ABC-4317-8191-5D803AADB10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32352" y="5557601"/>
              <a:ext cx="2656416" cy="377374"/>
            </a:xfrm>
            <a:prstGeom prst="rect">
              <a:avLst/>
            </a:prstGeom>
          </p:spPr>
        </p:pic>
        <p:grpSp>
          <p:nvGrpSpPr>
            <p:cNvPr id="13" name="グループ化 12">
              <a:extLst>
                <a:ext uri="{FF2B5EF4-FFF2-40B4-BE49-F238E27FC236}">
                  <a16:creationId xmlns:a16="http://schemas.microsoft.com/office/drawing/2014/main" id="{7E2930A0-0FE9-4CC1-B5F3-3CBA7E978BEF}"/>
                </a:ext>
              </a:extLst>
            </p:cNvPr>
            <p:cNvGrpSpPr/>
            <p:nvPr/>
          </p:nvGrpSpPr>
          <p:grpSpPr>
            <a:xfrm>
              <a:off x="538075" y="4096239"/>
              <a:ext cx="5125376" cy="2090041"/>
              <a:chOff x="538075" y="4096239"/>
              <a:chExt cx="5125376" cy="2090041"/>
            </a:xfrm>
          </p:grpSpPr>
          <p:sp>
            <p:nvSpPr>
              <p:cNvPr id="37" name="テキスト ボックス 36">
                <a:extLst>
                  <a:ext uri="{FF2B5EF4-FFF2-40B4-BE49-F238E27FC236}">
                    <a16:creationId xmlns:a16="http://schemas.microsoft.com/office/drawing/2014/main" id="{6EF56954-84DA-4D76-BE4D-A2A6D49BE93E}"/>
                  </a:ext>
                </a:extLst>
              </p:cNvPr>
              <p:cNvSpPr txBox="1"/>
              <p:nvPr/>
            </p:nvSpPr>
            <p:spPr>
              <a:xfrm>
                <a:off x="538075" y="5223711"/>
                <a:ext cx="4606258" cy="962569"/>
              </a:xfrm>
              <a:prstGeom prst="rect">
                <a:avLst/>
              </a:prstGeom>
              <a:noFill/>
              <a:ln w="28575">
                <a:solidFill>
                  <a:srgbClr val="FF0000"/>
                </a:solidFill>
              </a:ln>
            </p:spPr>
            <p:txBody>
              <a:bodyPr wrap="square">
                <a:spAutoFit/>
              </a:bodyPr>
              <a:lstStyle/>
              <a:p>
                <a:pPr>
                  <a:lnSpc>
                    <a:spcPts val="2800"/>
                  </a:lnSpc>
                  <a:spcBef>
                    <a:spcPct val="0"/>
                  </a:spcBef>
                </a:pPr>
                <a:endParaRPr kumimoji="1" lang="en-US" altLang="ja-JP" sz="2400" dirty="0">
                  <a:latin typeface="メイリオ" panose="020B0604030504040204" pitchFamily="50" charset="-128"/>
                  <a:ea typeface="メイリオ" panose="020B0604030504040204" pitchFamily="50" charset="-128"/>
                  <a:cs typeface="+mj-cs"/>
                </a:endParaRPr>
              </a:p>
            </p:txBody>
          </p:sp>
          <p:sp>
            <p:nvSpPr>
              <p:cNvPr id="8" name="矢印: 左カーブ 7">
                <a:extLst>
                  <a:ext uri="{FF2B5EF4-FFF2-40B4-BE49-F238E27FC236}">
                    <a16:creationId xmlns:a16="http://schemas.microsoft.com/office/drawing/2014/main" id="{24BF5DCF-A40D-4992-8D6B-6F5947B47190}"/>
                  </a:ext>
                </a:extLst>
              </p:cNvPr>
              <p:cNvSpPr/>
              <p:nvPr/>
            </p:nvSpPr>
            <p:spPr>
              <a:xfrm flipV="1">
                <a:off x="5171719" y="4096239"/>
                <a:ext cx="491732" cy="1348966"/>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9" name="テキスト ボックス 28">
                <a:extLst>
                  <a:ext uri="{FF2B5EF4-FFF2-40B4-BE49-F238E27FC236}">
                    <a16:creationId xmlns:a16="http://schemas.microsoft.com/office/drawing/2014/main" id="{E8DC0249-28EE-4F95-9C33-3F3E23AD2A7C}"/>
                  </a:ext>
                </a:extLst>
              </p:cNvPr>
              <p:cNvSpPr txBox="1"/>
              <p:nvPr/>
            </p:nvSpPr>
            <p:spPr>
              <a:xfrm>
                <a:off x="3520367" y="4588136"/>
                <a:ext cx="2091831" cy="461665"/>
              </a:xfrm>
              <a:prstGeom prst="rect">
                <a:avLst/>
              </a:prstGeom>
              <a:noFill/>
            </p:spPr>
            <p:txBody>
              <a:bodyPr wrap="square">
                <a:spAutoFit/>
              </a:bodyPr>
              <a:lstStyle/>
              <a:p>
                <a:r>
                  <a:rPr kumimoji="1" lang="ja-JP" altLang="en-US" sz="2400" dirty="0">
                    <a:latin typeface="メイリオ" panose="020B0604030504040204" pitchFamily="50" charset="-128"/>
                    <a:ea typeface="メイリオ" panose="020B0604030504040204" pitchFamily="50" charset="-128"/>
                    <a:cs typeface="+mj-cs"/>
                  </a:rPr>
                  <a:t>条件を満たす</a:t>
                </a:r>
                <a:endParaRPr lang="en-US" sz="2400" dirty="0"/>
              </a:p>
            </p:txBody>
          </p:sp>
          <mc:AlternateContent xmlns:mc="http://schemas.openxmlformats.org/markup-compatibility/2006" xmlns:a14="http://schemas.microsoft.com/office/drawing/2010/main">
            <mc:Choice Requires="a14">
              <p:sp>
                <p:nvSpPr>
                  <p:cNvPr id="31" name="テキスト ボックス 30">
                    <a:extLst>
                      <a:ext uri="{FF2B5EF4-FFF2-40B4-BE49-F238E27FC236}">
                        <a16:creationId xmlns:a16="http://schemas.microsoft.com/office/drawing/2014/main" id="{B15D68A1-2F7F-4CDF-85B0-1DC9584F5779}"/>
                      </a:ext>
                    </a:extLst>
                  </p:cNvPr>
                  <p:cNvSpPr txBox="1"/>
                  <p:nvPr/>
                </p:nvSpPr>
                <p:spPr>
                  <a:xfrm>
                    <a:off x="732352" y="4991235"/>
                    <a:ext cx="1863066" cy="453970"/>
                  </a:xfrm>
                  <a:prstGeom prst="rect">
                    <a:avLst/>
                  </a:prstGeom>
                  <a:solidFill>
                    <a:schemeClr val="bg1"/>
                  </a:solidFill>
                </p:spPr>
                <p:txBody>
                  <a:bodyPr wrap="square">
                    <a:spAutoFit/>
                  </a:bodyPr>
                  <a:lstStyle/>
                  <a:p>
                    <a:pPr>
                      <a:lnSpc>
                        <a:spcPts val="2800"/>
                      </a:lnSpc>
                      <a:spcBef>
                        <a:spcPct val="0"/>
                      </a:spcBef>
                    </a:pPr>
                    <a14:m>
                      <m:oMath xmlns:m="http://schemas.openxmlformats.org/officeDocument/2006/math">
                        <m:r>
                          <a:rPr kumimoji="1" lang="en-US" altLang="ja-JP" sz="2400" i="1" smtClean="0">
                            <a:latin typeface="Cambria Math" panose="02040503050406030204" pitchFamily="18" charset="0"/>
                            <a:ea typeface="メイリオ" panose="020B0604030504040204" pitchFamily="50" charset="-128"/>
                            <a:cs typeface="+mj-cs"/>
                          </a:rPr>
                          <m:t>𝐴</m:t>
                        </m:r>
                      </m:oMath>
                    </a14:m>
                    <a:r>
                      <a:rPr kumimoji="1" lang="ja-JP" altLang="en-US" sz="2400" dirty="0">
                        <a:latin typeface="メイリオ" panose="020B0604030504040204" pitchFamily="50" charset="-128"/>
                        <a:ea typeface="メイリオ" panose="020B0604030504040204" pitchFamily="50" charset="-128"/>
                        <a:cs typeface="+mj-cs"/>
                      </a:rPr>
                      <a:t> の前処理</a:t>
                    </a:r>
                    <a:endParaRPr kumimoji="1" lang="en-US" altLang="ja-JP" sz="2400" dirty="0">
                      <a:latin typeface="メイリオ" panose="020B0604030504040204" pitchFamily="50" charset="-128"/>
                      <a:ea typeface="メイリオ" panose="020B0604030504040204" pitchFamily="50" charset="-128"/>
                      <a:cs typeface="+mj-cs"/>
                    </a:endParaRPr>
                  </a:p>
                </p:txBody>
              </p:sp>
            </mc:Choice>
            <mc:Fallback xmlns="">
              <p:sp>
                <p:nvSpPr>
                  <p:cNvPr id="31" name="テキスト ボックス 30">
                    <a:extLst>
                      <a:ext uri="{FF2B5EF4-FFF2-40B4-BE49-F238E27FC236}">
                        <a16:creationId xmlns:a16="http://schemas.microsoft.com/office/drawing/2014/main" id="{B15D68A1-2F7F-4CDF-85B0-1DC9584F5779}"/>
                      </a:ext>
                    </a:extLst>
                  </p:cNvPr>
                  <p:cNvSpPr txBox="1">
                    <a:spLocks noRot="1" noChangeAspect="1" noMove="1" noResize="1" noEditPoints="1" noAdjustHandles="1" noChangeArrowheads="1" noChangeShapeType="1" noTextEdit="1"/>
                  </p:cNvSpPr>
                  <p:nvPr/>
                </p:nvSpPr>
                <p:spPr>
                  <a:xfrm>
                    <a:off x="732352" y="4991235"/>
                    <a:ext cx="1863066" cy="453970"/>
                  </a:xfrm>
                  <a:prstGeom prst="rect">
                    <a:avLst/>
                  </a:prstGeom>
                  <a:blipFill>
                    <a:blip r:embed="rId11"/>
                    <a:stretch>
                      <a:fillRect l="-654" t="-9459" b="-33784"/>
                    </a:stretch>
                  </a:blipFill>
                </p:spPr>
                <p:txBody>
                  <a:bodyPr/>
                  <a:lstStyle/>
                  <a:p>
                    <a:r>
                      <a:rPr lang="en-US">
                        <a:noFill/>
                      </a:rPr>
                      <a:t> </a:t>
                    </a:r>
                  </a:p>
                </p:txBody>
              </p:sp>
            </mc:Fallback>
          </mc:AlternateContent>
        </p:grpSp>
      </p:grpSp>
    </p:spTree>
    <p:extLst>
      <p:ext uri="{BB962C8B-B14F-4D97-AF65-F5344CB8AC3E}">
        <p14:creationId xmlns:p14="http://schemas.microsoft.com/office/powerpoint/2010/main" val="2293710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up)">
                                      <p:cBhvr>
                                        <p:cTn id="11" dur="500"/>
                                        <p:tgtEl>
                                          <p:spTgt spid="11"/>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down)">
                                      <p:cBhvr>
                                        <p:cTn id="16" dur="50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43" grpId="0" animBg="1"/>
      <p:bldP spid="44" grpId="0" animBg="1"/>
      <p:bldP spid="45" grpId="0"/>
      <p:bldP spid="47" grpId="0"/>
      <p:bldP spid="5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C99517A-F0B5-4F3C-8BD3-3E84203D6A50}"/>
              </a:ext>
            </a:extLst>
          </p:cNvPr>
          <p:cNvSpPr>
            <a:spLocks noGrp="1"/>
          </p:cNvSpPr>
          <p:nvPr>
            <p:ph type="title"/>
          </p:nvPr>
        </p:nvSpPr>
        <p:spPr/>
        <p:txBody>
          <a:bodyPr/>
          <a:lstStyle/>
          <a:p>
            <a:r>
              <a:rPr lang="en-US" sz="3200" dirty="0" err="1">
                <a:latin typeface="メイリオ" panose="020B0604030504040204" pitchFamily="50" charset="-128"/>
                <a:ea typeface="メイリオ" panose="020B0604030504040204" pitchFamily="50" charset="-128"/>
              </a:rPr>
              <a:t>T</a:t>
            </a:r>
            <a:r>
              <a:rPr lang="en-US" altLang="zh-CN" sz="3200" dirty="0" err="1">
                <a:latin typeface="メイリオ" panose="020B0604030504040204" pitchFamily="50" charset="-128"/>
                <a:ea typeface="メイリオ" panose="020B0604030504040204" pitchFamily="50" charset="-128"/>
              </a:rPr>
              <a:t>atsuoka</a:t>
            </a:r>
            <a:r>
              <a:rPr lang="ja-JP" altLang="en-US" sz="3200" dirty="0">
                <a:latin typeface="メイリオ" panose="020B0604030504040204" pitchFamily="50" charset="-128"/>
                <a:ea typeface="メイリオ" panose="020B0604030504040204" pitchFamily="50" charset="-128"/>
              </a:rPr>
              <a:t>たちの仕事</a:t>
            </a:r>
            <a:endParaRPr lang="en-US" sz="3200" dirty="0">
              <a:latin typeface="メイリオ" panose="020B0604030504040204" pitchFamily="50" charset="-128"/>
              <a:ea typeface="メイリオ" panose="020B0604030504040204" pitchFamily="50" charset="-128"/>
            </a:endParaRPr>
          </a:p>
        </p:txBody>
      </p:sp>
      <p:grpSp>
        <p:nvGrpSpPr>
          <p:cNvPr id="32" name="グループ化 31">
            <a:extLst>
              <a:ext uri="{FF2B5EF4-FFF2-40B4-BE49-F238E27FC236}">
                <a16:creationId xmlns:a16="http://schemas.microsoft.com/office/drawing/2014/main" id="{1EA7CD19-13AD-4552-A9DE-29DFF5B0B99B}"/>
              </a:ext>
            </a:extLst>
          </p:cNvPr>
          <p:cNvGrpSpPr/>
          <p:nvPr/>
        </p:nvGrpSpPr>
        <p:grpSpPr>
          <a:xfrm>
            <a:off x="6619998" y="1162199"/>
            <a:ext cx="5726443" cy="4328201"/>
            <a:chOff x="6619998" y="1162199"/>
            <a:chExt cx="5726443" cy="4328201"/>
          </a:xfrm>
        </p:grpSpPr>
        <p:pic>
          <p:nvPicPr>
            <p:cNvPr id="9" name="図 8">
              <a:extLst>
                <a:ext uri="{FF2B5EF4-FFF2-40B4-BE49-F238E27FC236}">
                  <a16:creationId xmlns:a16="http://schemas.microsoft.com/office/drawing/2014/main" id="{DBC7468D-7284-416E-BEB6-7E83654E0DB1}"/>
                </a:ext>
              </a:extLst>
            </p:cNvPr>
            <p:cNvPicPr>
              <a:picLocks noChangeAspect="1"/>
            </p:cNvPicPr>
            <p:nvPr/>
          </p:nvPicPr>
          <p:blipFill>
            <a:blip r:embed="rId2"/>
            <a:stretch>
              <a:fillRect/>
            </a:stretch>
          </p:blipFill>
          <p:spPr>
            <a:xfrm>
              <a:off x="6619998" y="1162199"/>
              <a:ext cx="5562600" cy="3543300"/>
            </a:xfrm>
            <a:prstGeom prst="rect">
              <a:avLst/>
            </a:prstGeom>
          </p:spPr>
        </p:pic>
        <mc:AlternateContent xmlns:mc="http://schemas.openxmlformats.org/markup-compatibility/2006" xmlns:a14="http://schemas.microsoft.com/office/drawing/2010/main">
          <mc:Choice Requires="a14">
            <p:sp>
              <p:nvSpPr>
                <p:cNvPr id="10" name="テキスト ボックス 11">
                  <a:extLst>
                    <a:ext uri="{FF2B5EF4-FFF2-40B4-BE49-F238E27FC236}">
                      <a16:creationId xmlns:a16="http://schemas.microsoft.com/office/drawing/2014/main" id="{5EBB6071-E289-4CA4-8349-5CF327F320E9}"/>
                    </a:ext>
                  </a:extLst>
                </p:cNvPr>
                <p:cNvSpPr txBox="1"/>
                <p:nvPr/>
              </p:nvSpPr>
              <p:spPr>
                <a:xfrm>
                  <a:off x="6911464" y="4659403"/>
                  <a:ext cx="5434977" cy="830997"/>
                </a:xfrm>
                <a:prstGeom prst="rect">
                  <a:avLst/>
                </a:prstGeom>
                <a:solidFill>
                  <a:schemeClr val="bg1"/>
                </a:solidFill>
              </p:spPr>
              <p:txBody>
                <a:bodyPr wrap="square">
                  <a:spAutoFit/>
                </a:bodyPr>
                <a:lstStyle/>
                <a:p>
                  <a:pPr algn="ctr"/>
                  <a:r>
                    <a:rPr kumimoji="1" lang="ja-JP" altLang="en-US" sz="2400" dirty="0">
                      <a:ea typeface="メイリオ" panose="020B0604030504040204" pitchFamily="34" charset="-128"/>
                      <a:cs typeface="+mj-cs"/>
                    </a:rPr>
                    <a:t>乗根数</a:t>
                  </a:r>
                  <a14:m>
                    <m:oMath xmlns:m="http://schemas.openxmlformats.org/officeDocument/2006/math">
                      <m:r>
                        <a:rPr kumimoji="1" lang="en-US" altLang="ja-JP" sz="2400" i="1" dirty="0" smtClean="0">
                          <a:latin typeface="Cambria Math" panose="02040503050406030204" pitchFamily="18" charset="0"/>
                          <a:ea typeface="メイリオ" panose="020B0604030504040204" pitchFamily="34" charset="-128"/>
                          <a:cs typeface="+mj-cs"/>
                        </a:rPr>
                        <m:t>𝑃</m:t>
                      </m:r>
                    </m:oMath>
                  </a14:m>
                  <a:r>
                    <a:rPr kumimoji="1" lang="ja-JP" altLang="en-US" sz="2400" dirty="0">
                      <a:latin typeface="メイリオ" panose="020B0604030504040204" pitchFamily="34" charset="-128"/>
                      <a:ea typeface="メイリオ" panose="020B0604030504040204" pitchFamily="34" charset="-128"/>
                      <a:cs typeface="+mj-cs"/>
                    </a:rPr>
                    <a:t>と一反復の計算量</a:t>
                  </a:r>
                  <a:endParaRPr kumimoji="1" lang="en-US" altLang="ja-JP" sz="2400" dirty="0">
                    <a:latin typeface="メイリオ" panose="020B0604030504040204" pitchFamily="34" charset="-128"/>
                    <a:ea typeface="メイリオ" panose="020B0604030504040204" pitchFamily="34" charset="-128"/>
                    <a:cs typeface="+mj-cs"/>
                  </a:endParaRPr>
                </a:p>
                <a:p>
                  <a:pPr algn="ctr"/>
                  <a:r>
                    <a:rPr lang="en-US" altLang="zh-CN" sz="2400" dirty="0"/>
                    <a:t>[</a:t>
                  </a:r>
                  <a:r>
                    <a:rPr lang="en-US" altLang="zh-CN" sz="2400" dirty="0" err="1"/>
                    <a:t>Tatsuoka</a:t>
                  </a:r>
                  <a:r>
                    <a:rPr lang="en-US" altLang="zh-CN" sz="2400" dirty="0"/>
                    <a:t> et al., 2017]</a:t>
                  </a:r>
                </a:p>
              </p:txBody>
            </p:sp>
          </mc:Choice>
          <mc:Fallback xmlns="">
            <p:sp>
              <p:nvSpPr>
                <p:cNvPr id="10" name="テキスト ボックス 11">
                  <a:extLst>
                    <a:ext uri="{FF2B5EF4-FFF2-40B4-BE49-F238E27FC236}">
                      <a16:creationId xmlns:a16="http://schemas.microsoft.com/office/drawing/2014/main" id="{5EBB6071-E289-4CA4-8349-5CF327F320E9}"/>
                    </a:ext>
                  </a:extLst>
                </p:cNvPr>
                <p:cNvSpPr txBox="1">
                  <a:spLocks noRot="1" noChangeAspect="1" noMove="1" noResize="1" noEditPoints="1" noAdjustHandles="1" noChangeArrowheads="1" noChangeShapeType="1" noTextEdit="1"/>
                </p:cNvSpPr>
                <p:nvPr/>
              </p:nvSpPr>
              <p:spPr>
                <a:xfrm>
                  <a:off x="6911464" y="4659403"/>
                  <a:ext cx="5434977" cy="830997"/>
                </a:xfrm>
                <a:prstGeom prst="rect">
                  <a:avLst/>
                </a:prstGeom>
                <a:blipFill>
                  <a:blip r:embed="rId3"/>
                  <a:stretch>
                    <a:fillRect t="-4380" b="-15328"/>
                  </a:stretch>
                </a:blipFill>
              </p:spPr>
              <p:txBody>
                <a:bodyPr/>
                <a:lstStyle/>
                <a:p>
                  <a:r>
                    <a:rPr lang="en-US">
                      <a:noFill/>
                    </a:rPr>
                    <a:t> </a:t>
                  </a:r>
                </a:p>
              </p:txBody>
            </p:sp>
          </mc:Fallback>
        </mc:AlternateContent>
      </p:grpSp>
      <p:grpSp>
        <p:nvGrpSpPr>
          <p:cNvPr id="30" name="グループ化 29">
            <a:extLst>
              <a:ext uri="{FF2B5EF4-FFF2-40B4-BE49-F238E27FC236}">
                <a16:creationId xmlns:a16="http://schemas.microsoft.com/office/drawing/2014/main" id="{AE103F27-B94C-47E7-8148-1523DF8CC0B4}"/>
              </a:ext>
            </a:extLst>
          </p:cNvPr>
          <p:cNvGrpSpPr/>
          <p:nvPr/>
        </p:nvGrpSpPr>
        <p:grpSpPr>
          <a:xfrm>
            <a:off x="365039" y="1165766"/>
            <a:ext cx="6026708" cy="1385423"/>
            <a:chOff x="365039" y="1165766"/>
            <a:chExt cx="6026708" cy="1385423"/>
          </a:xfrm>
        </p:grpSpPr>
        <p:pic>
          <p:nvPicPr>
            <p:cNvPr id="3" name="图片 19">
              <a:extLst>
                <a:ext uri="{FF2B5EF4-FFF2-40B4-BE49-F238E27FC236}">
                  <a16:creationId xmlns:a16="http://schemas.microsoft.com/office/drawing/2014/main" id="{966520B8-B6F3-4AD2-AC1A-25724B92677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5039" y="1665145"/>
              <a:ext cx="6026708" cy="863415"/>
            </a:xfrm>
            <a:prstGeom prst="rect">
              <a:avLst/>
            </a:prstGeom>
          </p:spPr>
        </p:pic>
        <p:sp>
          <p:nvSpPr>
            <p:cNvPr id="17" name="正方形/長方形 16">
              <a:extLst>
                <a:ext uri="{FF2B5EF4-FFF2-40B4-BE49-F238E27FC236}">
                  <a16:creationId xmlns:a16="http://schemas.microsoft.com/office/drawing/2014/main" id="{F0CE1DB9-D1BC-4FF9-80A8-C615810C33A9}"/>
                </a:ext>
              </a:extLst>
            </p:cNvPr>
            <p:cNvSpPr/>
            <p:nvPr/>
          </p:nvSpPr>
          <p:spPr>
            <a:xfrm>
              <a:off x="1451242" y="1951383"/>
              <a:ext cx="2835334" cy="599806"/>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テキスト ボックス 20">
              <a:extLst>
                <a:ext uri="{FF2B5EF4-FFF2-40B4-BE49-F238E27FC236}">
                  <a16:creationId xmlns:a16="http://schemas.microsoft.com/office/drawing/2014/main" id="{62004C01-CDFD-427F-965E-670E35AE9A45}"/>
                </a:ext>
              </a:extLst>
            </p:cNvPr>
            <p:cNvSpPr txBox="1"/>
            <p:nvPr/>
          </p:nvSpPr>
          <p:spPr>
            <a:xfrm>
              <a:off x="365039" y="1165766"/>
              <a:ext cx="3103418" cy="461665"/>
            </a:xfrm>
            <a:prstGeom prst="rect">
              <a:avLst/>
            </a:prstGeom>
            <a:noFill/>
          </p:spPr>
          <p:txBody>
            <a:bodyPr wrap="square" rtlCol="0">
              <a:spAutoFit/>
            </a:bodyPr>
            <a:lstStyle/>
            <a:p>
              <a:r>
                <a:rPr lang="en-US" sz="2400" dirty="0"/>
                <a:t>IN</a:t>
              </a:r>
              <a:r>
                <a:rPr lang="ja-JP" altLang="en-US" sz="2400" dirty="0"/>
                <a:t>法</a:t>
              </a:r>
              <a:endParaRPr lang="en-US" sz="2400" dirty="0"/>
            </a:p>
          </p:txBody>
        </p:sp>
      </p:grpSp>
      <p:grpSp>
        <p:nvGrpSpPr>
          <p:cNvPr id="25" name="グループ化 24">
            <a:extLst>
              <a:ext uri="{FF2B5EF4-FFF2-40B4-BE49-F238E27FC236}">
                <a16:creationId xmlns:a16="http://schemas.microsoft.com/office/drawing/2014/main" id="{814F5EE1-F251-42E0-88D6-4CC5BCF0DA48}"/>
              </a:ext>
            </a:extLst>
          </p:cNvPr>
          <p:cNvGrpSpPr/>
          <p:nvPr/>
        </p:nvGrpSpPr>
        <p:grpSpPr>
          <a:xfrm>
            <a:off x="359302" y="2726578"/>
            <a:ext cx="6026708" cy="1472432"/>
            <a:chOff x="359302" y="2968132"/>
            <a:chExt cx="6026708" cy="1472432"/>
          </a:xfrm>
        </p:grpSpPr>
        <p:sp>
          <p:nvSpPr>
            <p:cNvPr id="18" name="正方形/長方形 17">
              <a:extLst>
                <a:ext uri="{FF2B5EF4-FFF2-40B4-BE49-F238E27FC236}">
                  <a16:creationId xmlns:a16="http://schemas.microsoft.com/office/drawing/2014/main" id="{F239BA6C-30EA-450E-98C6-581F07351E9E}"/>
                </a:ext>
              </a:extLst>
            </p:cNvPr>
            <p:cNvSpPr/>
            <p:nvPr/>
          </p:nvSpPr>
          <p:spPr>
            <a:xfrm>
              <a:off x="365039" y="3175403"/>
              <a:ext cx="6020971" cy="1265161"/>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テキスト ボックス 19">
              <a:extLst>
                <a:ext uri="{FF2B5EF4-FFF2-40B4-BE49-F238E27FC236}">
                  <a16:creationId xmlns:a16="http://schemas.microsoft.com/office/drawing/2014/main" id="{67B02196-F51C-4F51-810A-22AE59D97E29}"/>
                </a:ext>
              </a:extLst>
            </p:cNvPr>
            <p:cNvSpPr txBox="1"/>
            <p:nvPr/>
          </p:nvSpPr>
          <p:spPr>
            <a:xfrm>
              <a:off x="613965" y="2968132"/>
              <a:ext cx="837277" cy="459799"/>
            </a:xfrm>
            <a:prstGeom prst="rect">
              <a:avLst/>
            </a:prstGeom>
            <a:solidFill>
              <a:schemeClr val="bg1"/>
            </a:solidFill>
          </p:spPr>
          <p:txBody>
            <a:bodyPr wrap="square" rtlCol="0">
              <a:spAutoFit/>
            </a:bodyPr>
            <a:lstStyle/>
            <a:p>
              <a:r>
                <a:rPr lang="ja-JP" altLang="en-US" sz="2400" dirty="0"/>
                <a:t>変形</a:t>
              </a:r>
              <a:endParaRPr lang="en-US" sz="2400" dirty="0"/>
            </a:p>
          </p:txBody>
        </p:sp>
        <mc:AlternateContent xmlns:mc="http://schemas.openxmlformats.org/markup-compatibility/2006" xmlns:a14="http://schemas.microsoft.com/office/drawing/2010/main">
          <mc:Choice Requires="a14">
            <p:sp>
              <p:nvSpPr>
                <p:cNvPr id="22" name="テキスト ボックス 21">
                  <a:extLst>
                    <a:ext uri="{FF2B5EF4-FFF2-40B4-BE49-F238E27FC236}">
                      <a16:creationId xmlns:a16="http://schemas.microsoft.com/office/drawing/2014/main" id="{5155A318-8E91-4584-9814-37D8A05D8EAD}"/>
                    </a:ext>
                  </a:extLst>
                </p:cNvPr>
                <p:cNvSpPr txBox="1"/>
                <p:nvPr/>
              </p:nvSpPr>
              <p:spPr>
                <a:xfrm>
                  <a:off x="359302" y="3355532"/>
                  <a:ext cx="5174493" cy="6300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b="0" i="1" smtClean="0">
                                <a:latin typeface="Cambria Math" panose="02040503050406030204" pitchFamily="18" charset="0"/>
                              </a:rPr>
                              <m:t>𝑝</m:t>
                            </m:r>
                          </m:den>
                        </m:f>
                        <m:d>
                          <m:dPr>
                            <m:begChr m:val="{"/>
                            <m:endChr m:val="}"/>
                            <m:ctrlPr>
                              <a:rPr lang="en-US" sz="2000" b="0" i="1" smtClean="0">
                                <a:latin typeface="Cambria Math" panose="02040503050406030204" pitchFamily="18" charset="0"/>
                              </a:rPr>
                            </m:ctrlPr>
                          </m:dPr>
                          <m:e>
                            <m:d>
                              <m:dPr>
                                <m:begChr m:val="["/>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𝑝</m:t>
                                    </m:r>
                                    <m:r>
                                      <a:rPr lang="en-US" sz="2000" b="0" i="1" smtClean="0">
                                        <a:latin typeface="Cambria Math" panose="02040503050406030204" pitchFamily="18" charset="0"/>
                                      </a:rPr>
                                      <m:t>−1</m:t>
                                    </m:r>
                                  </m:e>
                                </m:d>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𝐹</m:t>
                                    </m:r>
                                  </m:e>
                                  <m:sub>
                                    <m:r>
                                      <a:rPr lang="en-US" sz="2000" b="0" i="1" smtClean="0">
                                        <a:latin typeface="Cambria Math" panose="02040503050406030204" pitchFamily="18" charset="0"/>
                                      </a:rPr>
                                      <m:t>𝑘</m:t>
                                    </m:r>
                                  </m:sub>
                                </m:sSub>
                                <m:r>
                                  <a:rPr lang="en-US" sz="2000" b="0" i="1" smtClean="0">
                                    <a:latin typeface="Cambria Math" panose="02040503050406030204" pitchFamily="18" charset="0"/>
                                  </a:rPr>
                                  <m:t>+</m:t>
                                </m:r>
                                <m:r>
                                  <a:rPr lang="en-US" sz="2000" b="0" i="1" smtClean="0">
                                    <a:latin typeface="Cambria Math" panose="02040503050406030204" pitchFamily="18" charset="0"/>
                                  </a:rPr>
                                  <m:t>𝑝𝐼</m:t>
                                </m:r>
                              </m:e>
                            </m:d>
                            <m:sSub>
                              <m:sSubPr>
                                <m:ctrlPr>
                                  <a:rPr lang="en-US" sz="2000" b="0" i="1" smtClean="0">
                                    <a:solidFill>
                                      <a:srgbClr val="FF0000"/>
                                    </a:solidFill>
                                    <a:latin typeface="Cambria Math" panose="02040503050406030204" pitchFamily="18" charset="0"/>
                                  </a:rPr>
                                </m:ctrlPr>
                              </m:sSubPr>
                              <m:e>
                                <m:r>
                                  <a:rPr lang="en-US" sz="2000" b="0" i="1" smtClean="0">
                                    <a:solidFill>
                                      <a:srgbClr val="FF0000"/>
                                    </a:solidFill>
                                    <a:latin typeface="Cambria Math" panose="02040503050406030204" pitchFamily="18" charset="0"/>
                                  </a:rPr>
                                  <m:t>𝑃</m:t>
                                </m:r>
                              </m:e>
                              <m:sub>
                                <m:r>
                                  <a:rPr lang="en-US" sz="2000" b="0" i="1" smtClean="0">
                                    <a:solidFill>
                                      <a:srgbClr val="FF0000"/>
                                    </a:solidFill>
                                    <a:latin typeface="Cambria Math" panose="02040503050406030204" pitchFamily="18" charset="0"/>
                                  </a:rPr>
                                  <m:t>𝑝</m:t>
                                </m:r>
                                <m:r>
                                  <a:rPr lang="en-US" sz="2000" b="0" i="1" smtClean="0">
                                    <a:solidFill>
                                      <a:srgbClr val="FF0000"/>
                                    </a:solidFill>
                                    <a:latin typeface="Cambria Math" panose="02040503050406030204" pitchFamily="18" charset="0"/>
                                  </a:rPr>
                                  <m:t>−2</m:t>
                                </m:r>
                              </m:sub>
                            </m:sSub>
                            <m:d>
                              <m:dPr>
                                <m:ctrlPr>
                                  <a:rPr lang="en-US" sz="2000" b="0" i="1" smtClean="0">
                                    <a:solidFill>
                                      <a:srgbClr val="FF0000"/>
                                    </a:solidFill>
                                    <a:latin typeface="Cambria Math" panose="02040503050406030204" pitchFamily="18" charset="0"/>
                                  </a:rPr>
                                </m:ctrlPr>
                              </m:dPr>
                              <m:e>
                                <m:sSub>
                                  <m:sSubPr>
                                    <m:ctrlPr>
                                      <a:rPr lang="en-US" sz="2000" b="0" i="1" smtClean="0">
                                        <a:solidFill>
                                          <a:srgbClr val="FF0000"/>
                                        </a:solidFill>
                                        <a:latin typeface="Cambria Math" panose="02040503050406030204" pitchFamily="18" charset="0"/>
                                      </a:rPr>
                                    </m:ctrlPr>
                                  </m:sSubPr>
                                  <m:e>
                                    <m:r>
                                      <a:rPr lang="en-US" sz="2000" b="0" i="1" smtClean="0">
                                        <a:solidFill>
                                          <a:srgbClr val="FF0000"/>
                                        </a:solidFill>
                                        <a:latin typeface="Cambria Math" panose="02040503050406030204" pitchFamily="18" charset="0"/>
                                      </a:rPr>
                                      <m:t>𝐹</m:t>
                                    </m:r>
                                  </m:e>
                                  <m:sub>
                                    <m:r>
                                      <a:rPr lang="en-US" sz="2000" b="0" i="1" smtClean="0">
                                        <a:solidFill>
                                          <a:srgbClr val="FF0000"/>
                                        </a:solidFill>
                                        <a:latin typeface="Cambria Math" panose="02040503050406030204" pitchFamily="18" charset="0"/>
                                      </a:rPr>
                                      <m:t>𝑘</m:t>
                                    </m:r>
                                  </m:sub>
                                </m:sSub>
                              </m:e>
                            </m:d>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𝑝</m:t>
                                </m:r>
                                <m:r>
                                  <a:rPr lang="en-US" sz="2000" b="0" i="1" smtClean="0">
                                    <a:latin typeface="Cambria Math" panose="02040503050406030204" pitchFamily="18" charset="0"/>
                                  </a:rPr>
                                  <m:t>−1</m:t>
                                </m:r>
                              </m:e>
                            </m:d>
                            <m:r>
                              <a:rPr lang="en-US" sz="2000" b="0" i="1" smtClean="0">
                                <a:latin typeface="Cambria Math" panose="02040503050406030204" pitchFamily="18" charset="0"/>
                              </a:rPr>
                              <m:t>𝐼</m:t>
                            </m:r>
                          </m:e>
                        </m:d>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𝐻</m:t>
                            </m:r>
                          </m:e>
                          <m:sub>
                            <m:r>
                              <a:rPr lang="en-US" sz="2000" b="0" i="1" smtClean="0">
                                <a:latin typeface="Cambria Math" panose="02040503050406030204" pitchFamily="18" charset="0"/>
                              </a:rPr>
                              <m:t>𝑘</m:t>
                            </m:r>
                          </m:sub>
                        </m:sSub>
                      </m:oMath>
                    </m:oMathPara>
                  </a14:m>
                  <a:endParaRPr lang="en-US" sz="2000" dirty="0"/>
                </a:p>
              </p:txBody>
            </p:sp>
          </mc:Choice>
          <mc:Fallback xmlns="">
            <p:sp>
              <p:nvSpPr>
                <p:cNvPr id="22" name="テキスト ボックス 21">
                  <a:extLst>
                    <a:ext uri="{FF2B5EF4-FFF2-40B4-BE49-F238E27FC236}">
                      <a16:creationId xmlns:a16="http://schemas.microsoft.com/office/drawing/2014/main" id="{5155A318-8E91-4584-9814-37D8A05D8EAD}"/>
                    </a:ext>
                  </a:extLst>
                </p:cNvPr>
                <p:cNvSpPr txBox="1">
                  <a:spLocks noRot="1" noChangeAspect="1" noMove="1" noResize="1" noEditPoints="1" noAdjustHandles="1" noChangeArrowheads="1" noChangeShapeType="1" noTextEdit="1"/>
                </p:cNvSpPr>
                <p:nvPr/>
              </p:nvSpPr>
              <p:spPr>
                <a:xfrm>
                  <a:off x="359302" y="3355532"/>
                  <a:ext cx="5174493" cy="630044"/>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テキスト ボックス 22">
                  <a:extLst>
                    <a:ext uri="{FF2B5EF4-FFF2-40B4-BE49-F238E27FC236}">
                      <a16:creationId xmlns:a16="http://schemas.microsoft.com/office/drawing/2014/main" id="{D39B2BA2-AF10-4112-B19A-EE0C1416DABB}"/>
                    </a:ext>
                  </a:extLst>
                </p:cNvPr>
                <p:cNvSpPr txBox="1"/>
                <p:nvPr/>
              </p:nvSpPr>
              <p:spPr>
                <a:xfrm>
                  <a:off x="417665" y="4036201"/>
                  <a:ext cx="4546822" cy="31329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rgbClr val="FF0000"/>
                                </a:solidFill>
                                <a:latin typeface="Cambria Math" panose="02040503050406030204" pitchFamily="18" charset="0"/>
                              </a:rPr>
                            </m:ctrlPr>
                          </m:sSubPr>
                          <m:e>
                            <m:r>
                              <a:rPr lang="en-US" sz="2000" b="0" i="1" smtClean="0">
                                <a:solidFill>
                                  <a:srgbClr val="FF0000"/>
                                </a:solidFill>
                                <a:latin typeface="Cambria Math" panose="02040503050406030204" pitchFamily="18" charset="0"/>
                              </a:rPr>
                              <m:t>𝑃</m:t>
                            </m:r>
                          </m:e>
                          <m:sub>
                            <m:r>
                              <a:rPr lang="en-US" sz="2000" b="0" i="1" smtClean="0">
                                <a:solidFill>
                                  <a:srgbClr val="FF0000"/>
                                </a:solidFill>
                                <a:latin typeface="Cambria Math" panose="02040503050406030204" pitchFamily="18" charset="0"/>
                              </a:rPr>
                              <m:t>𝑑</m:t>
                            </m:r>
                          </m:sub>
                        </m:sSub>
                        <m:d>
                          <m:dPr>
                            <m:ctrlPr>
                              <a:rPr lang="en-US" sz="2000" b="0" i="1" smtClean="0">
                                <a:solidFill>
                                  <a:srgbClr val="FF0000"/>
                                </a:solidFill>
                                <a:latin typeface="Cambria Math" panose="02040503050406030204" pitchFamily="18" charset="0"/>
                              </a:rPr>
                            </m:ctrlPr>
                          </m:dPr>
                          <m:e>
                            <m:r>
                              <a:rPr lang="en-US" sz="2000" b="0" i="1" smtClean="0">
                                <a:solidFill>
                                  <a:srgbClr val="FF0000"/>
                                </a:solidFill>
                                <a:latin typeface="Cambria Math" panose="02040503050406030204" pitchFamily="18" charset="0"/>
                              </a:rPr>
                              <m:t>𝑋</m:t>
                            </m:r>
                          </m:e>
                        </m:d>
                        <m:r>
                          <a:rPr lang="en-US" sz="2000" b="0" i="1" smtClean="0">
                            <a:solidFill>
                              <a:srgbClr val="FF0000"/>
                            </a:solidFill>
                            <a:latin typeface="Cambria Math" panose="02040503050406030204" pitchFamily="18" charset="0"/>
                          </a:rPr>
                          <m:t>=</m:t>
                        </m:r>
                        <m:r>
                          <a:rPr lang="en-US" sz="2000" b="0" i="1" smtClean="0">
                            <a:solidFill>
                              <a:srgbClr val="FF0000"/>
                            </a:solidFill>
                            <a:latin typeface="Cambria Math" panose="02040503050406030204" pitchFamily="18" charset="0"/>
                          </a:rPr>
                          <m:t>𝐼</m:t>
                        </m:r>
                        <m:r>
                          <a:rPr lang="en-US" sz="2000" b="0" i="1" smtClean="0">
                            <a:solidFill>
                              <a:srgbClr val="FF0000"/>
                            </a:solidFill>
                            <a:latin typeface="Cambria Math" panose="02040503050406030204" pitchFamily="18" charset="0"/>
                          </a:rPr>
                          <m:t>+</m:t>
                        </m:r>
                        <m:r>
                          <a:rPr lang="en-US" sz="2000" b="0" i="1" smtClean="0">
                            <a:solidFill>
                              <a:srgbClr val="FF0000"/>
                            </a:solidFill>
                            <a:latin typeface="Cambria Math" panose="02040503050406030204" pitchFamily="18" charset="0"/>
                          </a:rPr>
                          <m:t>𝑋</m:t>
                        </m:r>
                        <m:r>
                          <a:rPr lang="en-US" sz="2000" b="0" i="1" smtClean="0">
                            <a:solidFill>
                              <a:srgbClr val="FF0000"/>
                            </a:solidFill>
                            <a:latin typeface="Cambria Math" panose="02040503050406030204" pitchFamily="18" charset="0"/>
                          </a:rPr>
                          <m:t>+</m:t>
                        </m:r>
                        <m:sSup>
                          <m:sSupPr>
                            <m:ctrlPr>
                              <a:rPr lang="en-US" sz="2000" b="0" i="1" smtClean="0">
                                <a:solidFill>
                                  <a:srgbClr val="FF0000"/>
                                </a:solidFill>
                                <a:latin typeface="Cambria Math" panose="02040503050406030204" pitchFamily="18" charset="0"/>
                              </a:rPr>
                            </m:ctrlPr>
                          </m:sSupPr>
                          <m:e>
                            <m:r>
                              <a:rPr lang="en-US" sz="2000" b="0" i="1" smtClean="0">
                                <a:solidFill>
                                  <a:srgbClr val="FF0000"/>
                                </a:solidFill>
                                <a:latin typeface="Cambria Math" panose="02040503050406030204" pitchFamily="18" charset="0"/>
                              </a:rPr>
                              <m:t>𝑋</m:t>
                            </m:r>
                          </m:e>
                          <m:sup>
                            <m:r>
                              <a:rPr lang="en-US" sz="2000" b="0" i="1" smtClean="0">
                                <a:solidFill>
                                  <a:srgbClr val="FF0000"/>
                                </a:solidFill>
                                <a:latin typeface="Cambria Math" panose="02040503050406030204" pitchFamily="18" charset="0"/>
                              </a:rPr>
                              <m:t>2</m:t>
                            </m:r>
                          </m:sup>
                        </m:sSup>
                        <m:r>
                          <a:rPr lang="en-US" sz="2000" b="0" i="1" smtClean="0">
                            <a:solidFill>
                              <a:srgbClr val="FF0000"/>
                            </a:solidFill>
                            <a:latin typeface="Cambria Math" panose="02040503050406030204" pitchFamily="18" charset="0"/>
                          </a:rPr>
                          <m:t>+…</m:t>
                        </m:r>
                        <m:r>
                          <a:rPr lang="en-US" altLang="zh-CN" sz="2000" i="1">
                            <a:solidFill>
                              <a:srgbClr val="FF0000"/>
                            </a:solidFill>
                            <a:latin typeface="Cambria Math" panose="02040503050406030204" pitchFamily="18" charset="0"/>
                          </a:rPr>
                          <m:t>+</m:t>
                        </m:r>
                        <m:sSup>
                          <m:sSupPr>
                            <m:ctrlPr>
                              <a:rPr lang="en-US" altLang="zh-CN" sz="2000" b="0" i="1" smtClean="0">
                                <a:solidFill>
                                  <a:srgbClr val="FF0000"/>
                                </a:solidFill>
                                <a:latin typeface="Cambria Math" panose="02040503050406030204" pitchFamily="18" charset="0"/>
                              </a:rPr>
                            </m:ctrlPr>
                          </m:sSupPr>
                          <m:e>
                            <m:r>
                              <a:rPr lang="en-US" altLang="zh-CN" sz="2000" b="0" i="1" smtClean="0">
                                <a:solidFill>
                                  <a:srgbClr val="FF0000"/>
                                </a:solidFill>
                                <a:latin typeface="Cambria Math" panose="02040503050406030204" pitchFamily="18" charset="0"/>
                              </a:rPr>
                              <m:t>𝑋</m:t>
                            </m:r>
                          </m:e>
                          <m:sup>
                            <m:r>
                              <a:rPr lang="en-US" altLang="zh-CN" sz="2000" b="0" i="1" smtClean="0">
                                <a:solidFill>
                                  <a:srgbClr val="FF0000"/>
                                </a:solidFill>
                                <a:latin typeface="Cambria Math" panose="02040503050406030204" pitchFamily="18" charset="0"/>
                              </a:rPr>
                              <m:t>𝑑</m:t>
                            </m:r>
                          </m:sup>
                        </m:sSup>
                        <m:r>
                          <a:rPr lang="en-US" altLang="zh-CN" sz="2000" b="0" i="1" smtClean="0">
                            <a:solidFill>
                              <a:schemeClr val="tx1"/>
                            </a:solidFill>
                            <a:latin typeface="Cambria Math" panose="02040503050406030204" pitchFamily="18" charset="0"/>
                          </a:rPr>
                          <m:t>,</m:t>
                        </m:r>
                        <m:r>
                          <a:rPr lang="en-US" altLang="zh-CN" sz="2000" b="0" i="1" smtClean="0">
                            <a:solidFill>
                              <a:schemeClr val="tx1"/>
                            </a:solidFill>
                            <a:latin typeface="Cambria Math" panose="02040503050406030204" pitchFamily="18" charset="0"/>
                          </a:rPr>
                          <m:t>𝑑</m:t>
                        </m:r>
                        <m:r>
                          <a:rPr lang="en-US" altLang="zh-CN" sz="2000" b="0" i="1" smtClean="0">
                            <a:solidFill>
                              <a:schemeClr val="tx1"/>
                            </a:solidFill>
                            <a:latin typeface="Cambria Math" panose="02040503050406030204" pitchFamily="18" charset="0"/>
                          </a:rPr>
                          <m:t>=</m:t>
                        </m:r>
                        <m:r>
                          <a:rPr lang="en-US" altLang="zh-CN" sz="2000" b="0" i="1" smtClean="0">
                            <a:solidFill>
                              <a:schemeClr val="tx1"/>
                            </a:solidFill>
                            <a:latin typeface="Cambria Math" panose="02040503050406030204" pitchFamily="18" charset="0"/>
                          </a:rPr>
                          <m:t>𝑝</m:t>
                        </m:r>
                        <m:r>
                          <a:rPr lang="en-US" altLang="zh-CN" sz="2000" b="0" i="1" smtClean="0">
                            <a:solidFill>
                              <a:schemeClr val="tx1"/>
                            </a:solidFill>
                            <a:latin typeface="Cambria Math" panose="02040503050406030204" pitchFamily="18" charset="0"/>
                          </a:rPr>
                          <m:t>−2</m:t>
                        </m:r>
                      </m:oMath>
                    </m:oMathPara>
                  </a14:m>
                  <a:endParaRPr lang="en-US" sz="2000" dirty="0"/>
                </a:p>
              </p:txBody>
            </p:sp>
          </mc:Choice>
          <mc:Fallback xmlns="">
            <p:sp>
              <p:nvSpPr>
                <p:cNvPr id="23" name="テキスト ボックス 22">
                  <a:extLst>
                    <a:ext uri="{FF2B5EF4-FFF2-40B4-BE49-F238E27FC236}">
                      <a16:creationId xmlns:a16="http://schemas.microsoft.com/office/drawing/2014/main" id="{D39B2BA2-AF10-4112-B19A-EE0C1416DABB}"/>
                    </a:ext>
                  </a:extLst>
                </p:cNvPr>
                <p:cNvSpPr txBox="1">
                  <a:spLocks noRot="1" noChangeAspect="1" noMove="1" noResize="1" noEditPoints="1" noAdjustHandles="1" noChangeArrowheads="1" noChangeShapeType="1" noTextEdit="1"/>
                </p:cNvSpPr>
                <p:nvPr/>
              </p:nvSpPr>
              <p:spPr>
                <a:xfrm>
                  <a:off x="417665" y="4036201"/>
                  <a:ext cx="4546822" cy="313291"/>
                </a:xfrm>
                <a:prstGeom prst="rect">
                  <a:avLst/>
                </a:prstGeom>
                <a:blipFill>
                  <a:blip r:embed="rId6"/>
                  <a:stretch>
                    <a:fillRect l="-940" t="-1923" r="-805" b="-23077"/>
                  </a:stretch>
                </a:blipFill>
              </p:spPr>
              <p:txBody>
                <a:bodyPr/>
                <a:lstStyle/>
                <a:p>
                  <a:r>
                    <a:rPr lang="en-US">
                      <a:noFill/>
                    </a:rPr>
                    <a:t> </a:t>
                  </a:r>
                </a:p>
              </p:txBody>
            </p:sp>
          </mc:Fallback>
        </mc:AlternateContent>
      </p:grpSp>
      <p:grpSp>
        <p:nvGrpSpPr>
          <p:cNvPr id="31" name="グループ化 30">
            <a:extLst>
              <a:ext uri="{FF2B5EF4-FFF2-40B4-BE49-F238E27FC236}">
                <a16:creationId xmlns:a16="http://schemas.microsoft.com/office/drawing/2014/main" id="{47F0F6A9-0062-4C26-8469-AB02FA24998F}"/>
              </a:ext>
            </a:extLst>
          </p:cNvPr>
          <p:cNvGrpSpPr/>
          <p:nvPr/>
        </p:nvGrpSpPr>
        <p:grpSpPr>
          <a:xfrm>
            <a:off x="359302" y="4382475"/>
            <a:ext cx="6026708" cy="2166108"/>
            <a:chOff x="359302" y="4382475"/>
            <a:chExt cx="6026708" cy="2166108"/>
          </a:xfrm>
        </p:grpSpPr>
        <p:sp>
          <p:nvSpPr>
            <p:cNvPr id="26" name="正方形/長方形 25">
              <a:extLst>
                <a:ext uri="{FF2B5EF4-FFF2-40B4-BE49-F238E27FC236}">
                  <a16:creationId xmlns:a16="http://schemas.microsoft.com/office/drawing/2014/main" id="{F3BCA384-9D6E-4803-9976-A9334DE9B9ED}"/>
                </a:ext>
              </a:extLst>
            </p:cNvPr>
            <p:cNvSpPr/>
            <p:nvPr/>
          </p:nvSpPr>
          <p:spPr>
            <a:xfrm>
              <a:off x="359302" y="4581671"/>
              <a:ext cx="6026708" cy="196691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7" name="テキスト ボックス 26">
                  <a:extLst>
                    <a:ext uri="{FF2B5EF4-FFF2-40B4-BE49-F238E27FC236}">
                      <a16:creationId xmlns:a16="http://schemas.microsoft.com/office/drawing/2014/main" id="{F5C00900-6CBC-4BAF-869A-A358F0EFB516}"/>
                    </a:ext>
                  </a:extLst>
                </p:cNvPr>
                <p:cNvSpPr txBox="1"/>
                <p:nvPr/>
              </p:nvSpPr>
              <p:spPr>
                <a:xfrm>
                  <a:off x="613965" y="4382475"/>
                  <a:ext cx="3172945" cy="461665"/>
                </a:xfrm>
                <a:prstGeom prst="rect">
                  <a:avLst/>
                </a:prstGeom>
                <a:solidFill>
                  <a:schemeClr val="bg1"/>
                </a:solidFill>
              </p:spPr>
              <p:txBody>
                <a:bodyPr wrap="square" rtlCol="0">
                  <a:spAutoFit/>
                </a:bodyPr>
                <a:lstStyle/>
                <a:p>
                  <a14:m>
                    <m:oMath xmlns:m="http://schemas.openxmlformats.org/officeDocument/2006/math">
                      <m:sSub>
                        <m:sSubPr>
                          <m:ctrlPr>
                            <a:rPr lang="en-US" sz="2400" b="0" i="1" smtClean="0">
                              <a:solidFill>
                                <a:srgbClr val="FF0000"/>
                              </a:solidFill>
                              <a:latin typeface="Cambria Math" panose="02040503050406030204" pitchFamily="18" charset="0"/>
                            </a:rPr>
                          </m:ctrlPr>
                        </m:sSubPr>
                        <m:e>
                          <m:r>
                            <a:rPr lang="en-US" sz="2400" b="0" i="1" smtClean="0">
                              <a:solidFill>
                                <a:srgbClr val="FF0000"/>
                              </a:solidFill>
                              <a:latin typeface="Cambria Math" panose="02040503050406030204" pitchFamily="18" charset="0"/>
                            </a:rPr>
                            <m:t>𝑃</m:t>
                          </m:r>
                        </m:e>
                        <m:sub>
                          <m:r>
                            <a:rPr lang="en-US" sz="2400" b="0" i="1" smtClean="0">
                              <a:solidFill>
                                <a:srgbClr val="FF0000"/>
                              </a:solidFill>
                              <a:latin typeface="Cambria Math" panose="02040503050406030204" pitchFamily="18" charset="0"/>
                            </a:rPr>
                            <m:t>𝑑</m:t>
                          </m:r>
                        </m:sub>
                      </m:sSub>
                      <m:d>
                        <m:dPr>
                          <m:ctrlPr>
                            <a:rPr lang="en-US" sz="2400" b="0" i="1" smtClean="0">
                              <a:solidFill>
                                <a:srgbClr val="FF0000"/>
                              </a:solidFill>
                              <a:latin typeface="Cambria Math" panose="02040503050406030204" pitchFamily="18" charset="0"/>
                            </a:rPr>
                          </m:ctrlPr>
                        </m:dPr>
                        <m:e>
                          <m:r>
                            <a:rPr lang="en-US" sz="2400" b="0" i="1" smtClean="0">
                              <a:solidFill>
                                <a:srgbClr val="FF0000"/>
                              </a:solidFill>
                              <a:latin typeface="Cambria Math" panose="02040503050406030204" pitchFamily="18" charset="0"/>
                            </a:rPr>
                            <m:t>𝑋</m:t>
                          </m:r>
                        </m:e>
                      </m:d>
                    </m:oMath>
                  </a14:m>
                  <a:r>
                    <a:rPr lang="ja-JP" altLang="en-US" sz="2400" dirty="0"/>
                    <a:t>の計算量の削減</a:t>
                  </a:r>
                  <a:endParaRPr lang="en-US" sz="2400" dirty="0"/>
                </a:p>
              </p:txBody>
            </p:sp>
          </mc:Choice>
          <mc:Fallback xmlns="">
            <p:sp>
              <p:nvSpPr>
                <p:cNvPr id="27" name="テキスト ボックス 26">
                  <a:extLst>
                    <a:ext uri="{FF2B5EF4-FFF2-40B4-BE49-F238E27FC236}">
                      <a16:creationId xmlns:a16="http://schemas.microsoft.com/office/drawing/2014/main" id="{F5C00900-6CBC-4BAF-869A-A358F0EFB516}"/>
                    </a:ext>
                  </a:extLst>
                </p:cNvPr>
                <p:cNvSpPr txBox="1">
                  <a:spLocks noRot="1" noChangeAspect="1" noMove="1" noResize="1" noEditPoints="1" noAdjustHandles="1" noChangeArrowheads="1" noChangeShapeType="1" noTextEdit="1"/>
                </p:cNvSpPr>
                <p:nvPr/>
              </p:nvSpPr>
              <p:spPr>
                <a:xfrm>
                  <a:off x="613965" y="4382475"/>
                  <a:ext cx="3172945" cy="461665"/>
                </a:xfrm>
                <a:prstGeom prst="rect">
                  <a:avLst/>
                </a:prstGeom>
                <a:blipFill>
                  <a:blip r:embed="rId7"/>
                  <a:stretch>
                    <a:fillRect l="-577" t="-7895" r="-385" b="-3157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テキスト ボックス 27">
                  <a:extLst>
                    <a:ext uri="{FF2B5EF4-FFF2-40B4-BE49-F238E27FC236}">
                      <a16:creationId xmlns:a16="http://schemas.microsoft.com/office/drawing/2014/main" id="{C3C86E98-BAE2-47E9-BD5F-11EC383D7668}"/>
                    </a:ext>
                  </a:extLst>
                </p:cNvPr>
                <p:cNvSpPr txBox="1"/>
                <p:nvPr/>
              </p:nvSpPr>
              <p:spPr>
                <a:xfrm>
                  <a:off x="417665" y="4856448"/>
                  <a:ext cx="4977388" cy="158543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𝑃</m:t>
                            </m:r>
                          </m:e>
                          <m:sub>
                            <m:r>
                              <a:rPr lang="en-US" b="0" i="1" smtClean="0">
                                <a:solidFill>
                                  <a:srgbClr val="FF0000"/>
                                </a:solidFill>
                                <a:latin typeface="Cambria Math" panose="02040503050406030204" pitchFamily="18" charset="0"/>
                              </a:rPr>
                              <m:t>𝑑</m:t>
                            </m:r>
                          </m:sub>
                        </m:sSub>
                        <m:d>
                          <m:dPr>
                            <m:ctrlPr>
                              <a:rPr lang="en-US" b="0"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rPr>
                              <m:t>𝑋</m:t>
                            </m:r>
                          </m:e>
                        </m:d>
                        <m:r>
                          <a:rPr lang="en-US" b="0" i="1" smtClean="0">
                            <a:latin typeface="Cambria Math" panose="02040503050406030204" pitchFamily="18" charset="0"/>
                          </a:rPr>
                          <m:t>=</m:t>
                        </m:r>
                        <m:d>
                          <m:dPr>
                            <m:begChr m:val="{"/>
                            <m:endChr m:val=""/>
                            <m:ctrlPr>
                              <a:rPr lang="en-US" i="1" smtClean="0">
                                <a:latin typeface="Cambria Math" panose="02040503050406030204" pitchFamily="18" charset="0"/>
                              </a:rPr>
                            </m:ctrlPr>
                          </m:dPr>
                          <m:e>
                            <m:eqArr>
                              <m:eqArrPr>
                                <m:ctrlPr>
                                  <a:rPr lang="en-US" b="0" i="1" smtClean="0">
                                    <a:latin typeface="Cambria Math" panose="02040503050406030204" pitchFamily="18" charset="0"/>
                                  </a:rPr>
                                </m:ctrlPr>
                              </m:eqArrPr>
                              <m:e>
                                <m:r>
                                  <a:rPr lang="en-US" b="0" i="1" smtClean="0">
                                    <a:latin typeface="Cambria Math" panose="02040503050406030204" pitchFamily="18" charset="0"/>
                                  </a:rPr>
                                  <m:t>&amp;</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f>
                                      <m:fPr>
                                        <m:ctrlPr>
                                          <a:rPr lang="en-US" b="0" i="1" smtClean="0">
                                            <a:latin typeface="Cambria Math" panose="02040503050406030204" pitchFamily="18" charset="0"/>
                                          </a:rPr>
                                        </m:ctrlPr>
                                      </m:fPr>
                                      <m:num>
                                        <m:r>
                                          <a:rPr lang="en-US" b="0" i="1" smtClean="0">
                                            <a:latin typeface="Cambria Math" panose="02040503050406030204" pitchFamily="18" charset="0"/>
                                          </a:rPr>
                                          <m:t>𝑑</m:t>
                                        </m:r>
                                        <m:r>
                                          <a:rPr lang="en-US" b="0" i="1" smtClean="0">
                                            <a:latin typeface="Cambria Math" panose="02040503050406030204" pitchFamily="18" charset="0"/>
                                          </a:rPr>
                                          <m:t>−1</m:t>
                                        </m:r>
                                      </m:num>
                                      <m:den>
                                        <m:r>
                                          <a:rPr lang="en-US" b="0" i="1" smtClean="0">
                                            <a:latin typeface="Cambria Math" panose="02040503050406030204" pitchFamily="18" charset="0"/>
                                          </a:rPr>
                                          <m:t>2</m:t>
                                        </m:r>
                                      </m:den>
                                    </m:f>
                                  </m:sub>
                                </m:sSub>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2</m:t>
                                        </m:r>
                                      </m:sup>
                                    </m:sSup>
                                  </m:e>
                                </m:d>
                                <m:d>
                                  <m:dPr>
                                    <m:ctrlPr>
                                      <a:rPr lang="en-US" b="0" i="1" smtClean="0">
                                        <a:latin typeface="Cambria Math" panose="02040503050406030204" pitchFamily="18" charset="0"/>
                                      </a:rPr>
                                    </m:ctrlPr>
                                  </m:dPr>
                                  <m:e>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𝐼</m:t>
                                    </m:r>
                                  </m:e>
                                </m:d>
                                <m:r>
                                  <a:rPr lang="en-US" b="0" i="1" smtClean="0">
                                    <a:latin typeface="Cambria Math" panose="02040503050406030204" pitchFamily="18" charset="0"/>
                                  </a:rPr>
                                  <m:t>&amp;(</m:t>
                                </m:r>
                                <m:r>
                                  <a:rPr lang="en-US" b="0" i="1" smtClean="0">
                                    <a:latin typeface="Cambria Math" panose="02040503050406030204" pitchFamily="18" charset="0"/>
                                  </a:rPr>
                                  <m:t>𝑑</m:t>
                                </m:r>
                                <m:r>
                                  <a:rPr lang="ja-JP" altLang="en-US" i="1">
                                    <a:latin typeface="Cambria Math" panose="02040503050406030204" pitchFamily="18" charset="0"/>
                                  </a:rPr>
                                  <m:t>は</m:t>
                                </m:r>
                                <m:r>
                                  <a:rPr lang="ja-JP" altLang="en-US" i="1" smtClean="0">
                                    <a:latin typeface="Cambria Math" panose="02040503050406030204" pitchFamily="18" charset="0"/>
                                  </a:rPr>
                                  <m:t>奇数</m:t>
                                </m:r>
                                <m:r>
                                  <a:rPr lang="en-US" altLang="ja-JP" b="0" i="1" smtClean="0">
                                    <a:latin typeface="Cambria Math" panose="02040503050406030204" pitchFamily="18" charset="0"/>
                                  </a:rPr>
                                  <m:t>,</m:t>
                                </m:r>
                                <m:r>
                                  <a:rPr lang="en-US" altLang="ja-JP" b="0" i="1" smtClean="0">
                                    <a:latin typeface="Cambria Math" panose="02040503050406030204" pitchFamily="18" charset="0"/>
                                  </a:rPr>
                                  <m:t>𝑑</m:t>
                                </m:r>
                                <m:r>
                                  <a:rPr lang="en-US" altLang="ja-JP" b="0" i="1" smtClean="0">
                                    <a:latin typeface="Cambria Math" panose="02040503050406030204" pitchFamily="18" charset="0"/>
                                    <a:ea typeface="Cambria Math" panose="02040503050406030204" pitchFamily="18" charset="0"/>
                                  </a:rPr>
                                  <m:t>≥3</m:t>
                                </m:r>
                                <m:r>
                                  <a:rPr lang="en-US" b="0" i="1" smtClean="0">
                                    <a:latin typeface="Cambria Math" panose="02040503050406030204" pitchFamily="18" charset="0"/>
                                  </a:rPr>
                                  <m:t>)</m:t>
                                </m:r>
                              </m:e>
                              <m:e>
                                <m:r>
                                  <a:rPr lang="en-US" b="0" i="1" smtClean="0">
                                    <a:latin typeface="Cambria Math" panose="02040503050406030204" pitchFamily="18" charset="0"/>
                                  </a:rPr>
                                  <m:t>&amp;</m:t>
                                </m:r>
                                <m:sSub>
                                  <m:sSubPr>
                                    <m:ctrlPr>
                                      <a:rPr lang="en-US" i="1">
                                        <a:latin typeface="Cambria Math" panose="02040503050406030204" pitchFamily="18" charset="0"/>
                                      </a:rPr>
                                    </m:ctrlPr>
                                  </m:sSubPr>
                                  <m:e>
                                    <m:r>
                                      <a:rPr lang="en-US" i="1">
                                        <a:latin typeface="Cambria Math" panose="02040503050406030204" pitchFamily="18" charset="0"/>
                                      </a:rPr>
                                      <m:t>𝑃</m:t>
                                    </m:r>
                                  </m:e>
                                  <m:sub>
                                    <m:f>
                                      <m:fPr>
                                        <m:ctrlPr>
                                          <a:rPr lang="en-US" i="1">
                                            <a:latin typeface="Cambria Math" panose="02040503050406030204" pitchFamily="18" charset="0"/>
                                          </a:rPr>
                                        </m:ctrlPr>
                                      </m:fPr>
                                      <m:num>
                                        <m:r>
                                          <a:rPr lang="en-US" i="1">
                                            <a:latin typeface="Cambria Math" panose="02040503050406030204" pitchFamily="18" charset="0"/>
                                          </a:rPr>
                                          <m:t>𝑑</m:t>
                                        </m:r>
                                        <m:r>
                                          <a:rPr lang="en-US" i="1">
                                            <a:latin typeface="Cambria Math" panose="02040503050406030204" pitchFamily="18" charset="0"/>
                                          </a:rPr>
                                          <m:t>−2</m:t>
                                        </m:r>
                                      </m:num>
                                      <m:den>
                                        <m:r>
                                          <a:rPr lang="en-US" i="1">
                                            <a:latin typeface="Cambria Math" panose="02040503050406030204" pitchFamily="18" charset="0"/>
                                          </a:rPr>
                                          <m:t>2</m:t>
                                        </m:r>
                                      </m:den>
                                    </m:f>
                                  </m:sub>
                                </m:sSub>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𝑋</m:t>
                                        </m:r>
                                      </m:e>
                                      <m:sup>
                                        <m:r>
                                          <a:rPr lang="en-US" i="1">
                                            <a:latin typeface="Cambria Math" panose="02040503050406030204" pitchFamily="18" charset="0"/>
                                          </a:rPr>
                                          <m:t>2</m:t>
                                        </m:r>
                                      </m:sup>
                                    </m:sSup>
                                  </m:e>
                                </m:d>
                                <m:d>
                                  <m:dPr>
                                    <m:ctrlPr>
                                      <a:rPr lang="en-US" i="1">
                                        <a:latin typeface="Cambria Math" panose="02040503050406030204" pitchFamily="18" charset="0"/>
                                      </a:rPr>
                                    </m:ctrlPr>
                                  </m:dPr>
                                  <m:e>
                                    <m:sSup>
                                      <m:sSupPr>
                                        <m:ctrlPr>
                                          <a:rPr lang="en-US" b="0" i="1" smtClean="0">
                                            <a:latin typeface="Cambria Math" panose="02040503050406030204" pitchFamily="18" charset="0"/>
                                          </a:rPr>
                                        </m:ctrlPr>
                                      </m:sSupPr>
                                      <m:e>
                                        <m:r>
                                          <a:rPr lang="en-US" i="1">
                                            <a:latin typeface="Cambria Math" panose="02040503050406030204" pitchFamily="18" charset="0"/>
                                          </a:rPr>
                                          <m:t>𝑋</m:t>
                                        </m:r>
                                      </m:e>
                                      <m:sup>
                                        <m:r>
                                          <a:rPr lang="en-US" b="0" i="1" smtClean="0">
                                            <a:latin typeface="Cambria Math" panose="02040503050406030204" pitchFamily="18" charset="0"/>
                                          </a:rPr>
                                          <m:t>2</m:t>
                                        </m:r>
                                      </m:sup>
                                    </m:sSup>
                                    <m:r>
                                      <a:rPr lang="en-US" i="1">
                                        <a:latin typeface="Cambria Math" panose="02040503050406030204" pitchFamily="18" charset="0"/>
                                      </a:rPr>
                                      <m:t>+</m:t>
                                    </m:r>
                                    <m:r>
                                      <a:rPr lang="en-US" b="0" i="1" smtClean="0">
                                        <a:latin typeface="Cambria Math" panose="02040503050406030204" pitchFamily="18" charset="0"/>
                                      </a:rPr>
                                      <m:t>𝑋</m:t>
                                    </m:r>
                                  </m:e>
                                </m:d>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&amp;(</m:t>
                                </m:r>
                                <m:r>
                                  <a:rPr lang="en-US" i="1">
                                    <a:latin typeface="Cambria Math" panose="02040503050406030204" pitchFamily="18" charset="0"/>
                                  </a:rPr>
                                  <m:t>𝑑</m:t>
                                </m:r>
                                <m:r>
                                  <a:rPr lang="ja-JP" altLang="en-US" i="1">
                                    <a:latin typeface="Cambria Math" panose="02040503050406030204" pitchFamily="18" charset="0"/>
                                  </a:rPr>
                                  <m:t>は偶数</m:t>
                                </m:r>
                                <m:r>
                                  <a:rPr lang="en-US" altLang="ja-JP" i="1">
                                    <a:latin typeface="Cambria Math" panose="02040503050406030204" pitchFamily="18" charset="0"/>
                                  </a:rPr>
                                  <m:t>,</m:t>
                                </m:r>
                                <m:r>
                                  <a:rPr lang="en-US" altLang="ja-JP" i="1">
                                    <a:latin typeface="Cambria Math" panose="02040503050406030204" pitchFamily="18" charset="0"/>
                                  </a:rPr>
                                  <m:t>𝑑</m:t>
                                </m:r>
                                <m:r>
                                  <a:rPr lang="en-US" altLang="ja-JP" i="1">
                                    <a:latin typeface="Cambria Math" panose="02040503050406030204" pitchFamily="18" charset="0"/>
                                    <a:ea typeface="Cambria Math" panose="02040503050406030204" pitchFamily="18" charset="0"/>
                                  </a:rPr>
                                  <m:t>≥3</m:t>
                                </m:r>
                                <m:r>
                                  <a:rPr lang="en-US" i="1">
                                    <a:latin typeface="Cambria Math" panose="02040503050406030204" pitchFamily="18" charset="0"/>
                                  </a:rPr>
                                  <m:t>)</m:t>
                                </m:r>
                              </m:e>
                              <m:e>
                                <m:r>
                                  <a:rPr lang="en-US" b="0" i="1" smtClean="0">
                                    <a:latin typeface="Cambria Math" panose="02040503050406030204" pitchFamily="18" charset="0"/>
                                  </a:rPr>
                                  <m:t>&amp;</m:t>
                                </m:r>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&amp;(</m:t>
                                </m:r>
                                <m:r>
                                  <a:rPr lang="en-US" b="0" i="1" smtClean="0">
                                    <a:latin typeface="Cambria Math" panose="02040503050406030204" pitchFamily="18" charset="0"/>
                                  </a:rPr>
                                  <m:t>𝑑</m:t>
                                </m:r>
                                <m:r>
                                  <a:rPr lang="en-US" b="0" i="1" smtClean="0">
                                    <a:latin typeface="Cambria Math" panose="02040503050406030204" pitchFamily="18" charset="0"/>
                                  </a:rPr>
                                  <m:t>=1)</m:t>
                                </m:r>
                              </m:e>
                              <m:e>
                                <m:r>
                                  <a:rPr lang="en-US" b="0" i="1" smtClean="0">
                                    <a:latin typeface="Cambria Math" panose="02040503050406030204" pitchFamily="18" charset="0"/>
                                  </a:rPr>
                                  <m:t>&amp;</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2</m:t>
                                    </m:r>
                                  </m:sup>
                                </m:sSup>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&amp;(</m:t>
                                </m:r>
                                <m:r>
                                  <a:rPr lang="en-US" b="0" i="1" smtClean="0">
                                    <a:latin typeface="Cambria Math" panose="02040503050406030204" pitchFamily="18" charset="0"/>
                                  </a:rPr>
                                  <m:t>𝑑</m:t>
                                </m:r>
                                <m:r>
                                  <a:rPr lang="en-US" b="0" i="1" smtClean="0">
                                    <a:latin typeface="Cambria Math" panose="02040503050406030204" pitchFamily="18" charset="0"/>
                                  </a:rPr>
                                  <m:t>=2)</m:t>
                                </m:r>
                              </m:e>
                            </m:eqArr>
                          </m:e>
                        </m:d>
                      </m:oMath>
                    </m:oMathPara>
                  </a14:m>
                  <a:endParaRPr lang="en-US" dirty="0"/>
                </a:p>
              </p:txBody>
            </p:sp>
          </mc:Choice>
          <mc:Fallback xmlns="">
            <p:sp>
              <p:nvSpPr>
                <p:cNvPr id="28" name="テキスト ボックス 27">
                  <a:extLst>
                    <a:ext uri="{FF2B5EF4-FFF2-40B4-BE49-F238E27FC236}">
                      <a16:creationId xmlns:a16="http://schemas.microsoft.com/office/drawing/2014/main" id="{C3C86E98-BAE2-47E9-BD5F-11EC383D7668}"/>
                    </a:ext>
                  </a:extLst>
                </p:cNvPr>
                <p:cNvSpPr txBox="1">
                  <a:spLocks noRot="1" noChangeAspect="1" noMove="1" noResize="1" noEditPoints="1" noAdjustHandles="1" noChangeArrowheads="1" noChangeShapeType="1" noTextEdit="1"/>
                </p:cNvSpPr>
                <p:nvPr/>
              </p:nvSpPr>
              <p:spPr>
                <a:xfrm>
                  <a:off x="417665" y="4856448"/>
                  <a:ext cx="4977388" cy="1585434"/>
                </a:xfrm>
                <a:prstGeom prst="rect">
                  <a:avLst/>
                </a:prstGeom>
                <a:blipFill>
                  <a:blip r:embed="rId8"/>
                  <a:stretch>
                    <a:fillRect/>
                  </a:stretch>
                </a:blipFill>
              </p:spPr>
              <p:txBody>
                <a:bodyPr/>
                <a:lstStyle/>
                <a:p>
                  <a:r>
                    <a:rPr lang="en-US">
                      <a:noFill/>
                    </a:rPr>
                    <a:t> </a:t>
                  </a:r>
                </a:p>
              </p:txBody>
            </p:sp>
          </mc:Fallback>
        </mc:AlternateContent>
      </p:grpSp>
      <p:sp>
        <p:nvSpPr>
          <p:cNvPr id="29" name="テキスト ボックス 28">
            <a:extLst>
              <a:ext uri="{FF2B5EF4-FFF2-40B4-BE49-F238E27FC236}">
                <a16:creationId xmlns:a16="http://schemas.microsoft.com/office/drawing/2014/main" id="{3076F4C0-ECA9-4884-85B0-7FDC86D0766D}"/>
              </a:ext>
            </a:extLst>
          </p:cNvPr>
          <p:cNvSpPr txBox="1"/>
          <p:nvPr/>
        </p:nvSpPr>
        <p:spPr>
          <a:xfrm>
            <a:off x="6911464" y="5444304"/>
            <a:ext cx="5155845" cy="1200329"/>
          </a:xfrm>
          <a:prstGeom prst="rect">
            <a:avLst/>
          </a:prstGeom>
          <a:noFill/>
        </p:spPr>
        <p:txBody>
          <a:bodyPr wrap="square" rtlCol="0">
            <a:spAutoFit/>
          </a:bodyPr>
          <a:lstStyle/>
          <a:p>
            <a:pPr marL="285750" indent="-285750">
              <a:buFont typeface="Arial" panose="020B0604020202020204" pitchFamily="34" charset="0"/>
              <a:buChar char="•"/>
            </a:pPr>
            <a:r>
              <a:rPr lang="ja-JP" altLang="en-US" sz="2400" dirty="0"/>
              <a:t>反復ごとの計算量の削減</a:t>
            </a:r>
            <a:endParaRPr lang="en-US" altLang="ja-JP" sz="2400" dirty="0"/>
          </a:p>
          <a:p>
            <a:pPr marL="285750" indent="-285750">
              <a:buFont typeface="Arial" panose="020B0604020202020204" pitchFamily="34" charset="0"/>
              <a:buChar char="•"/>
            </a:pPr>
            <a:r>
              <a:rPr lang="ja-JP" altLang="en-US" sz="2400" dirty="0"/>
              <a:t>乗根数の拡大による反復ごとの</a:t>
            </a:r>
            <a:endParaRPr lang="en-US" altLang="ja-JP" sz="2400" dirty="0"/>
          </a:p>
          <a:p>
            <a:r>
              <a:rPr lang="ja-JP" altLang="en-US" sz="2400" dirty="0"/>
              <a:t>　計算量の増加はすくない</a:t>
            </a:r>
            <a:endParaRPr lang="en-US" sz="2400" dirty="0"/>
          </a:p>
        </p:txBody>
      </p:sp>
    </p:spTree>
    <p:extLst>
      <p:ext uri="{BB962C8B-B14F-4D97-AF65-F5344CB8AC3E}">
        <p14:creationId xmlns:p14="http://schemas.microsoft.com/office/powerpoint/2010/main" val="1909734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Lst>
  </p:timing>
</p:sld>
</file>

<file path=ppt/tags/tag1.xml><?xml version="1.0" encoding="utf-8"?>
<p:tagLst xmlns:a="http://schemas.openxmlformats.org/drawingml/2006/main" xmlns:r="http://schemas.openxmlformats.org/officeDocument/2006/relationships" xmlns:p="http://schemas.openxmlformats.org/presentationml/2006/main">
  <p:tag name="OUTPUTDPI" val="1200"/>
  <p:tag name="ORIGINALHEIGHT" val="278.2888"/>
  <p:tag name="ORIGINALWIDTH" val="915.1277"/>
  <p:tag name="LATEXADDIN" val="\documentclass{article}&#10;\usepackage{amsmath}&#10;\pagestyle{empty}&#10;\usepackage{physics}&#10;\usepackage{fouriernc}&#10;\usepackage[T1]{fontenc}&#10;\usepackage[bb=boondox, cal=euler]{mathalfa}&#10;\let\mathbb\mathbbb&#10;\let\mathcal\mathbcal&#10;\newcommand{\bC}{\mathbb{C}}&#10;\newcommand{\bCp}{\mathbb{C}^+}&#10;\newcommand{\bCm}{\mathbb{C}^-}&#10;\newcommand{\bCn}{\mathbb{C}^n}&#10;\newcommand{\bCmm}{\mathbb{C}^{m\times m}}&#10;\newcommand{\bCnn}{\mathbb{C}^{n\times n}}&#10;\newcommand{\bHm}{\mathbb{H}^-}&#10;\newcommand{\bHp}{\mathbb{H}^+}&#10;\newcommand{\bK}{\mathbb{K}}&#10;\newcommand{\bN}{\mathbb{N}}&#10;\newcommand{\bP}{\mathbb{P}}&#10;\newcommand{\bR}{\mathbb{R}}&#10;\newcommand{\bRp}{\mathbb{R}^+}&#10;\newcommand{\bRm}{\mathbb{R}^-}&#10;\newcommand{\bRn}{\mathbb{R}^n}&#10;\newcommand{\bRnn}{\mathbb{R}^{n\times n}}&#10;\newcommand{\bS}{\mathbb{S}}&#10;\newcommand{\ibC}{\in \mathbb{C}}&#10;\newcommand{\ibCp}{\in \mathbb{C}^+}&#10;\newcommand{\ibCm}{\in \mathbb{C}^-}&#10;\newcommand{\ibCn}{\in \mathbb{C}^n}&#10;\newcommand{\ibCmm}{\in \mathbb{C}^{m \times m}}&#10;\newcommand{\ibCnn}{\in \mathbb{C}^{n \times n}}&#10;\newcommand{\ibHp}{\in \mathbb{H}^+}&#10;\newcommand{\ibHm}{\in \mathbb{H}^-}&#10;\newcommand{\ibN}{\in \mathbb{N}}&#10;\newcommand{\ibP}{\in \mathbb{P}}&#10;\newcommand{\ibR}{\in \mathbb{R}}&#10;\newcommand{\ibRp}{\in \mathbb{R}^+}&#10;\newcommand{\ibRm}{\in \mathbb{R}^-}&#10;\newcommand{\ibRn}{\in \mathbb{R}^n}&#10;\newcommand{\ibRnn}{\in \mathbb{R}^{n \times n}}&#10;\newcommand{\cHppnn}{\mathcal{H}_{++}^{n\times n}}&#10;\newcommand{\cHpnn}{\mathcal{H}_{+}^{n\times n}}&#10;\newcommand{\cHnn}{\mathcal{H}^{n\times n}}&#10;\newcommand{\cNnn}{\mathcal{N}^{n\times n}}&#10;\newcommand{\cSppnn}{\mathcal{S}_{++}^{n\times n}}&#10;\newcommand{\cSpnn}{\mathcal{S}_{+}^{n\times n}}&#10;\newcommand{\cSnn}{\mathcal{S}^{n\times n}}&#10;\newcommand{\cPppnn}{\mathcal{P}_{++}^{n\times n}}&#10;\newcommand{\cPpnn}{\mathcal{P}_{+}^{n\times n}}&#10;\newcommand{\cM}{\mathcal{M}}&#10;\newcommand{\cP}{\mathcal{P}}&#10;\newcommand{\sdtd}{\ \mathrm{s.t.}\ }&#10;\newcommand{\exist}{\exists}&#10;\newcommand{\existo}{\exists^1}&#10;\newcommand{\longvec}[1]{\overrightarrow{#1}}&#10;\newcommand{\bcite}[2]{{\small [#1, #2]}}&#10;\newcommand{\proot}[2]{#1^{1/ #2}}&#10;\newcommand{\psr}[1]{#1^{1/2}}&#10;\newcommand{\Ap}{A^{1/p}}&#10;\newcommand{\e}{\constant{e}}&#10;\newcommand{\expmdef}[1]{I+#1+\frac{#1^2}{2!}+\frac{#1^3}{3!}+\cdots}&#10;\newcommand{\floor}[1]{\lfloor #1 \rfloor}&#10;\newcommand{\diag}{\mathrm{diag}}&#10;\newcommand{\conj}[1]{\overline{#1}}&#10;\newcommand{\zerom}{O}&#10;\newcommand{\adj}{\mathrm{adj}}&#10;\newcommand{\Order}{\mathcal{O}}&#10;\newcommand{\dotprd}[2]{\qty(#1,#2)}&#10;\newcommand{\trc}{\mathrm{tr}}&#10;\newcommand{\fnorm}[1]{\norm{#1}_F}&#10;\newcommand{\gmeandef}[2]{G\qty(#1_1,\dots,#1_{#2})}&#10;\newcommand{\gmean}[2]{\qty(#1_1\cdots#1_{#2})^{1/#2}}&#10;\newcommand{\seq}[2]{#1_1,\dots,#1_{#2}}&#10;\newcommand{\intzi}[2]{\displaystyle\int_0^{\infty}#1 \dd{#2}}&#10;\newcommand{\intii}[2]{\displaystyle\int_{-\infty}^{\infty}#1 \dd{#2}}&#10;\newcommand{\intzp}[2]{\displaystyle\int_0^{\pi}#1 \dd{#2}}&#10;\newcommand{\intztp}[2]{\displaystyle\int_0^{2\pi}#1 \dd{#2}}&#10;\newcommand{\intoo}[2]{\displaystyle\int_{-1}^1 #1 \dd{#2}}&#10;\newcommand{\intzr}[2]{\displaystyle\int_0^r #1 \dd{#2}}&#10;\newcommand{\intri}[2]{\displaystyle\int_r^{\infty} #1 \dd{#2}}&#10;\newcommand{\intzq}[2]{\displaystyle\int_0^q #1 \dd{#2}}&#10;\newcommand{\intqi}[2]{\displaystyle\int_q^{\infty} #1 \dd{#2}}&#10;\newcommand{\intCau}[2]{\displaystyle\frac{1}{2\pi i}\int_{\Gamma}#1\dd{#2}}&#10;\newcommand{\sumkzi}{\sum_{k=0}^{\infty}}&#10;\newcommand{\sumnzi}{\sum_{n=0}^{\infty}}&#10;\newcommand{\mmax}[1]{\underset{#1}{\mathrm{max}}}&#10;\newcommand{\mmin}[1]{\underset{#1}{\mathrm{max}}}&#10;\newcommand{\argmax}[1]{\underset{#1}{\mathrm{arg\,max}}}&#10;\newcommand{\argmin}[1]{\underset{#1}{\mathrm{arg\,min}}}&#10;\newcommand{\msup}[1]{\underset{#1}{\mathrm{sup}}}&#10;\newcommand{\minf}[1]{\underset{#1}{\mathrm{inf}}}&#10;\newcommand{\xast}{x_{\ast}}&#10;\newcommand{\Xast}{X_{\ast}}&#10;\newcommand{\Real}{\mathrm{Re}}&#10;\newcommand{\Imag}{\mathrm{Im}}&#10;\newcommand{\defarr}{\overset{\mathrm{def}}{\Leftrightarrow}}&#10;\newcommand{\LRA}{\Leftrightarrow}&#10;\newcommand{\RA}{\Rightarrow}&#10;\newcommand{\rmvec}{\mathrm{vec}}&#10;\newcommand{\frpi}[1]{\frac{\pi}{#1}}&#10;\newcommand{\cfrpi}[1]{\cfrac{\pi}{#1}}&#10;\newcommand{\ifrpi}[1]{\cfrac{#1}{\pi}}&#10;\newcommand{\icfrpi}[1]{\cfrac{#1}{\pi}}&#10;\newcommand{\alp}{\alpha}&#10;\newcommand{\gmm}{\gamma}&#10;\newcommand{\Gmm}{\Gamma}&#10;\newcommand{\dlt}{\delta}&#10;\newcommand{\Dlt}{\Delta}&#10;\newcommand{\eps}{\epsilon}&#10;\newcommand{\veps}{\verepsilon}&#10;\newcommand{\Eps}{\Epsilon}&#10;\newcommand{\tht}{\theta}&#10;\newcommand{\Tht}{\Theta}&#10;\newcommand{\kpp}{\kappa}&#10;\newcommand{\Kpp}{\Kappa}&#10;\newcommand{\lmd}{\lambda}&#10;\newcommand{\Lmd}{\Lambda}&#10;\newcommand{\Sgm}{\Sigma}&#10;\newcommand{\sgm}{\sigma}&#10;\newcommand{\vphi}{\varphi}&#10;\newcommand{\omg}{\omega}&#10;\newcommand{\Omg}{\Omega}&#10;\usepackage{xcolor}&#10;\definecolor{txt}{HTML}{282828}&#10;\definecolor{accent}{HTML}{B80D48}&#10;\definecolor{main}{HTML}{2B6A6C}&#10;\begin{document}&#10;\color{txt}&#10;\begin{align*}&#10;x_{k+1}=x_k -\frac{f(x_k)}{f'(x_k)}&#10;\end{align*}&#10;\end{document}"/>
  <p:tag name="IGUANATEXSIZE" val="26"/>
  <p:tag name="IGUANATEXCURSOR" val="4849"/>
  <p:tag name="TRANSPARENCY" val="True"/>
  <p:tag name="FILENAME" val=""/>
  <p:tag name="LATEXENGINEID" val="4"/>
  <p:tag name="TEMPFOLDER" val="c:\temp\"/>
  <p:tag name="LATEXFORMHEIGHT" val="312"/>
  <p:tag name="LATEXFORMWIDTH" val="385"/>
  <p:tag name="LATEXFORMWRAP" val="True"/>
  <p:tag name="BITMAPVECTOR" val="0"/>
</p:tagLst>
</file>

<file path=ppt/tags/tag2.xml><?xml version="1.0" encoding="utf-8"?>
<p:tagLst xmlns:a="http://schemas.openxmlformats.org/drawingml/2006/main" xmlns:r="http://schemas.openxmlformats.org/officeDocument/2006/relationships" xmlns:p="http://schemas.openxmlformats.org/presentationml/2006/main">
  <p:tag name="OUTPUTDPI" val="1200"/>
  <p:tag name="ORIGINALHEIGHT" val="184.5257"/>
  <p:tag name="ORIGINALWIDTH" val="1309.683"/>
  <p:tag name="LATEXADDIN" val="\documentclass{article}&#10;\usepackage{amsmath}&#10;\pagestyle{empty}&#10;\usepackage{physics}&#10;\usepackage{fouriernc}&#10;\usepackage[T1]{fontenc}&#10;\usepackage[bb=boondox, cal=euler]{mathalfa}&#10;\let\mathbb\mathbbb&#10;\let\mathcal\mathbcal&#10;\newcommand{\bC}{\mathbb{C}}&#10;\newcommand{\bCp}{\mathbb{C}^+}&#10;\newcommand{\bCm}{\mathbb{C}^-}&#10;\newcommand{\bCn}{\mathbb{C}^n}&#10;\newcommand{\bCmm}{\mathbb{C}^{m\times m}}&#10;\newcommand{\bCnn}{\mathbb{C}^{n\times n}}&#10;\newcommand{\bHm}{\mathbb{H}^-}&#10;\newcommand{\bHp}{\mathbb{H}^+}&#10;\newcommand{\bK}{\mathbb{K}}&#10;\newcommand{\bN}{\mathbb{N}}&#10;\newcommand{\bP}{\mathbb{P}}&#10;\newcommand{\bR}{\mathbb{R}}&#10;\newcommand{\bRp}{\mathbb{R}^+}&#10;\newcommand{\bRm}{\mathbb{R}^-}&#10;\newcommand{\bRn}{\mathbb{R}^n}&#10;\newcommand{\bRnn}{\mathbb{R}^{n\times n}}&#10;\newcommand{\bS}{\mathbb{S}}&#10;\newcommand{\ibC}{\in \mathbb{C}}&#10;\newcommand{\ibCp}{\in \mathbb{C}^+}&#10;\newcommand{\ibCm}{\in \mathbb{C}^-}&#10;\newcommand{\ibCn}{\in \mathbb{C}^n}&#10;\newcommand{\ibCmm}{\in \mathbb{C}^{m \times m}}&#10;\newcommand{\ibCnn}{\in \mathbb{C}^{n \times n}}&#10;\newcommand{\ibHp}{\in \mathbb{H}^+}&#10;\newcommand{\ibHm}{\in \mathbb{H}^-}&#10;\newcommand{\ibN}{\in \mathbb{N}}&#10;\newcommand{\ibP}{\in \mathbb{P}}&#10;\newcommand{\ibR}{\in \mathbb{R}}&#10;\newcommand{\ibRp}{\in \mathbb{R}^+}&#10;\newcommand{\ibRm}{\in \mathbb{R}^-}&#10;\newcommand{\ibRn}{\in \mathbb{R}^n}&#10;\newcommand{\ibRnn}{\in \mathbb{R}^{n \times n}}&#10;\newcommand{\cHppnn}{\mathcal{H}_{++}^{n\times n}}&#10;\newcommand{\cHpnn}{\mathcal{H}_{+}^{n\times n}}&#10;\newcommand{\cHnn}{\mathcal{H}^{n\times n}}&#10;\newcommand{\cNnn}{\mathcal{N}^{n\times n}}&#10;\newcommand{\cSppnn}{\mathcal{S}_{++}^{n\times n}}&#10;\newcommand{\cSpnn}{\mathcal{S}_{+}^{n\times n}}&#10;\newcommand{\cSnn}{\mathcal{S}^{n\times n}}&#10;\newcommand{\cPppnn}{\mathcal{P}_{++}^{n\times n}}&#10;\newcommand{\cPpnn}{\mathcal{P}_{+}^{n\times n}}&#10;\newcommand{\cM}{\mathcal{M}}&#10;\newcommand{\cP}{\mathcal{P}}&#10;\newcommand{\sdtd}{\ \mathrm{s.t.}\ }&#10;\newcommand{\exist}{\exists}&#10;\newcommand{\existo}{\exists^1}&#10;\newcommand{\longvec}[1]{\overrightarrow{#1}}&#10;\newcommand{\bcite}[2]{{\small [#1, #2]}}&#10;\newcommand{\proot}[2]{#1^{1/ #2}}&#10;\newcommand{\psr}[1]{#1^{1/2}}&#10;\newcommand{\Ap}{A^{1/p}}&#10;\newcommand{\e}{\constant{e}}&#10;\newcommand{\expmdef}[1]{I+#1+\frac{#1^2}{2!}+\frac{#1^3}{3!}+\cdots}&#10;\newcommand{\floor}[1]{\lfloor #1 \rfloor}&#10;\newcommand{\diag}{\mathrm{diag}}&#10;\newcommand{\conj}[1]{\overline{#1}}&#10;\newcommand{\zerom}{O}&#10;\newcommand{\adj}{\mathrm{adj}}&#10;\newcommand{\Order}{\mathcal{O}}&#10;\newcommand{\dotprd}[2]{\qty(#1,#2)}&#10;\newcommand{\trc}{\mathrm{tr}}&#10;\newcommand{\fnorm}[1]{\norm{#1}_F}&#10;\newcommand{\gmeandef}[2]{G\qty(#1_1,\dots,#1_{#2})}&#10;\newcommand{\gmean}[2]{\qty(#1_1\cdots#1_{#2})^{1/#2}}&#10;\newcommand{\seq}[2]{#1_1,\dots,#1_{#2}}&#10;\newcommand{\intzi}[2]{\displaystyle\int_0^{\infty}#1 \dd{#2}}&#10;\newcommand{\intii}[2]{\displaystyle\int_{-\infty}^{\infty}#1 \dd{#2}}&#10;\newcommand{\intzp}[2]{\displaystyle\int_0^{\pi}#1 \dd{#2}}&#10;\newcommand{\intztp}[2]{\displaystyle\int_0^{2\pi}#1 \dd{#2}}&#10;\newcommand{\intoo}[2]{\displaystyle\int_{-1}^1 #1 \dd{#2}}&#10;\newcommand{\intzr}[2]{\displaystyle\int_0^r #1 \dd{#2}}&#10;\newcommand{\intri}[2]{\displaystyle\int_r^{\infty} #1 \dd{#2}}&#10;\newcommand{\intzq}[2]{\displaystyle\int_0^q #1 \dd{#2}}&#10;\newcommand{\intqi}[2]{\displaystyle\int_q^{\infty} #1 \dd{#2}}&#10;\newcommand{\intCau}[2]{\displaystyle\frac{1}{2\pi i}\int_{\Gamma}#1\dd{#2}}&#10;\newcommand{\sumkzi}{\sum_{k=0}^{\infty}}&#10;\newcommand{\sumnzi}{\sum_{n=0}^{\infty}}&#10;\newcommand{\mmax}[1]{\underset{#1}{\mathrm{max}}}&#10;\newcommand{\mmin}[1]{\underset{#1}{\mathrm{max}}}&#10;\newcommand{\argmax}[1]{\underset{#1}{\mathrm{arg\,max}}}&#10;\newcommand{\argmin}[1]{\underset{#1}{\mathrm{arg\,min}}}&#10;\newcommand{\msup}[1]{\underset{#1}{\mathrm{sup}}}&#10;\newcommand{\minf}[1]{\underset{#1}{\mathrm{inf}}}&#10;\newcommand{\xast}{x_{\ast}}&#10;\newcommand{\Xast}{X_{\ast}}&#10;\newcommand{\Real}{\mathrm{Re}}&#10;\newcommand{\Imag}{\mathrm{Im}}&#10;\newcommand{\defarr}{\overset{\mathrm{def}}{\Leftrightarrow}}&#10;\newcommand{\LRA}{\Leftrightarrow}&#10;\newcommand{\RA}{\Rightarrow}&#10;\newcommand{\rmvec}{\mathrm{vec}}&#10;\newcommand{\frpi}[1]{\frac{\pi}{#1}}&#10;\newcommand{\cfrpi}[1]{\cfrac{\pi}{#1}}&#10;\newcommand{\ifrpi}[1]{\cfrac{#1}{\pi}}&#10;\newcommand{\icfrpi}[1]{\cfrac{#1}{\pi}}&#10;\newcommand{\alp}{\alpha}&#10;\newcommand{\gmm}{\gamma}&#10;\newcommand{\Gmm}{\Gamma}&#10;\newcommand{\dlt}{\delta}&#10;\newcommand{\Dlt}{\Delta}&#10;\newcommand{\eps}{\epsilon}&#10;\newcommand{\veps}{\verepsilon}&#10;\newcommand{\Eps}{\Epsilon}&#10;\newcommand{\tht}{\theta}&#10;\newcommand{\Tht}{\Theta}&#10;\newcommand{\kpp}{\kappa}&#10;\newcommand{\Kpp}{\Kappa}&#10;\newcommand{\lmd}{\lambda}&#10;\newcommand{\Lmd}{\Lambda}&#10;\newcommand{\Sgm}{\Sigma}&#10;\newcommand{\sgm}{\sigma}&#10;\newcommand{\vphi}{\varphi}&#10;\newcommand{\omg}{\omega}&#10;\newcommand{\Omg}{\Omega}&#10;\usepackage{xcolor}&#10;\definecolor{txt}{HTML}{282828}&#10;\definecolor{accent}{HTML}{B80D48}&#10;\definecolor{main}{HTML}{2B6A6C}&#10;\begin{document}&#10;\color{txt}&#10;\begin{align*}&#10;x_{k+1}=x_k - \tfrac{1}{p}\qty\big(&#10;x_k - ax_k^{1-p}&#10;)&#10;\end{align*}&#10;\end{document}"/>
  <p:tag name="IGUANATEXSIZE" val="26"/>
  <p:tag name="IGUANATEXCURSOR" val="4852"/>
  <p:tag name="TRANSPARENCY" val="True"/>
  <p:tag name="FILENAME" val=""/>
  <p:tag name="LATEXENGINEID" val="4"/>
  <p:tag name="TEMPFOLDER" val="c:\temp\"/>
  <p:tag name="LATEXFORMHEIGHT" val="312"/>
  <p:tag name="LATEXFORMWIDTH" val="385"/>
  <p:tag name="LATEXFORMWRAP" val="True"/>
  <p:tag name="BITMAPVECTOR" val="0"/>
</p:tagLst>
</file>

<file path=ppt/tags/tag3.xml><?xml version="1.0" encoding="utf-8"?>
<p:tagLst xmlns:a="http://schemas.openxmlformats.org/drawingml/2006/main" xmlns:r="http://schemas.openxmlformats.org/officeDocument/2006/relationships" xmlns:p="http://schemas.openxmlformats.org/presentationml/2006/main">
  <p:tag name="OUTPUTDPI" val="1200"/>
  <p:tag name="ORIGINALHEIGHT" val="184.5257"/>
  <p:tag name="ORIGINALWIDTH" val="1474.706"/>
  <p:tag name="LATEXADDIN" val="\documentclass{article}&#10;\usepackage{amsmath}&#10;\pagestyle{empty}&#10;\usepackage{physics}&#10;\usepackage{fouriernc}&#10;\usepackage[T1]{fontenc}&#10;\usepackage[bb=boondox, cal=euler]{mathalfa}&#10;\let\mathbb\mathbbb&#10;\let\mathcal\mathbcal&#10;\newcommand{\bC}{\mathbb{C}}&#10;\newcommand{\bCp}{\mathbb{C}^+}&#10;\newcommand{\bCm}{\mathbb{C}^-}&#10;\newcommand{\bCn}{\mathbb{C}^n}&#10;\newcommand{\bCmm}{\mathbb{C}^{m\times m}}&#10;\newcommand{\bCnn}{\mathbb{C}^{n\times n}}&#10;\newcommand{\bHm}{\mathbb{H}^-}&#10;\newcommand{\bHp}{\mathbb{H}^+}&#10;\newcommand{\bK}{\mathbb{K}}&#10;\newcommand{\bN}{\mathbb{N}}&#10;\newcommand{\bP}{\mathbb{P}}&#10;\newcommand{\bR}{\mathbb{R}}&#10;\newcommand{\bRp}{\mathbb{R}^+}&#10;\newcommand{\bRm}{\mathbb{R}^-}&#10;\newcommand{\bRn}{\mathbb{R}^n}&#10;\newcommand{\bRnn}{\mathbb{R}^{n\times n}}&#10;\newcommand{\bS}{\mathbb{S}}&#10;\newcommand{\ibC}{\in \mathbb{C}}&#10;\newcommand{\ibCp}{\in \mathbb{C}^+}&#10;\newcommand{\ibCm}{\in \mathbb{C}^-}&#10;\newcommand{\ibCn}{\in \mathbb{C}^n}&#10;\newcommand{\ibCmm}{\in \mathbb{C}^{m \times m}}&#10;\newcommand{\ibCnn}{\in \mathbb{C}^{n \times n}}&#10;\newcommand{\ibHp}{\in \mathbb{H}^+}&#10;\newcommand{\ibHm}{\in \mathbb{H}^-}&#10;\newcommand{\ibN}{\in \mathbb{N}}&#10;\newcommand{\ibP}{\in \mathbb{P}}&#10;\newcommand{\ibR}{\in \mathbb{R}}&#10;\newcommand{\ibRp}{\in \mathbb{R}^+}&#10;\newcommand{\ibRm}{\in \mathbb{R}^-}&#10;\newcommand{\ibRn}{\in \mathbb{R}^n}&#10;\newcommand{\ibRnn}{\in \mathbb{R}^{n \times n}}&#10;\newcommand{\cHppnn}{\mathcal{H}_{++}^{n\times n}}&#10;\newcommand{\cHpnn}{\mathcal{H}_{+}^{n\times n}}&#10;\newcommand{\cHnn}{\mathcal{H}^{n\times n}}&#10;\newcommand{\cNnn}{\mathcal{N}^{n\times n}}&#10;\newcommand{\cSppnn}{\mathcal{S}_{++}^{n\times n}}&#10;\newcommand{\cSpnn}{\mathcal{S}_{+}^{n\times n}}&#10;\newcommand{\cSnn}{\mathcal{S}^{n\times n}}&#10;\newcommand{\cPppnn}{\mathcal{P}_{++}^{n\times n}}&#10;\newcommand{\cPpnn}{\mathcal{P}_{+}^{n\times n}}&#10;\newcommand{\cM}{\mathcal{M}}&#10;\newcommand{\cP}{\mathcal{P}}&#10;\newcommand{\sdtd}{\ \mathrm{s.t.}\ }&#10;\newcommand{\exist}{\exists}&#10;\newcommand{\existo}{\exists^1}&#10;\newcommand{\longvec}[1]{\overrightarrow{#1}}&#10;\newcommand{\bcite}[2]{{\small [#1, #2]}}&#10;\newcommand{\proot}[2]{#1^{1/ #2}}&#10;\newcommand{\psr}[1]{#1^{1/2}}&#10;\newcommand{\Ap}{A^{1/p}}&#10;\newcommand{\e}{\constant{e}}&#10;\newcommand{\expmdef}[1]{I+#1+\frac{#1^2}{2!}+\frac{#1^3}{3!}+\cdots}&#10;\newcommand{\floor}[1]{\lfloor #1 \rfloor}&#10;\newcommand{\diag}{\mathrm{diag}}&#10;\newcommand{\conj}[1]{\overline{#1}}&#10;\newcommand{\zerom}{O}&#10;\newcommand{\adj}{\mathrm{adj}}&#10;\newcommand{\Order}{\mathcal{O}}&#10;\newcommand{\dotprd}[2]{\qty(#1,#2)}&#10;\newcommand{\trc}{\mathrm{tr}}&#10;\newcommand{\fnorm}[1]{\norm{#1}_F}&#10;\newcommand{\gmeandef}[2]{G\qty(#1_1,\dots,#1_{#2})}&#10;\newcommand{\gmean}[2]{\qty(#1_1\cdots#1_{#2})^{1/#2}}&#10;\newcommand{\seq}[2]{#1_1,\dots,#1_{#2}}&#10;\newcommand{\intzi}[2]{\displaystyle\int_0^{\infty}#1 \dd{#2}}&#10;\newcommand{\intii}[2]{\displaystyle\int_{-\infty}^{\infty}#1 \dd{#2}}&#10;\newcommand{\intzp}[2]{\displaystyle\int_0^{\pi}#1 \dd{#2}}&#10;\newcommand{\intztp}[2]{\displaystyle\int_0^{2\pi}#1 \dd{#2}}&#10;\newcommand{\intoo}[2]{\displaystyle\int_{-1}^1 #1 \dd{#2}}&#10;\newcommand{\intzr}[2]{\displaystyle\int_0^r #1 \dd{#2}}&#10;\newcommand{\intri}[2]{\displaystyle\int_r^{\infty} #1 \dd{#2}}&#10;\newcommand{\intzq}[2]{\displaystyle\int_0^q #1 \dd{#2}}&#10;\newcommand{\intqi}[2]{\displaystyle\int_q^{\infty} #1 \dd{#2}}&#10;\newcommand{\intCau}[2]{\displaystyle\frac{1}{2\pi i}\int_{\Gamma}#1\dd{#2}}&#10;\newcommand{\sumkzi}{\sum_{k=0}^{\infty}}&#10;\newcommand{\sumnzi}{\sum_{n=0}^{\infty}}&#10;\newcommand{\mmax}[1]{\underset{#1}{\mathrm{max}}}&#10;\newcommand{\mmin}[1]{\underset{#1}{\mathrm{max}}}&#10;\newcommand{\argmax}[1]{\underset{#1}{\mathrm{arg\,max}}}&#10;\newcommand{\argmin}[1]{\underset{#1}{\mathrm{arg\,min}}}&#10;\newcommand{\msup}[1]{\underset{#1}{\mathrm{sup}}}&#10;\newcommand{\minf}[1]{\underset{#1}{\mathrm{inf}}}&#10;\newcommand{\xast}{x_{\ast}}&#10;\newcommand{\Xast}{X_{\ast}}&#10;\newcommand{\Real}{\mathrm{Re}}&#10;\newcommand{\Imag}{\mathrm{Im}}&#10;\newcommand{\defarr}{\overset{\mathrm{def}}{\Leftrightarrow}}&#10;\newcommand{\LRA}{\Leftrightarrow}&#10;\newcommand{\RA}{\Rightarrow}&#10;\newcommand{\rmvec}{\mathrm{vec}}&#10;\newcommand{\frpi}[1]{\frac{\pi}{#1}}&#10;\newcommand{\cfrpi}[1]{\cfrac{\pi}{#1}}&#10;\newcommand{\ifrpi}[1]{\cfrac{#1}{\pi}}&#10;\newcommand{\icfrpi}[1]{\cfrac{#1}{\pi}}&#10;\newcommand{\alp}{\alpha}&#10;\newcommand{\gmm}{\gamma}&#10;\newcommand{\Gmm}{\Gamma}&#10;\newcommand{\dlt}{\delta}&#10;\newcommand{\Dlt}{\Delta}&#10;\newcommand{\eps}{\epsilon}&#10;\newcommand{\veps}{\verepsilon}&#10;\newcommand{\Eps}{\Epsilon}&#10;\newcommand{\tht}{\theta}&#10;\newcommand{\Tht}{\Theta}&#10;\newcommand{\kpp}{\kappa}&#10;\newcommand{\Kpp}{\Kappa}&#10;\newcommand{\lmd}{\lambda}&#10;\newcommand{\Lmd}{\Lambda}&#10;\newcommand{\Sgm}{\Sigma}&#10;\newcommand{\sgm}{\sigma}&#10;\newcommand{\vphi}{\varphi}&#10;\newcommand{\omg}{\omega}&#10;\newcommand{\Omg}{\Omega}&#10;\usepackage{xcolor}&#10;\definecolor{txt}{HTML}{282828}&#10;\definecolor{accent}{HTML}{B80D48}&#10;\definecolor{main}{HTML}{2B6A6C}&#10;\begin{document}&#10;\color{txt}&#10;\begin{align*}&#10;X_{k+1}=X_k-\tfrac{1}{p}\qty\big(&#10;X_k - AX_k^{1-p}&#10;)\end{align*}&#10;\end{document}"/>
  <p:tag name="IGUANATEXSIZE" val="26"/>
  <p:tag name="IGUANATEXCURSOR" val="4885"/>
  <p:tag name="TRANSPARENCY" val="True"/>
  <p:tag name="FILENAME" val=""/>
  <p:tag name="LATEXENGINEID" val="4"/>
  <p:tag name="TEMPFOLDER" val="c:\temp\"/>
  <p:tag name="LATEXFORMHEIGHT" val="312"/>
  <p:tag name="LATEXFORMWIDTH" val="385"/>
  <p:tag name="LATEXFORMWRAP" val="True"/>
  <p:tag name="BITMAPVECTOR" val="0"/>
</p:tagLst>
</file>

<file path=ppt/tags/tag4.xml><?xml version="1.0" encoding="utf-8"?>
<p:tagLst xmlns:a="http://schemas.openxmlformats.org/drawingml/2006/main" xmlns:r="http://schemas.openxmlformats.org/officeDocument/2006/relationships" xmlns:p="http://schemas.openxmlformats.org/presentationml/2006/main">
  <p:tag name="OUTPUTDPI" val="1200"/>
  <p:tag name="ORIGINALHEIGHT" val="116.2662"/>
  <p:tag name="ORIGINALWIDTH" val="642.0896"/>
  <p:tag name="LATEXADDIN" val="\documentclass{article}&#10;\usepackage{amsmath}&#10;\pagestyle{empty}&#10;\usepackage{physics}&#10;\usepackage{fouriernc}&#10;\usepackage[T1]{fontenc}&#10;\usepackage[bb=boondox, cal=euler]{mathalfa}&#10;\let\mathbb\mathbbb&#10;\let\mathcal\mathbcal&#10;\newcommand{\bC}{\mathbb{C}}&#10;\newcommand{\bCp}{\mathbb{C}^+}&#10;\newcommand{\bCm}{\mathbb{C}^-}&#10;\newcommand{\bCn}{\mathbb{C}^n}&#10;\newcommand{\bCmm}{\mathbb{C}^{m\times m}}&#10;\newcommand{\bCnn}{\mathbb{C}^{n\times n}}&#10;\newcommand{\bHm}{\mathbb{H}^-}&#10;\newcommand{\bHp}{\mathbb{H}^+}&#10;\newcommand{\bK}{\mathbb{K}}&#10;\newcommand{\bN}{\mathbb{N}}&#10;\newcommand{\bP}{\mathbb{P}}&#10;\newcommand{\bR}{\mathbb{R}}&#10;\newcommand{\bRp}{\mathbb{R}^+}&#10;\newcommand{\bRm}{\mathbb{R}^-}&#10;\newcommand{\bRn}{\mathbb{R}^n}&#10;\newcommand{\bRnn}{\mathbb{R}^{n\times n}}&#10;\newcommand{\bS}{\mathbb{S}}&#10;\newcommand{\ibC}{\in \mathbb{C}}&#10;\newcommand{\ibCp}{\in \mathbb{C}^+}&#10;\newcommand{\ibCm}{\in \mathbb{C}^-}&#10;\newcommand{\ibCn}{\in \mathbb{C}^n}&#10;\newcommand{\ibCmm}{\in \mathbb{C}^{m \times m}}&#10;\newcommand{\ibCnn}{\in \mathbb{C}^{n \times n}}&#10;\newcommand{\ibHp}{\in \mathbb{H}^+}&#10;\newcommand{\ibHm}{\in \mathbb{H}^-}&#10;\newcommand{\ibN}{\in \mathbb{N}}&#10;\newcommand{\ibP}{\in \mathbb{P}}&#10;\newcommand{\ibR}{\in \mathbb{R}}&#10;\newcommand{\ibRp}{\in \mathbb{R}^+}&#10;\newcommand{\ibRm}{\in \mathbb{R}^-}&#10;\newcommand{\ibRn}{\in \mathbb{R}^n}&#10;\newcommand{\ibRnn}{\in \mathbb{R}^{n \times n}}&#10;\newcommand{\cHppnn}{\mathcal{H}_{++}^{n\times n}}&#10;\newcommand{\cHpnn}{\mathcal{H}_{+}^{n\times n}}&#10;\newcommand{\cHnn}{\mathcal{H}^{n\times n}}&#10;\newcommand{\cNnn}{\mathcal{N}^{n\times n}}&#10;\newcommand{\cSppnn}{\mathcal{S}_{++}^{n\times n}}&#10;\newcommand{\cSpnn}{\mathcal{S}_{+}^{n\times n}}&#10;\newcommand{\cSnn}{\mathcal{S}^{n\times n}}&#10;\newcommand{\cPppnn}{\mathcal{P}_{++}^{n\times n}}&#10;\newcommand{\cPpnn}{\mathcal{P}_{+}^{n\times n}}&#10;\newcommand{\cM}{\mathcal{M}}&#10;\newcommand{\cP}{\mathcal{P}}&#10;\newcommand{\sdtd}{\ \mathrm{s.t.}\ }&#10;\newcommand{\exist}{\exists}&#10;\newcommand{\existo}{\exists^1}&#10;\newcommand{\longvec}[1]{\overrightarrow{#1}}&#10;\newcommand{\bcite}[2]{{\small [#1, #2]}}&#10;\newcommand{\proot}[2]{#1^{1/ #2}}&#10;\newcommand{\psr}[1]{#1^{1/2}}&#10;\newcommand{\Ap}{A^{1/p}}&#10;\newcommand{\e}{\constant{e}}&#10;\newcommand{\expmdef}[1]{I+#1+\frac{#1^2}{2!}+\frac{#1^3}{3!}+\cdots}&#10;\newcommand{\floor}[1]{\lfloor #1 \rfloor}&#10;\newcommand{\diag}{\mathrm{diag}}&#10;\newcommand{\conj}[1]{\overline{#1}}&#10;\newcommand{\zerom}{O}&#10;\newcommand{\adj}{\mathrm{adj}}&#10;\newcommand{\Order}{\mathcal{O}}&#10;\newcommand{\dotprd}[2]{\qty(#1,#2)}&#10;\newcommand{\trc}{\mathrm{tr}}&#10;\newcommand{\fnorm}[1]{\norm{#1}_F}&#10;\newcommand{\gmeandef}[2]{G\qty(#1_1,\dots,#1_{#2})}&#10;\newcommand{\gmean}[2]{\qty(#1_1\cdots#1_{#2})^{1/#2}}&#10;\newcommand{\seq}[2]{#1_1,\dots,#1_{#2}}&#10;\newcommand{\intzi}[2]{\displaystyle\int_0^{\infty}#1 \dd{#2}}&#10;\newcommand{\intii}[2]{\displaystyle\int_{-\infty}^{\infty}#1 \dd{#2}}&#10;\newcommand{\intzp}[2]{\displaystyle\int_0^{\pi}#1 \dd{#2}}&#10;\newcommand{\intztp}[2]{\displaystyle\int_0^{2\pi}#1 \dd{#2}}&#10;\newcommand{\intoo}[2]{\displaystyle\int_{-1}^1 #1 \dd{#2}}&#10;\newcommand{\intzr}[2]{\displaystyle\int_0^r #1 \dd{#2}}&#10;\newcommand{\intri}[2]{\displaystyle\int_r^{\infty} #1 \dd{#2}}&#10;\newcommand{\intzq}[2]{\displaystyle\int_0^q #1 \dd{#2}}&#10;\newcommand{\intqi}[2]{\displaystyle\int_q^{\infty} #1 \dd{#2}}&#10;\newcommand{\intCau}[2]{\displaystyle\frac{1}{2\pi i}\int_{\Gamma}#1\dd{#2}}&#10;\newcommand{\sumkzi}{\sum_{k=0}^{\infty}}&#10;\newcommand{\sumnzi}{\sum_{n=0}^{\infty}}&#10;\newcommand{\mmax}[1]{\underset{#1}{\mathrm{max}}}&#10;\newcommand{\mmin}[1]{\underset{#1}{\mathrm{max}}}&#10;\newcommand{\argmax}[1]{\underset{#1}{\mathrm{arg\,max}}}&#10;\newcommand{\argmin}[1]{\underset{#1}{\mathrm{arg\,min}}}&#10;\newcommand{\msup}[1]{\underset{#1}{\mathrm{sup}}}&#10;\newcommand{\minf}[1]{\underset{#1}{\mathrm{inf}}}&#10;\newcommand{\xast}{x_{\ast}}&#10;\newcommand{\Xast}{X_{\ast}}&#10;\newcommand{\Real}{\mathrm{Re}}&#10;\newcommand{\Imag}{\mathrm{Im}}&#10;\newcommand{\defarr}{\overset{\mathrm{def}}{\Leftrightarrow}}&#10;\newcommand{\LRA}{\Leftrightarrow}&#10;\newcommand{\RA}{\Rightarrow}&#10;\newcommand{\rmvec}{\mathrm{vec}}&#10;\newcommand{\frpi}[1]{\frac{\pi}{#1}}&#10;\newcommand{\cfrpi}[1]{\cfrac{\pi}{#1}}&#10;\newcommand{\ifrpi}[1]{\cfrac{#1}{\pi}}&#10;\newcommand{\icfrpi}[1]{\cfrac{#1}{\pi}}&#10;\newcommand{\alp}{\alpha}&#10;\newcommand{\gmm}{\gamma}&#10;\newcommand{\Gmm}{\Gamma}&#10;\newcommand{\dlt}{\delta}&#10;\newcommand{\Dlt}{\Delta}&#10;\newcommand{\eps}{\epsilon}&#10;\newcommand{\veps}{\verepsilon}&#10;\newcommand{\Eps}{\Epsilon}&#10;\newcommand{\tht}{\theta}&#10;\newcommand{\Tht}{\Theta}&#10;\newcommand{\kpp}{\kappa}&#10;\newcommand{\Kpp}{\Kappa}&#10;\newcommand{\lmd}{\lambda}&#10;\newcommand{\Lmd}{\Lambda}&#10;\newcommand{\Sgm}{\Sigma}&#10;\newcommand{\sgm}{\sigma}&#10;\newcommand{\vphi}{\varphi}&#10;\newcommand{\omg}{\omega}&#10;\newcommand{\Omg}{\Omega}&#10;\usepackage{xcolor}&#10;\definecolor{txt}{HTML}{282828}&#10;\definecolor{accent}{HTML}{B80D48}&#10;\definecolor{main}{HTML}{2B6A6C}&#10;\begin{document}&#10;\color{txt}&#10;\begin{align*}&#10;f(x)=x^p-a&#10;\end{align*}&#10;\end{document}"/>
  <p:tag name="IGUANATEXSIZE" val="26"/>
  <p:tag name="IGUANATEXCURSOR" val="4841"/>
  <p:tag name="TRANSPARENCY" val="True"/>
  <p:tag name="FILENAME" val=""/>
  <p:tag name="LATEXENGINEID" val="4"/>
  <p:tag name="TEMPFOLDER" val="c:\temp\"/>
  <p:tag name="LATEXFORMHEIGHT" val="312"/>
  <p:tag name="LATEXFORMWIDTH" val="385"/>
  <p:tag name="LATEXFORMWRAP" val="True"/>
  <p:tag name="BITMAPVECTOR" val="0"/>
</p:tagLst>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ユーザー定義 1">
      <a:majorFont>
        <a:latin typeface="Calibri Light"/>
        <a:ea typeface="メイリオ"/>
        <a:cs typeface=""/>
      </a:majorFont>
      <a:minorFont>
        <a:latin typeface="Calibri"/>
        <a:ea typeface="メイリオ"/>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9340</TotalTime>
  <Words>1084</Words>
  <Application>Microsoft Office PowerPoint</Application>
  <PresentationFormat>宽屏</PresentationFormat>
  <Paragraphs>202</Paragraphs>
  <Slides>11</Slides>
  <Notes>1</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11</vt:i4>
      </vt:variant>
    </vt:vector>
  </HeadingPairs>
  <TitlesOfParts>
    <vt:vector size="19" baseType="lpstr">
      <vt:lpstr>メイリオ</vt:lpstr>
      <vt:lpstr>Meiryo UI</vt:lpstr>
      <vt:lpstr>Arial</vt:lpstr>
      <vt:lpstr>Calibri</vt:lpstr>
      <vt:lpstr>Calibri Light</vt:lpstr>
      <vt:lpstr>Cambria Math</vt:lpstr>
      <vt:lpstr>Wingdings</vt:lpstr>
      <vt:lpstr>Office テーマ</vt:lpstr>
      <vt:lpstr>行列 p 乗根を求めるための Incremental Newton法の初期値について</vt:lpstr>
      <vt:lpstr>行列 p 乗根とは</vt:lpstr>
      <vt:lpstr> 行列 p 乗根を求めるためのNewton法</vt:lpstr>
      <vt:lpstr>行列 p 乗根のためのNewton法の初期値の与え方について</vt:lpstr>
      <vt:lpstr>調査1：Newton法の収束の初期値依存性</vt:lpstr>
      <vt:lpstr>調査2：IN法の収束の初期値依存性</vt:lpstr>
      <vt:lpstr>数値実験結果の考察</vt:lpstr>
      <vt:lpstr>まとめと今後の課題</vt:lpstr>
      <vt:lpstr>行列 A の p 乗根問題</vt:lpstr>
      <vt:lpstr>Iannazzoの仕事:初期値と前処理で収束を保証</vt:lpstr>
      <vt:lpstr>Tatsuokaたちの仕事</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hcq</dc:creator>
  <cp:lastModifiedBy>WangHePeng</cp:lastModifiedBy>
  <cp:revision>130</cp:revision>
  <dcterms:created xsi:type="dcterms:W3CDTF">2015-12-11T07:38:00Z</dcterms:created>
  <dcterms:modified xsi:type="dcterms:W3CDTF">2022-03-31T04:56:08Z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1041-11.2.0.10223</vt:lpwstr>
  </property>
</Properties>
</file>